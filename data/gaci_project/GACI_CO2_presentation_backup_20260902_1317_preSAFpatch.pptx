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31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7" d="100"/>
          <a:sy n="127" d="100"/>
        </p:scale>
        <p:origin x="100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BCC5DE"/>
                </a:solidFill>
                <a:latin typeface="Calibri"/>
              </a:rPr>
              <a:t>Research Seminar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34440"/>
            <a:ext cx="1371600" cy="4572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FFFFFF"/>
                </a:solidFill>
                <a:latin typeface="Verdana"/>
              </a:rPr>
              <a:t>How Much Does Air Connectivity</a:t>
            </a:r>
          </a:p>
          <a:p>
            <a:r>
              <a:rPr sz="3300" b="1" i="0">
                <a:solidFill>
                  <a:srgbClr val="FFFFFF"/>
                </a:solidFill>
                <a:latin typeface="Verdana"/>
              </a:rPr>
              <a:t>Increase Aviation CO2?  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46120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BCC5DE"/>
                </a:solidFill>
                <a:latin typeface="Calibri"/>
              </a:rPr>
              <a:t>Transportation and Energy Economics</a:t>
            </a:r>
            <a:endParaRPr sz="1800" b="0" i="0" dirty="0">
              <a:solidFill>
                <a:srgbClr val="BCC5D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2648" y="4160520"/>
            <a:ext cx="10515600" cy="18288"/>
          </a:xfrm>
          <a:prstGeom prst="rect">
            <a:avLst/>
          </a:prstGeom>
          <a:solidFill>
            <a:srgbClr val="444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BCC5DE"/>
                </a:solidFill>
                <a:latin typeface="Calibri"/>
              </a:rPr>
              <a:t>Sunbin YOO (SKKU), Junya KUMAGAI (Fukuoka Univ.), </a:t>
            </a:r>
            <a:r>
              <a:rPr lang="en-US" sz="1300" b="0" i="0" dirty="0" err="1">
                <a:solidFill>
                  <a:srgbClr val="BCC5DE"/>
                </a:solidFill>
                <a:latin typeface="Calibri"/>
              </a:rPr>
              <a:t>Longfei</a:t>
            </a:r>
            <a:r>
              <a:rPr lang="en-US" sz="1300" b="0" i="0" dirty="0">
                <a:solidFill>
                  <a:srgbClr val="BCC5DE"/>
                </a:solidFill>
                <a:latin typeface="Calibri"/>
              </a:rPr>
              <a:t> ZHENG (Tsinghua Univ), </a:t>
            </a:r>
          </a:p>
          <a:p>
            <a:r>
              <a:rPr lang="en-US" sz="1300" dirty="0">
                <a:solidFill>
                  <a:srgbClr val="BCC5DE"/>
                </a:solidFill>
                <a:latin typeface="Calibri"/>
              </a:rPr>
              <a:t>Jinwoo LEE (KAIST), </a:t>
            </a:r>
            <a:r>
              <a:rPr lang="en-US" sz="1300" b="0" i="0" dirty="0">
                <a:solidFill>
                  <a:srgbClr val="BCC5DE"/>
                </a:solidFill>
                <a:latin typeface="Calibri"/>
              </a:rPr>
              <a:t> and </a:t>
            </a:r>
            <a:r>
              <a:rPr lang="en-US" sz="1300" b="0" i="0" dirty="0" err="1">
                <a:solidFill>
                  <a:srgbClr val="BCC5DE"/>
                </a:solidFill>
                <a:latin typeface="Calibri"/>
              </a:rPr>
              <a:t>Anming</a:t>
            </a:r>
            <a:r>
              <a:rPr lang="en-US" sz="1300" b="0" i="0" dirty="0">
                <a:solidFill>
                  <a:srgbClr val="BCC5DE"/>
                </a:solidFill>
                <a:latin typeface="Calibri"/>
              </a:rPr>
              <a:t> Zhang (University of British Columbia)</a:t>
            </a:r>
            <a:endParaRPr lang="en-US" sz="1300" dirty="0">
              <a:solidFill>
                <a:srgbClr val="BCC5D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1 / 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A C K G R O U N 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First: what is transportation economics?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The economics of moving people and goods: how mobility is demanded, supplied, priced, and built.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Core questions: which roads, rails, and airports are worth building; how to price them (congestion charges, fares, fuel taxes); and what they cost society beyond the ticket (congestion, accidents, noise, emissions).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Its central insight: transport is a DERIVED demand. Nobody flies for the pleasure of sitting in seat 43E; people buy access, and access shapes trade, jobs, and where activity locates.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690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E1E24"/>
                </a:solidFill>
                <a:latin typeface="Calibri"/>
              </a:rPr>
              <a:t>🚗   🚌   🚄   ✈️   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Transport economics asks what a connection is worth, and who pays its full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A C K G R O U N 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And transportation &amp; energy economics?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The intersection of the two fields: transport runs almost entirely on energy, and mostly on oil.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It studies how transport choices and infrastructure drive energy use and emissions, and how to decarbonise mobility (fuel taxes, EVs, SAF, modal shift) without losing the access benefits.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794760"/>
            <a:ext cx="3383280" cy="118872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🌍 Transport ≈ 1/4 of global energy-related CO2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794760"/>
            <a:ext cx="3383280" cy="118872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✈️ Aviation ≈ 2–3% of global CO2, and growing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794760"/>
            <a:ext cx="3383280" cy="11887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🔋 And aviation has no near-term electrification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539496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Today's talk sits exactly at this intersection: a network investment (connectivity) meets an energy outcome (jet fuel burned).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 / 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34440"/>
            <a:ext cx="112745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E2A85A"/>
                </a:solidFill>
                <a:latin typeface="Verdana"/>
              </a:rPr>
              <a:t>42.5%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749039"/>
            <a:ext cx="99943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of the world's 2023 aviation CO2 traces to connectivity growth since 1996.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709160"/>
            <a:ext cx="9079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BCC5DE"/>
                </a:solidFill>
                <a:latin typeface="Calibri"/>
              </a:rPr>
              <a:t>That is 356 Mt of CO2, an external cost of $18–68 billion every year.</a:t>
            </a:r>
          </a:p>
          <a:p>
            <a:pPr algn="ctr">
              <a:spcBef>
                <a:spcPts val="600"/>
              </a:spcBef>
            </a:pPr>
            <a:r>
              <a:rPr sz="1700" b="0" i="0">
                <a:solidFill>
                  <a:srgbClr val="BCC5DE"/>
                </a:solidFill>
                <a:latin typeface="Calibri"/>
              </a:rPr>
              <a:t>This talk is about where that number comes from, and what could change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4 / 61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O D A Y ' S   T A L 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What this paper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compute CO2 for every scheduled flight in the world, stage by stage, for 6,000+ airports over 1996–2023.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then ask a causal question: when a country becomes better connected by air, how much does its aviation CO2 rise?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The answer is: much more than proportionally. A 1% gain in connectivity raises national aviation CO2 by 5.7%.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finish with the bill: who owes it, where it is booked, and what (only fuel switching) can shrink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A data contribution (the emissions panel) and a causal contribution (the elasticity).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O D A Y ' S   T A L 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One index, two ledgers: the benefit and the bill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THE BENEFIT  (our companion trade paper)</a:t>
            </a:r>
          </a:p>
          <a:p>
            <a:pPr>
              <a:spcBef>
                <a:spcPts val="1200"/>
              </a:spcBef>
            </a:pPr>
            <a:r>
              <a:rPr sz="4000" b="1" i="0">
                <a:solidFill>
                  <a:srgbClr val="232A55"/>
                </a:solidFill>
                <a:latin typeface="Verdana"/>
              </a:rPr>
              <a:t>+1.30%</a:t>
            </a:r>
          </a:p>
          <a:p>
            <a:r>
              <a:rPr sz="1400" b="0" i="0">
                <a:solidFill>
                  <a:srgbClr val="1E1E24"/>
                </a:solidFill>
                <a:latin typeface="Calibri"/>
              </a:rPr>
              <a:t>trade openness per 1% rise in hub quality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≈ $7.8 trillion of 2023 trade, 17% of the world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74519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/>
            <a:r>
              <a:rPr sz="1500" b="1" i="0">
                <a:solidFill>
                  <a:srgbClr val="B0413E"/>
                </a:solidFill>
                <a:latin typeface="Calibri"/>
              </a:rPr>
              <a:t>THE BILL  (this paper)</a:t>
            </a:r>
          </a:p>
          <a:p>
            <a:pPr>
              <a:spcBef>
                <a:spcPts val="1200"/>
              </a:spcBef>
            </a:pPr>
            <a:r>
              <a:rPr sz="4000" b="1" i="0">
                <a:solidFill>
                  <a:srgbClr val="B0413E"/>
                </a:solidFill>
                <a:latin typeface="Verdana"/>
              </a:rPr>
              <a:t>+5.67%</a:t>
            </a:r>
          </a:p>
          <a:p>
            <a:r>
              <a:rPr sz="1400" b="0" i="0">
                <a:solidFill>
                  <a:srgbClr val="1E1E24"/>
                </a:solidFill>
                <a:latin typeface="Calibri"/>
              </a:rPr>
              <a:t>aviation CO2 per 1% rise in hub quality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356 Mt of 2023 CO2, $18–68 billion per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Same countries, same connectivity index, same IV logic: the trade paper found the benefit, this paper prices the bill.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O A D M A 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Seven parts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01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💡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Motivation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Policy premise meets carbon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7287" y="196596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02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🛰️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Data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CO2 for every scheduled 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7" y="196596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03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🕸️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Building GACI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Five centralities, PCA, one index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25128" y="196596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04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🔍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Identification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A geography instrument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48256" y="393192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05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📈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Results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The elasticity and its anatomy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7176" y="393192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06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💸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The carbon bill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Attribution, mismatch, SAF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6096" y="393192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/>
            <a:r>
              <a:rPr sz="2000" b="1" i="0">
                <a:solidFill>
                  <a:srgbClr val="E2A85A"/>
                </a:solidFill>
                <a:latin typeface="Verdana"/>
              </a:rPr>
              <a:t>07  </a:t>
            </a:r>
            <a:r>
              <a:rPr sz="1500" b="0" i="0">
                <a:solidFill>
                  <a:srgbClr val="E2A85A"/>
                </a:solidFill>
                <a:latin typeface="Calibri"/>
              </a:rPr>
              <a:t>🎯</a:t>
            </a:r>
          </a:p>
          <a:p>
            <a:r>
              <a:rPr sz="1400" b="1" i="0">
                <a:solidFill>
                  <a:srgbClr val="232A55"/>
                </a:solidFill>
                <a:latin typeface="Verdana"/>
              </a:rPr>
              <a:t>Conclusion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1E1E24"/>
                </a:solidFill>
                <a:latin typeface="Calibri"/>
              </a:rPr>
              <a:t>What it implies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7 / 61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01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Motivation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Policy premise meets carbon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8 / 61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M O T I V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Everyone wants connectivity; nobody priced the carbon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Governments subsidise routes, expand airports, and sign air-service agreements on the premise that connectivity raises trade, tourism, and productivity (it does: our companion paper finds +1.3% trade openness per 1% of connectivity).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But aviation is among the hardest transport sectors to decarbonise: no near-term electrification path, and emissions booked under separate bunker conventions, outside national inventories.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The direction is obvious (more connections = more flying). The magnitude and structure are not, and no causal estimate exists at the global level.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The carbon consequence of connectivity policy is a first-order question with no causal answer. Until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9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M O T I V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Three empirical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383280" cy="3246120"/>
          </a:xfrm>
          <a:prstGeom prst="roundRect">
            <a:avLst>
              <a:gd name="adj" fmla="val 8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182880" rtlCol="0" anchor="ctr"/>
          <a:lstStyle/>
          <a:p>
            <a:pPr algn="ctr"/>
            <a:r>
              <a:rPr sz="2600" b="1" i="0">
                <a:solidFill>
                  <a:srgbClr val="232A55"/>
                </a:solidFill>
                <a:latin typeface="Verdana"/>
              </a:rPr>
              <a:t>01  </a:t>
            </a:r>
            <a:r>
              <a:rPr sz="2200" b="0" i="0">
                <a:solidFill>
                  <a:srgbClr val="232A55"/>
                </a:solidFill>
                <a:latin typeface="Calibri"/>
              </a:rPr>
              <a:t>📏</a:t>
            </a:r>
          </a:p>
          <a:p>
            <a:r>
              <a:rPr sz="1800" b="1" i="0">
                <a:solidFill>
                  <a:srgbClr val="232A55"/>
                </a:solidFill>
                <a:latin typeface="Verdana"/>
              </a:rPr>
              <a:t>Proportionality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E1E24"/>
                </a:solidFill>
                <a:latin typeface="Calibri"/>
              </a:rPr>
              <a:t>Does a 1% gain in connectivity raise emissions by more or less than 1%? Hubs consolidate traffic into fewer, fuller, more efficient movements, so the answer is not obvious.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965960"/>
            <a:ext cx="3383280" cy="3246120"/>
          </a:xfrm>
          <a:prstGeom prst="roundRect">
            <a:avLst>
              <a:gd name="adj" fmla="val 8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182880" rtlCol="0" anchor="ctr"/>
          <a:lstStyle/>
          <a:p>
            <a:pPr algn="ctr"/>
            <a:r>
              <a:rPr sz="2600" b="1" i="0">
                <a:solidFill>
                  <a:srgbClr val="E2A85A"/>
                </a:solidFill>
                <a:latin typeface="Verdana"/>
              </a:rPr>
              <a:t>02  </a:t>
            </a:r>
            <a:r>
              <a:rPr sz="2200" b="0" i="0">
                <a:solidFill>
                  <a:srgbClr val="E2A85A"/>
                </a:solidFill>
                <a:latin typeface="Calibri"/>
              </a:rPr>
              <a:t>🗺️</a:t>
            </a:r>
          </a:p>
          <a:p>
            <a:r>
              <a:rPr sz="1800" b="1" i="0">
                <a:solidFill>
                  <a:srgbClr val="232A55"/>
                </a:solidFill>
                <a:latin typeface="Verdana"/>
              </a:rPr>
              <a:t>Incidence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E1E24"/>
                </a:solidFill>
                <a:latin typeface="Calibri"/>
              </a:rPr>
              <a:t>Whose emissions respond? Poor or rich countries? And does the response spill across borders through the network?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3246120"/>
          </a:xfrm>
          <a:prstGeom prst="roundRect">
            <a:avLst>
              <a:gd name="adj" fmla="val 8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182880" rtlCol="0" anchor="ctr"/>
          <a:lstStyle/>
          <a:p>
            <a:pPr algn="ctr"/>
            <a:r>
              <a:rPr sz="2600" b="1" i="0">
                <a:solidFill>
                  <a:srgbClr val="B0413E"/>
                </a:solidFill>
                <a:latin typeface="Verdana"/>
              </a:rPr>
              <a:t>03  </a:t>
            </a:r>
            <a:r>
              <a:rPr sz="2200" b="0" i="0">
                <a:solidFill>
                  <a:srgbClr val="B0413E"/>
                </a:solidFill>
                <a:latin typeface="Calibri"/>
              </a:rPr>
              <a:t>📒</a:t>
            </a:r>
          </a:p>
          <a:p>
            <a:r>
              <a:rPr sz="1800" b="1" i="0">
                <a:solidFill>
                  <a:srgbClr val="232A55"/>
                </a:solidFill>
                <a:latin typeface="Verdana"/>
              </a:rPr>
              <a:t>Accounting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E1E24"/>
                </a:solidFill>
                <a:latin typeface="Calibri"/>
              </a:rPr>
              <a:t>Are emissions booked where they are generated? International aviation follows bunker conventions, not territory.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Magnitude, geography, and bookkeeping: all three turn out to matter.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10 / 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02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Data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CO2 for every scheduled flight on Earth, 1996–2023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🛰️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11 / 61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Carbon for every flight, stage by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Source: OAG schedules, every scheduled commercial flight, Jan 1996 to Jun 2024.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EEA/EMEP Guidebook: fuel burn by engine type × stage length, × 3.15 kg CO2 per kg of Jet 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99232"/>
            <a:ext cx="121919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32A55"/>
                </a:solidFill>
                <a:latin typeface="Calibri"/>
              </a:rPr>
              <a:t>✈                                                                                                                      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Taxi-out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61972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21991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Take-off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15284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75303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Climb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68596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28616" y="3566160"/>
            <a:ext cx="3017520" cy="777240"/>
          </a:xfrm>
          <a:prstGeom prst="roundRect">
            <a:avLst>
              <a:gd name="adj" fmla="val 25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B0413E"/>
                </a:solidFill>
                <a:latin typeface="Calibri"/>
              </a:rPr>
              <a:t>CRUISE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50707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10727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Approach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04019" y="3840480"/>
            <a:ext cx="146304" cy="219456"/>
          </a:xfrm>
          <a:prstGeom prst="rightArrow">
            <a:avLst/>
          </a:prstGeom>
          <a:solidFill>
            <a:srgbClr val="BC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64040" y="3566160"/>
            <a:ext cx="1188720" cy="777240"/>
          </a:xfrm>
          <a:prstGeom prst="roundRect">
            <a:avLst>
              <a:gd name="adj" fmla="val 2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Taxi-in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617720"/>
            <a:ext cx="3712463" cy="45720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🛫🛬 LTO phases: 11.8% of CO2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64024" y="461772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B0413E"/>
                </a:solidFill>
                <a:latin typeface="Calibri"/>
              </a:rPr>
              <a:t>💨 Cruise: ~88% of CO2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64424" y="461772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 i="0">
                <a:solidFill>
                  <a:srgbClr val="232A55"/>
                </a:solidFill>
                <a:latin typeface="Calibri"/>
              </a:rPr>
              <a:t>Departure + arrival sides kept separate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544068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Stage-resolved once, aggregated under any allocation rule, with no double counting.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12 / 61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Does it add up? Yes, to the tonne (almost) 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232A55"/>
                </a:solidFill>
                <a:latin typeface="Verdana"/>
              </a:rPr>
              <a:t>0.919 Gt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our 2019 world total vs ICCT's 0.92 Gt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92024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232A55"/>
                </a:solidFill>
                <a:latin typeface="Verdana"/>
              </a:rPr>
              <a:t>r = 0.99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log-log match with OWID/ICCT country series, every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2024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232A55"/>
                </a:solidFill>
                <a:latin typeface="Verdana"/>
              </a:rPr>
              <a:t>11.8%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LTO share of fuel burn, right in the standard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49039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E2A85A"/>
                </a:solidFill>
                <a:latin typeface="Verdana"/>
              </a:rPr>
              <a:t>6,000+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airports with stage-resolved monthly CO2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49039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E2A85A"/>
                </a:solidFill>
                <a:latin typeface="Verdana"/>
              </a:rPr>
              <a:t>184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countries in the estimation panel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749039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i="0">
                <a:solidFill>
                  <a:srgbClr val="E2A85A"/>
                </a:solidFill>
                <a:latin typeface="Verdana"/>
              </a:rPr>
              <a:t>4,634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country-years, 1996–2023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562356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Schedule-based capacity, not load factors: the carbon content of the network itself.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13 / 61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Whose emissions are they? Three answers, one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Verdana"/>
              </a:rPr>
              <a:t>🛬 Territorial (LTO)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Each landing-and-take-off phase booked at its own airport. Physical, local.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96596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Verdana"/>
              </a:rPr>
              <a:t>🛫 Bunker (headline)</a:t>
            </a:r>
          </a:p>
          <a:p>
            <a:r>
              <a:rPr sz="1300" b="1" i="0">
                <a:solidFill>
                  <a:srgbClr val="E2A85A"/>
                </a:solidFill>
                <a:latin typeface="Calibri"/>
              </a:rPr>
              <a:t>★ our headline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Cruise assigned to the departure country: the IEA fuel-uplift convention.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Verdana"/>
              </a:rPr>
              <a:t>⚖️ 50/50 split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E1E24"/>
                </a:solidFill>
                <a:latin typeface="Calibri"/>
              </a:rPr>
              <a:t>Cruise shared equally between the endpoint countries.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516636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Spoiler: the elasticity barely moves across all three (5.62–5.92). The result is not an accounting artefact.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14 / 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D A 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Where aviation CO2 lives, 2023</a:t>
            </a:r>
          </a:p>
        </p:txBody>
      </p:sp>
      <p:pic>
        <p:nvPicPr>
          <p:cNvPr id="5" name="Picture 4" descr="CO2_map_levels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8" y="1874519"/>
            <a:ext cx="9670712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2531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National aviation CO2 under the bunker convention, 2023. This is the outcome variable.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15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03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Building GACI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What the index is, and exactly how we compute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🕸️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16 / 61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What is "air connectivity", really?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It is not how many airports or routes a country has.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It is a country's POSITION in the world air network: how easily, through how many and how important partners, it can reach everywhere else.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Two airports with 'international' in the name are not equal: Incheon plugs into the world's hub network; Yangyang has a handful of point-to-point routes.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Connectivity = network position, not a simple 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17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How we measure it: the Global Air Connectivity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GACI summarises each airport's position in the weighted world air network as a single, time-comparable number (Cheung, Wong &amp; Zhang, 2020).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It blends three ideas: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520440"/>
            <a:ext cx="3383280" cy="123444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50" b="1" i="0">
                <a:solidFill>
                  <a:srgbClr val="232A55"/>
                </a:solidFill>
                <a:latin typeface="Calibri"/>
              </a:rPr>
              <a:t>REACH: how many, and how well-placed, are its connections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520440"/>
            <a:ext cx="3383280" cy="123444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50" b="1" i="0">
                <a:solidFill>
                  <a:srgbClr val="232A55"/>
                </a:solidFill>
                <a:latin typeface="Calibri"/>
              </a:rPr>
              <a:t>FLOW: how much passenger traffic moves through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520440"/>
            <a:ext cx="3383280" cy="123444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50" b="1" i="0">
                <a:solidFill>
                  <a:srgbClr val="B0413E"/>
                </a:solidFill>
                <a:latin typeface="Calibri"/>
              </a:rPr>
              <a:t>STANDING: how important are the airports it connects 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534924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One number that captures reach, flow, and standing in the global network.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18 / 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How the index is built: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E1E24"/>
                </a:solidFill>
                <a:latin typeface="Calibri"/>
              </a:rPr>
              <a:t>From raw schedules to one number per airport per year: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44" y="3017520"/>
            <a:ext cx="9326880" cy="22448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335549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Each step is computed for every year, then aggregated to countries.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13648" y="4956048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50" b="1" i="0">
                <a:solidFill>
                  <a:srgbClr val="B0413E"/>
                </a:solidFill>
                <a:latin typeface="Calibri"/>
              </a:rPr>
              <a:t>today: USE FOR CO2 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19 / 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raw data: OAG airline schedules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929384"/>
            <a:ext cx="8165592" cy="408634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41664" y="2057400"/>
            <a:ext cx="3154680" cy="132588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Connected dummy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232A55"/>
                </a:solidFill>
                <a:latin typeface="Calibri"/>
              </a:rPr>
              <a:t>Total seat capacity (the link weight)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1664" y="36118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6E6E6E"/>
                </a:solidFill>
                <a:latin typeface="Calibri"/>
              </a:rPr>
              <a:t>Route-segment level, every scheduled commercial flight, 1996–2024H1.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20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0: building a clean weighted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Source: global airline schedule data at the route-segment level (OAG; it is big).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Keep only scheduled commercial service; exclude military, charter, seaplanes, heliports, and airports that closed in-window.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Aggregate segments per airport pair per year into one link; the link weight is passenger seat capacity.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Two matrices per year: adjacency A (who connects) and weight W (how much).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7947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Adjacency A: who connects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17320" y="4114800"/>
          <a:ext cx="4023360" cy="179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ICN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ICN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3794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Weight W: seat capacity (millions, illustrative)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37960" y="4114800"/>
          <a:ext cx="4297680" cy="179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ICN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ICN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417320" y="6035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6E6E6E"/>
                </a:solidFill>
                <a:latin typeface="Calibri"/>
              </a:rPr>
              <a:t>The Korean corner of the matrix: Gimpo–Jeju alone is the world's busiest air route.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21 / 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1a: topological indicators (position)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Degree: the number of direct connections (raw reach).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Closeness: inverse of the average number of transfers needed to reach all other airports (accessibility).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957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32A55"/>
                </a:solidFill>
                <a:latin typeface="Calibri"/>
              </a:rPr>
              <a:t>Toy domestic network: GMP–CJU, GMP–PUS, GMP–YNY, CJU–PUS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743200"/>
          <a:ext cx="507492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5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Hops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Avg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1.33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1.33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1.67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480560"/>
          <a:ext cx="507492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Closeness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Hub: everyone in one hop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Intermediate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Intermediate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E1E24"/>
                          </a:solidFill>
                          <a:latin typeface="Calibri"/>
                        </a:rPr>
                        <a:t>Spoke: always via Gimpo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2395728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32A55"/>
                </a:solidFill>
                <a:latin typeface="Calibri"/>
              </a:rPr>
              <a:t>+ Eigenvector: how much am I connected to "BIG" airports?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3063240"/>
          <a:ext cx="5394960" cy="1886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Degree (# friends)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Eigenvector (rank of friends)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1E24"/>
                          </a:solidFill>
                          <a:latin typeface="Calibri"/>
                        </a:rPr>
                        <a:t>GMP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E1E2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1E24"/>
                          </a:solidFill>
                          <a:latin typeface="Calibri"/>
                        </a:rPr>
                        <a:t>CJU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1E24"/>
                          </a:solidFill>
                          <a:latin typeface="Calibri"/>
                        </a:rPr>
                        <a:t>PUS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E1E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1E24"/>
                          </a:solidFill>
                          <a:latin typeface="Calibri"/>
                        </a:rPr>
                        <a:t>YNY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E1E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72200" y="51206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E6E6E"/>
                </a:solidFill>
                <a:latin typeface="Calibri"/>
              </a:rPr>
              <a:t>Yangyang's one friend is a big hub, but one friend is still one friend.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22 / 61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1b: volumetric indicators (passenger 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Flow betweenness: the share of passengers transferring through the airport; the hub / transfer role (Gimpo &lt; Incheon: transfers concentrate at ICN).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Regional importance: average connection intensity within its own region (Gimpo &gt; Incheon: the domestic backbone).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These two flow measures make GACI flow-aware, not purely topological.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Position says where you sit; flow says how much actually moves through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23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five indicators, read through Korean airports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74519"/>
          <a:ext cx="10607040" cy="2606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Degree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Closeness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Eigenvector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Flow betw.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Regional imp.</a:t>
                      </a:r>
                    </a:p>
                  </a:txBody>
                  <a:tcPr marL="45720" marR="45720" marT="18288" marB="18288" anchor="ctr">
                    <a:solidFill>
                      <a:srgbClr val="23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ICN  Incheon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GMP  Gimpo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CJU  Jeju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32A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PUS  Gimhae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E1E24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1E24"/>
                          </a:solidFill>
                          <a:latin typeface="Calibri"/>
                        </a:rPr>
                        <a:t>YNY  Yangyang</a:t>
                      </a:r>
                    </a:p>
                  </a:txBody>
                  <a:tcPr marL="45720" marR="45720" marT="18288" marB="18288" anchor="ctr"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6E6E6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663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1E1E24"/>
                </a:solidFill>
                <a:latin typeface="Calibri"/>
              </a:rPr>
              <a:t>ICN: global gateway, strong on every margin.  GMP and CJU: enormous traffic (the world's busiest route) but little global position: volume is not connectivity.  YNY: connected on paper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62356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Five airports, five different network stories: no single indicator captures them all, so we combine all five.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24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Flow betweenness: passengers as electrical current</a:t>
            </a:r>
          </a:p>
        </p:txBody>
      </p:sp>
      <p:pic>
        <p:nvPicPr>
          <p:cNvPr id="5" name="Picture 4" descr="imag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470" y="1874519"/>
            <a:ext cx="7697028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78815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Each route is a resistor with resistance inversely proportional to its passenger intensity; betweenness = current through the node. Incheon plays this HKG-style bridge role between North America and Southeast Asia.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25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1: the exact formulas</a:t>
            </a:r>
          </a:p>
        </p:txBody>
      </p:sp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09" y="1783080"/>
            <a:ext cx="760095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26 / 61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five indicators are related but not redundant</a:t>
            </a:r>
          </a:p>
        </p:txBody>
      </p:sp>
      <p:pic>
        <p:nvPicPr>
          <p:cNvPr id="5" name="Picture 4" descr="imag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539" y="1691640"/>
            <a:ext cx="4794889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83387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Pairwise rank correlations 0.71–0.87: each adds information, so we combine rather than pick one.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27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2: combine the five into one index (PCA)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Five indicators, different scales, partly correlated.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GACI = the first principal component: the single weighted combination capturing the most variance across airports.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On our 1996–2023 panel, PC1 explains 74% of total variance, so one number retains most of the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One index, five ingredients, no arbitrary weights.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28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2: the aggregation formula</a:t>
            </a:r>
          </a:p>
        </p:txBody>
      </p:sp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4" y="1828800"/>
            <a:ext cx="7360919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29 / 61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PCA weights, computed on our panel</a:t>
            </a:r>
          </a:p>
        </p:txBody>
      </p:sp>
      <p:pic>
        <p:nvPicPr>
          <p:cNvPr id="5" name="Picture 4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256" y="1783080"/>
            <a:ext cx="7077456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78815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First-component loadings on our 1996–2023 data: all positive and similar; PC1 explains 74% of variance.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30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Making GACI comparable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A naive yearly PCA would re-scale every year, so scores could not be compared across years.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standardise so that rankings WITHIN a year and relative scores ACROSS years are both preserved.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The result: one index that tracks an airport or country up and down the global hierarchy from 1996 to 2023.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Essential here: the CO2 question is about changes over 28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31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5285" y="841247"/>
            <a:ext cx="202258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Face validity: high GACI = the world's major hubs</a:t>
            </a:r>
          </a:p>
        </p:txBody>
      </p:sp>
      <p:pic>
        <p:nvPicPr>
          <p:cNvPr id="5" name="Picture 4" descr="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559" y="154158"/>
            <a:ext cx="7585862" cy="63197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8848" y="6446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GACI tracks passenger volume; the top of the scale is ATL, PEK, DXB, LHR, HKG, SIN.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32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8848" y="6446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GACI tracks passenger volume; the top of the scale is ATL, PEK, DXB, LHR, HKG, SIN.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32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  <p:pic>
        <p:nvPicPr>
          <p:cNvPr id="1026" name="Picture 2" descr="https://ars.els-cdn.com/content/image/1-s2.0-S1366554526005302-gr4e_lrg.jpg">
            <a:extLst>
              <a:ext uri="{FF2B5EF4-FFF2-40B4-BE49-F238E27FC236}">
                <a16:creationId xmlns:a16="http://schemas.microsoft.com/office/drawing/2014/main" id="{4DE818E8-AD60-4AF6-9D89-49109099E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0"/>
            <a:ext cx="108886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939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3: from airports to countries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Hub quality = capacity-weighted MEAN (headline): average gateway quality, not inflated by having many tiny airports.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Total connectivity = SUM: the overall network footprint, larger for big countries.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In this paper the headline treatment is hub quality; sum, max, and unweighted mean all reappear as robustness checks (spoiler: they agree).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ln GACI (capacity-weighted mean) is the right-hand side of everything that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33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3: the aggregation formulas</a:t>
            </a:r>
          </a:p>
        </p:txBody>
      </p:sp>
      <p:pic>
        <p:nvPicPr>
          <p:cNvPr id="5" name="Picture 4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4" y="1828800"/>
            <a:ext cx="7360919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34 / 61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built index, mapped: connectivity by country, 2023</a:t>
            </a:r>
          </a:p>
        </p:txBody>
      </p:sp>
      <p:pic>
        <p:nvPicPr>
          <p:cNvPr id="5" name="Picture 4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245" y="1874519"/>
            <a:ext cx="9505478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2531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Total connectivity (country sum), 2023. Yellow = highly connected.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35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treatment: who got connected, 1996–2023</a:t>
            </a:r>
          </a:p>
        </p:txBody>
      </p:sp>
      <p:pic>
        <p:nvPicPr>
          <p:cNvPr id="5" name="Picture 4" descr="CO2_map_dlnga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75" y="1874519"/>
            <a:ext cx="9745818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2531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Change in log connectivity, 1996–2023. The Gulf, Turkey, China, and Korea connect; parts of Europe quietly disconnect.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36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04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Identification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Breaking reverse causality with geography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37 / 61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problem: airlines follow the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Airlines add capacity where income, trade, and travel demand are already growing: reverse causality, upward and downward biases at once.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OLS would also be attenuated by measurement error in the index (it is: OLS = 3.59 vs 2SLS = 5.67).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need variation in connectivity that has nothing to do with a country's economic trajectory.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Our answer: geography that was fixed before the boom, interacted with a global technology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38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 Feyrer-type air-vs-sea geography instrument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834640" cy="118872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🗺️ 1996 air-vs-sea market-access geography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fixed before the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2402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E6E6E"/>
                </a:solidFill>
                <a:latin typeface="Calibri"/>
              </a:rPr>
              <a:t>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2011680"/>
            <a:ext cx="2834640" cy="1188720"/>
          </a:xfrm>
          <a:prstGeom prst="roundRect">
            <a:avLst>
              <a:gd name="adj" fmla="val 1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🌐 World aviation technology cycle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global, no country steers it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22592" y="2450592"/>
            <a:ext cx="502920" cy="31089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635240" y="2011680"/>
            <a:ext cx="1920240" cy="118872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GACI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first stage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646920" y="2450592"/>
            <a:ext cx="502920" cy="31089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41280" y="2011680"/>
            <a:ext cx="1600200" cy="1188720"/>
          </a:xfrm>
          <a:prstGeom prst="roundRect">
            <a:avLst>
              <a:gd name="adj" fmla="val 1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450" b="1" i="0">
                <a:solidFill>
                  <a:srgbClr val="B0413E"/>
                </a:solidFill>
                <a:latin typeface="Calibri"/>
              </a:rPr>
              <a:t>💨 Aviation 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E6E6E"/>
                </a:solidFill>
                <a:latin typeface="Calibri"/>
              </a:rPr>
              <a:t>Controls: log population, log sea market access, country and year fixed effects.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69080"/>
            <a:ext cx="3383280" cy="96012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Kleibergen–Paap F = 153.6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069080"/>
            <a:ext cx="3383280" cy="9601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50" b="1" i="0">
                <a:solidFill>
                  <a:srgbClr val="232A55"/>
                </a:solidFill>
                <a:latin typeface="Calibri"/>
              </a:rPr>
              <a:t>Stress test (cycle × baseline size): F 120 → 106. Tourism IV: 14 → 0, dies.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069080"/>
            <a:ext cx="3383280" cy="96012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50" b="1" i="0">
                <a:solidFill>
                  <a:srgbClr val="2E7D5B"/>
                </a:solidFill>
                <a:latin typeface="Calibri"/>
              </a:rPr>
              <a:t>Conley bounds: tolerates direct effects up to 85% of the reduced 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5394960"/>
            <a:ext cx="9601200" cy="713232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The only instrument we tried that survives its own execution squad.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39 / 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fine print: the exclusion restriction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The instrument may affect CO2 through ONE door only: connectivity.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🔍 Instrument (geography × cycle)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2670048"/>
            <a:ext cx="685800" cy="329184"/>
          </a:xfrm>
          <a:prstGeom prst="rightArrow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13632" y="22128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2E7D5B"/>
                </a:solidFill>
                <a:latin typeface="Calibri"/>
              </a:rP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3774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✈️ Connectivity (GACI)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06640" y="2670048"/>
            <a:ext cx="685800" cy="329184"/>
          </a:xfrm>
          <a:prstGeom prst="rightArrow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42631" y="22128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2E7D5B"/>
                </a:solidFill>
                <a:latin typeface="Calibri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37744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50" b="1" i="0">
                <a:solidFill>
                  <a:srgbClr val="B0413E"/>
                </a:solidFill>
                <a:latin typeface="Calibri"/>
              </a:rPr>
              <a:t>💨 Aviation CO2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3703320"/>
            <a:ext cx="6949440" cy="54864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9235440" y="3593592"/>
            <a:ext cx="411480" cy="274320"/>
          </a:xfrm>
          <a:prstGeom prst="rightArrow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440680" y="3401568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B0413E"/>
                </a:solidFill>
                <a:latin typeface="Calibr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041648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413E"/>
                </a:solidFill>
                <a:latin typeface="Calibri"/>
              </a:rPr>
              <a:t>no direct path to CO2 allowed (untestable by assumption, so we attack it three ways)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572000"/>
            <a:ext cx="5074920" cy="493776"/>
          </a:xfrm>
          <a:prstGeom prst="roundRect">
            <a:avLst>
              <a:gd name="adj" fmla="val 3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150" b="1" i="0">
                <a:solidFill>
                  <a:srgbClr val="6E6E6E"/>
                </a:solidFill>
                <a:latin typeface="Calibri"/>
              </a:rPr>
              <a:t>🚢 Geography also moves SEA trade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43600" y="4700016"/>
            <a:ext cx="27432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09360" y="4572000"/>
            <a:ext cx="5120640" cy="493776"/>
          </a:xfrm>
          <a:prstGeom prst="roundRect">
            <a:avLst>
              <a:gd name="adj" fmla="val 3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050" b="1" i="0">
                <a:solidFill>
                  <a:srgbClr val="2E7D5B"/>
                </a:solidFill>
                <a:latin typeface="Calibri"/>
              </a:rPr>
              <a:t>✓ controlled directly: ln sea market access in every regression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38928"/>
            <a:ext cx="5074920" cy="493776"/>
          </a:xfrm>
          <a:prstGeom prst="roundRect">
            <a:avLst>
              <a:gd name="adj" fmla="val 3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150" b="1" i="0">
                <a:solidFill>
                  <a:srgbClr val="6E6E6E"/>
                </a:solidFill>
                <a:latin typeface="Calibri"/>
              </a:rPr>
              <a:t>💰 Big, rich countries ride the global cycle anyway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43600" y="5266944"/>
            <a:ext cx="27432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09360" y="5138928"/>
            <a:ext cx="5120640" cy="493776"/>
          </a:xfrm>
          <a:prstGeom prst="roundRect">
            <a:avLst>
              <a:gd name="adj" fmla="val 3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050" b="1" i="0">
                <a:solidFill>
                  <a:srgbClr val="2E7D5B"/>
                </a:solidFill>
                <a:latin typeface="Calibri"/>
              </a:rPr>
              <a:t>✓ stress test: add cycle × 1996 pop, GDP, capacity. F 120 → 106, β stable (the test that killed our other instruments)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705856"/>
            <a:ext cx="5074920" cy="493776"/>
          </a:xfrm>
          <a:prstGeom prst="roundRect">
            <a:avLst>
              <a:gd name="adj" fmla="val 3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150" b="1" i="0">
                <a:solidFill>
                  <a:srgbClr val="6E6E6E"/>
                </a:solidFill>
                <a:latin typeface="Calibri"/>
              </a:rPr>
              <a:t>🔬 Some direct effect might still remain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43600" y="5833872"/>
            <a:ext cx="27432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09360" y="5705856"/>
            <a:ext cx="5120640" cy="493776"/>
          </a:xfrm>
          <a:prstGeom prst="roundRect">
            <a:avLst>
              <a:gd name="adj" fmla="val 3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/>
            <a:r>
              <a:rPr sz="1050" b="1" i="0">
                <a:solidFill>
                  <a:srgbClr val="2E7D5B"/>
                </a:solidFill>
                <a:latin typeface="Calibri"/>
              </a:rPr>
              <a:t>✓ Conley bounds: results survive direct effects up to 85% of the reduced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40 / 61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raw first look: shifter up, emissions up</a:t>
            </a:r>
          </a:p>
        </p:txBody>
      </p:sp>
      <p:pic>
        <p:nvPicPr>
          <p:cNvPr id="5" name="Picture 4" descr="CO2_rf_quin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17" y="2103120"/>
            <a:ext cx="10455534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65099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Reduced form by instrument quintile: countries with stronger geography-driven connectivity growth emit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41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05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Results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The elasticity, and everything inside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42 / 61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05840"/>
            <a:ext cx="112745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1" i="0">
                <a:solidFill>
                  <a:srgbClr val="E2A85A"/>
                </a:solidFill>
                <a:latin typeface="Verdana"/>
              </a:rPr>
              <a:t>+1%  →  +5.7%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connectivity up one percent, national aviation CO2 up 5.67 percent (s.e. 0.41)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343400"/>
            <a:ext cx="9262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CC5DE"/>
                </a:solidFill>
                <a:latin typeface="Calibri"/>
              </a:rPr>
              <a:t>The benchmark is an elasticity of one: hubs could in principle absorb growth efficiently.</a:t>
            </a:r>
          </a:p>
          <a:p>
            <a:pPr algn="ctr">
              <a:spcBef>
                <a:spcPts val="600"/>
              </a:spcBef>
            </a:pPr>
            <a:r>
              <a:rPr sz="1600" b="1" i="0">
                <a:solidFill>
                  <a:srgbClr val="BCC5DE"/>
                </a:solidFill>
                <a:latin typeface="Calibri"/>
              </a:rPr>
              <a:t>An elasticity of one is rejected at any conventional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43 / 61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However you count it: far above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B0413E"/>
                </a:solidFill>
                <a:latin typeface="Verdana"/>
              </a:rPr>
              <a:t>+5.67***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Bunker CO2 (headline)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7451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B0413E"/>
                </a:solidFill>
                <a:latin typeface="Verdana"/>
              </a:rPr>
              <a:t>+5.92***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LTO-only (territorial)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87451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B0413E"/>
                </a:solidFill>
                <a:latin typeface="Verdana"/>
              </a:rPr>
              <a:t>+5.62***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50/50 cruise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1187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B0413E"/>
                </a:solidFill>
                <a:latin typeface="Verdana"/>
              </a:rPr>
              <a:t>+5.69***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International CO2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61187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232A55"/>
                </a:solidFill>
                <a:latin typeface="Verdana"/>
              </a:rPr>
              <a:t>+6.07***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Seat-kilometres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61187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700" b="1" i="0">
                <a:solidFill>
                  <a:srgbClr val="2E7D5B"/>
                </a:solidFill>
                <a:latin typeface="Verdana"/>
              </a:rPr>
              <a:t>−0.40***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CO2 per seat-km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035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E6E6E"/>
                </a:solidFill>
                <a:latin typeface="Calibri"/>
              </a:rPr>
              <a:t>Aggregation checks: GACI sum +2.28***, max +4.82***, mean +5.90*** (KP F 90–172). 2SLS, Feyrer IV, N = 4,634.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576072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Allocation rule, aggregation, instrument: nothing pushes the elasticity anywhere near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44 / 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Efficiency is real. It is also hopelessly outgunned.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Scale (seat-km)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103120"/>
            <a:ext cx="7498079" cy="640080"/>
          </a:xfrm>
          <a:prstGeom prst="roundRect">
            <a:avLst>
              <a:gd name="adj" fmla="val 3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+6.07%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32A55"/>
                </a:solidFill>
                <a:latin typeface="Calibri"/>
              </a:rPr>
              <a:t>Technique (CO2 per seat-km)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200400"/>
            <a:ext cx="548640" cy="64008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50208" y="327355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2E7D5B"/>
                </a:solidFill>
                <a:latin typeface="Calibri"/>
              </a:rPr>
              <a:t>−0.40%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The same 1% of connectivity raises seat-kilometres by 6.07%, faster than emissions rise.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So emissions per seat-km fall by 0.40%: hubbing does deliver larger, fuller, longer-range operations.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E1E24"/>
                </a:solidFill>
                <a:latin typeface="Calibri"/>
              </a:rPr>
              <a:t>•  But the efficiency margin offsets </a:t>
            </a:r>
            <a:r>
              <a:rPr sz="1600" b="1" i="0">
                <a:solidFill>
                  <a:srgbClr val="1E1E24"/>
                </a:solidFill>
                <a:latin typeface="Calibri"/>
              </a:rPr>
              <a:t>less than one tenth of the scale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571500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The emissions consequence of connectivity is a volume story, not an efficiency 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45 / 61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Zoom to the airport: the efficiency curve</a:t>
            </a:r>
          </a:p>
        </p:txBody>
      </p:sp>
      <p:pic>
        <p:nvPicPr>
          <p:cNvPr id="5" name="Picture 4" descr="CO2_efficienc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209" y="1737360"/>
            <a:ext cx="572555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303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2023 cross-section by connectivity ventile: median intensity falls 284 → 77 kg per 1,000 seat-km while the international share climbs from 1% to 60%.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943600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Efficiency is real at the node, and dominated by scale at the aggregate.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46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Who drives it: the newly connecting world</a:t>
            </a:r>
          </a:p>
        </p:txBody>
      </p:sp>
      <p:pic>
        <p:nvPicPr>
          <p:cNvPr id="5" name="Picture 4" descr="CO2_hetero_coef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696712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3720" y="19659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 i="0">
                <a:solidFill>
                  <a:srgbClr val="232A55"/>
                </a:solidFill>
                <a:latin typeface="Calibri"/>
              </a:rPr>
              <a:t>By 1996 income:  </a:t>
            </a:r>
            <a:r>
              <a:rPr sz="1600" b="0" i="0">
                <a:solidFill>
                  <a:srgbClr val="1E1E24"/>
                </a:solidFill>
                <a:latin typeface="Calibri"/>
              </a:rPr>
              <a:t>11.4 (bottom) · 5.9 (middle) · 0.35 ns (top)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232A55"/>
                </a:solidFill>
                <a:latin typeface="Calibri"/>
              </a:rPr>
              <a:t>By region:  </a:t>
            </a:r>
            <a:r>
              <a:rPr sz="1600" b="0" i="0">
                <a:solidFill>
                  <a:srgbClr val="1E1E24"/>
                </a:solidFill>
                <a:latin typeface="Calibri"/>
              </a:rPr>
              <a:t>Africa 8.4 · Asia–Pacific 5.4 · Latin America 3.2 · Europe 0.24 ns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232A55"/>
                </a:solidFill>
                <a:latin typeface="Calibri"/>
              </a:rPr>
              <a:t>Efficiency gains  </a:t>
            </a:r>
            <a:r>
              <a:rPr sz="1600" b="0" i="0">
                <a:solidFill>
                  <a:srgbClr val="1E1E24"/>
                </a:solidFill>
                <a:latin typeface="Calibri"/>
              </a:rPr>
              <a:t>also appear only in the bottom income tercile.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897880"/>
            <a:ext cx="9601200" cy="65836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For mature networks, connectivity growth is roughly carbon-neutral at the margin. The elasticity is the sound of countries entering the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47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And it is fading as the network matures</a:t>
            </a:r>
          </a:p>
        </p:txBody>
      </p:sp>
      <p:pic>
        <p:nvPicPr>
          <p:cNvPr id="5" name="Picture 4" descr="CO2_temporal_coef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932734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20574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5.61 → 3.01  </a:t>
            </a:r>
            <a:r>
              <a:rPr sz="1400" b="0" i="0">
                <a:solidFill>
                  <a:srgbClr val="1E1E24"/>
                </a:solidFill>
                <a:latin typeface="Calibri"/>
              </a:rPr>
              <a:t>excluding crisis years: the elasticity halves from 1996–2007 to 2010–2023 (p = 0.005).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+0.78 → −0.98  </a:t>
            </a:r>
            <a:r>
              <a:rPr sz="1400" b="0" i="0">
                <a:solidFill>
                  <a:srgbClr val="1E1E24"/>
                </a:solidFill>
                <a:latin typeface="Calibri"/>
              </a:rPr>
              <a:t>the efficiency margin only appears in the mature era.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COVID alone  </a:t>
            </a:r>
            <a:r>
              <a:rPr sz="1400" b="0" i="0">
                <a:solidFill>
                  <a:srgbClr val="1E1E24"/>
                </a:solidFill>
                <a:latin typeface="Calibri"/>
              </a:rPr>
              <a:t>breaks the late-period first stage (F 36.7 → 7.0 with 2020–21 included).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897880"/>
            <a:ext cx="9601200" cy="59436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Still far above one in both eras: maturity slows the meter, it does not stop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48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Anatomy: volume carries it, hub quality recomposes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What mediates the effect?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3246120" cy="141732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i="0">
                <a:solidFill>
                  <a:srgbClr val="232A55"/>
                </a:solidFill>
                <a:latin typeface="Verdana"/>
              </a:rPr>
              <a:t>86.5%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of the effect runs through seat-kilometres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286000"/>
            <a:ext cx="3246120" cy="141732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i="0">
                <a:solidFill>
                  <a:srgbClr val="232A55"/>
                </a:solidFill>
                <a:latin typeface="Verdana"/>
              </a:rPr>
              <a:t>83.9%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through flight frequency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286000"/>
            <a:ext cx="3246120" cy="141732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i="0">
                <a:solidFill>
                  <a:srgbClr val="6E6E6E"/>
                </a:solidFill>
                <a:latin typeface="Verdana"/>
              </a:rPr>
              <a:t>~0%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through the international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A different lever, hub quality (secondary tourism IV), moves the mix instead: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34840"/>
            <a:ext cx="3246120" cy="77724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Total CO2: no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4434840"/>
            <a:ext cx="3246120" cy="77724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International CO2: +3.16***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434840"/>
            <a:ext cx="3246120" cy="77724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CO2 per seat-km: +1.23***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562356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Market access scales flying; hub quality tilts it toward international long-haul.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49 / 61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Your neighbour's hub, your emissions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148840"/>
            <a:ext cx="2286000" cy="1554480"/>
          </a:xfrm>
          <a:prstGeom prst="ellipse">
            <a:avLst/>
          </a:prstGeom>
          <a:solidFill>
            <a:srgbClr val="FAF0E1"/>
          </a:solidFill>
          <a:ln>
            <a:solidFill>
              <a:srgbClr val="E2A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✈️ Neighbours' connectivity +1%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74720" y="2724912"/>
            <a:ext cx="914400" cy="40233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26280" y="2148840"/>
            <a:ext cx="2286000" cy="1554480"/>
          </a:xfrm>
          <a:prstGeom prst="ellipse">
            <a:avLst/>
          </a:prstGeom>
          <a:solidFill>
            <a:srgbClr val="F8E9E8"/>
          </a:solidFill>
          <a:ln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B0413E"/>
                </a:solidFill>
                <a:latin typeface="Calibri"/>
              </a:rPr>
              <a:t>💨 Own aviation CO2 +7.45***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103120"/>
            <a:ext cx="4069080" cy="502920"/>
          </a:xfrm>
          <a:prstGeom prst="roundRect">
            <a:avLst>
              <a:gd name="adj" fmla="val 5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B0413E"/>
                </a:solidFill>
                <a:latin typeface="Calibri"/>
              </a:rPr>
              <a:t>International CO2 +10.2***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697479"/>
            <a:ext cx="4069080" cy="50292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6E6E6E"/>
                </a:solidFill>
                <a:latin typeface="Calibri"/>
              </a:rPr>
              <a:t>Trade volume: +2.1, 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91839"/>
            <a:ext cx="4069080" cy="502920"/>
          </a:xfrm>
          <a:prstGeom prst="roundRect">
            <a:avLst>
              <a:gd name="adj" fmla="val 5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KP F = 134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69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32A55"/>
                </a:solidFill>
                <a:latin typeface="Calibri"/>
              </a:rPr>
              <a:t>The margins are the converse of the own-network response: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526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6E6E6E"/>
                </a:solidFill>
                <a:latin typeface="Calibri"/>
              </a:rPr>
              <a:t>Flights: 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4526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Aircraft size +5.4***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526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Intl share +1.0***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4526280"/>
            <a:ext cx="2560320" cy="731520"/>
          </a:xfrm>
          <a:prstGeom prst="roundRect">
            <a:avLst>
              <a:gd name="adj" fmla="val 50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232A55"/>
                </a:solidFill>
                <a:latin typeface="Calibri"/>
              </a:rPr>
              <a:t>Stage length −2.0**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5623560"/>
            <a:ext cx="9601200" cy="65836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Feeding foreign hubs: the CO2 lands at home, the trade gains do not. National accounting misses a regional externality.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50 / 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06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The carbon bill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Attribution, who pays, and the only real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51 / 61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356 Mt: the CO2 the connectivity boom built</a:t>
            </a:r>
          </a:p>
        </p:txBody>
      </p:sp>
      <p:pic>
        <p:nvPicPr>
          <p:cNvPr id="5" name="Picture 4" descr="CO2_map_attributed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645" y="1874519"/>
            <a:ext cx="9646678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2531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2023 aviation CO2 attributed to post-1996 connectivity growth: 356 Mt, 42.5% of the world total. White =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52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price tag: the social cost of carbon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32A55"/>
                </a:solidFill>
                <a:latin typeface="Calibri"/>
              </a:rPr>
              <a:t>SCC = the present value of all future damage caused by one extra tonne of CO2.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3108960" cy="1417320"/>
          </a:xfrm>
          <a:prstGeom prst="roundRect">
            <a:avLst>
              <a:gd name="adj" fmla="val 10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450" b="1" i="0">
                <a:solidFill>
                  <a:srgbClr val="232A55"/>
                </a:solidFill>
                <a:latin typeface="Calibri"/>
              </a:rPr>
              <a:t>🏭 1 tonne of CO2, emitted today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one flight's worth at a time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69080" y="2944368"/>
            <a:ext cx="502920" cy="31089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09160" y="2377440"/>
            <a:ext cx="3291840" cy="1417320"/>
          </a:xfrm>
          <a:prstGeom prst="roundRect">
            <a:avLst>
              <a:gd name="adj" fmla="val 10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450" b="1" i="0">
                <a:solidFill>
                  <a:srgbClr val="B0413E"/>
                </a:solidFill>
                <a:latin typeface="Calibri"/>
              </a:rPr>
              <a:t>🌡️ A century of damages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heat, crops, storms, sea level, health, productivity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183879" y="2944368"/>
            <a:ext cx="502920" cy="310896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23960" y="237744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450" b="1" i="0">
                <a:solidFill>
                  <a:srgbClr val="2E7D5B"/>
                </a:solidFill>
                <a:latin typeface="Calibri"/>
              </a:rPr>
              <a:t>💵 Discounted back to today</a:t>
            </a:r>
          </a:p>
          <a:p>
            <a:pPr algn="ctr"/>
            <a:r>
              <a:rPr sz="1150" b="0" i="0">
                <a:solidFill>
                  <a:srgbClr val="1E1E24"/>
                </a:solidFill>
                <a:latin typeface="Calibri"/>
              </a:rPr>
              <a:t>= one price per tonne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32A55"/>
                </a:solidFill>
                <a:latin typeface="Calibri"/>
              </a:rPr>
              <a:t>Three standard price tags (2020 USD per tonne):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34840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E9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 i="0">
                <a:solidFill>
                  <a:srgbClr val="232A55"/>
                </a:solidFill>
                <a:latin typeface="Verdana"/>
              </a:rPr>
              <a:t>$51  </a:t>
            </a:r>
            <a:r>
              <a:rPr sz="1200" b="0" i="0">
                <a:solidFill>
                  <a:srgbClr val="1E1E24"/>
                </a:solidFill>
                <a:latin typeface="Calibri"/>
              </a:rPr>
              <a:t>per tonne</a:t>
            </a:r>
          </a:p>
          <a:p>
            <a:pPr algn="ctr"/>
            <a:r>
              <a:rPr sz="1100" b="0" i="0">
                <a:solidFill>
                  <a:srgbClr val="1E1E24"/>
                </a:solidFill>
                <a:latin typeface="Calibri"/>
              </a:rPr>
              <a:t>US Interagency Working Group (2021) · 3% discount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434840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 i="0">
                <a:solidFill>
                  <a:srgbClr val="232A55"/>
                </a:solidFill>
                <a:latin typeface="Verdana"/>
              </a:rPr>
              <a:t>$185  </a:t>
            </a:r>
            <a:r>
              <a:rPr sz="1200" b="0" i="0">
                <a:solidFill>
                  <a:srgbClr val="1E1E24"/>
                </a:solidFill>
                <a:latin typeface="Calibri"/>
              </a:rPr>
              <a:t>per tonne</a:t>
            </a:r>
          </a:p>
          <a:p>
            <a:pPr algn="ctr"/>
            <a:r>
              <a:rPr sz="1100" b="0" i="0">
                <a:solidFill>
                  <a:srgbClr val="1E1E24"/>
                </a:solidFill>
                <a:latin typeface="Calibri"/>
              </a:rPr>
              <a:t>Rennert et al. (2022, Nature) · 2% near-term discount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434840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 i="0">
                <a:solidFill>
                  <a:srgbClr val="B0413E"/>
                </a:solidFill>
                <a:latin typeface="Verdana"/>
              </a:rPr>
              <a:t>$190  </a:t>
            </a:r>
            <a:r>
              <a:rPr sz="1200" b="0" i="0">
                <a:solidFill>
                  <a:srgbClr val="1E1E24"/>
                </a:solidFill>
                <a:latin typeface="Calibri"/>
              </a:rPr>
              <a:t>per tonne</a:t>
            </a:r>
          </a:p>
          <a:p>
            <a:pPr algn="ctr"/>
            <a:r>
              <a:rPr sz="1100" b="0" i="0">
                <a:solidFill>
                  <a:srgbClr val="1E1E24"/>
                </a:solidFill>
                <a:latin typeface="Calibri"/>
              </a:rPr>
              <a:t>US EPA (2023) central value · 2% Ramsey discounting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692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6E6E6E"/>
                </a:solidFill>
                <a:latin typeface="Calibri"/>
              </a:rPr>
              <a:t>The gap is mostly the discount rate, not the climate science: how much do we care about damages 50 years out?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6053328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Attach this price tag to our 356 Mt: an $18–68 billion bill, recurring every year the traffic persists.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53 / 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Who owes what: the country bill, priced 💸</a:t>
            </a:r>
          </a:p>
        </p:txBody>
      </p:sp>
      <p:pic>
        <p:nvPicPr>
          <p:cNvPr id="5" name="Picture 4" descr="CO2_attributio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5521877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874519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China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+88 Mt  ·  $16.7 bn/yr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United States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+36 Mt  ·  $6.9 bn/yr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UAE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+25 Mt  ·  $4.7 bn/yr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Japan / Turkey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+17 Mt each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Korea  </a:t>
            </a:r>
            <a:r>
              <a:rPr sz="1500" b="0" i="0">
                <a:solidFill>
                  <a:srgbClr val="B0413E"/>
                </a:solidFill>
                <a:latin typeface="Calibri"/>
              </a:rPr>
              <a:t>+14 Mt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A55"/>
                </a:solidFill>
                <a:latin typeface="Calibri"/>
              </a:rPr>
              <a:t>Germany  </a:t>
            </a:r>
            <a:r>
              <a:rPr sz="1500" b="0" i="0">
                <a:solidFill>
                  <a:srgbClr val="2E7D5B"/>
                </a:solidFill>
                <a:latin typeface="Calibri"/>
              </a:rPr>
              <a:t>−16 Mt  ·  −$3.0 bn/yr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6E6E6E"/>
                </a:solidFill>
                <a:latin typeface="Calibri"/>
              </a:rPr>
              <a:t>World: $18.2 / 65.9 / 67.7 bn per year at SCC $51 / $185 / $190.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989320"/>
            <a:ext cx="9601200" cy="56692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32A55"/>
                </a:solidFill>
                <a:latin typeface="Calibri"/>
              </a:rPr>
              <a:t>A climate bill in the tens of billions of dollars, recurring annually while the traffic persists.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54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Generated here, booked there</a:t>
            </a:r>
          </a:p>
        </p:txBody>
      </p:sp>
      <p:pic>
        <p:nvPicPr>
          <p:cNvPr id="5" name="Picture 4" descr="CO2_map_mismatch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746" y="1737360"/>
            <a:ext cx="8556477" cy="3520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394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Bunker-attributed share minus physical LTO share, 2023: +1.4 pp for the US and the UAE, −3.5 pp for China. Positive at every international mega-hub.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989320"/>
            <a:ext cx="9601200" cy="566928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Any scheme that allocates responsibility by booked emissions, CORSIA included, embeds a transfer across these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55 / 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H E   C A R B O N   B I 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only lever that moves the level: change the fuel</a:t>
            </a:r>
          </a:p>
        </p:txBody>
      </p:sp>
      <p:pic>
        <p:nvPicPr>
          <p:cNvPr id="5" name="Picture 4" descr="CO2_saf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5746652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303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E6E6E"/>
                </a:solidFill>
                <a:latin typeface="Calibri"/>
              </a:rPr>
              <a:t>ReFuelEU-style SAF blending paths, 2023 traffic held fixed: the carbon price of connectivity falls from 21 g CO2 per $ of attributed trade to 9–14 g by 2050. In levels: 838 Mt → 704–754 Mt (2035 mandate) → 369–545 Mt (2050).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783080"/>
            <a:ext cx="4709160" cy="3383280"/>
          </a:xfrm>
          <a:prstGeom prst="roundRect">
            <a:avLst>
              <a:gd name="adj" fmla="val 8000"/>
            </a:avLst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rtlCol="0" anchor="t"/>
          <a:lstStyle/>
          <a:p>
            <a:pPr algn="ctr"/>
            <a:r>
              <a:rPr sz="1500" b="1" i="0">
                <a:solidFill>
                  <a:srgbClr val="2E7D5B"/>
                </a:solidFill>
                <a:latin typeface="Calibri"/>
              </a:rPr>
              <a:t>🌱 LIVE DEMO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E1E24"/>
                </a:solidFill>
                <a:latin typeface="Calibri"/>
              </a:rPr>
              <a:t>SAF Buy-Back Simulator: slide the blend, watch the bill shrink.</a:t>
            </a:r>
          </a:p>
        </p:txBody>
      </p:sp>
      <p:pic>
        <p:nvPicPr>
          <p:cNvPr id="8" name="Picture 7" descr="saf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2880360"/>
            <a:ext cx="164592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4590288"/>
            <a:ext cx="4526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Calibri"/>
              </a:rPr>
              <a:t>claude.ai/code/artifact/138b2cc7-2e31-4bba-a55b-81da58da6146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6053328"/>
            <a:ext cx="9601200" cy="54864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32A55"/>
                </a:solidFill>
                <a:latin typeface="Calibri"/>
              </a:rPr>
              <a:t>The full 2050 path (≥65% life-cycle saving) offsets about as much CO2 as the past generation of connectivity growth created.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56 / 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07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Conclusion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BCC5DE"/>
                </a:solidFill>
                <a:latin typeface="Calibri"/>
              </a:rPr>
              <a:t>Three myths, three implications, one bill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0">
                <a:solidFill>
                  <a:srgbClr val="E2A85A"/>
                </a:solidFill>
                <a:latin typeface="Calibri"/>
              </a:rP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57 / 61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C O N C L U S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Three comfortable myths,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E6E6E"/>
                </a:solidFill>
                <a:latin typeface="Calibri"/>
              </a:rPr>
              <a:t>MYTH 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0413E"/>
                </a:solidFill>
                <a:latin typeface="Calibri"/>
              </a:rPr>
              <a:t>WHAT THE DATA SAY 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303520" cy="100584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“Hub efficiency will absorb the traffic growth.”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44768" y="2624328"/>
            <a:ext cx="32004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37960" y="2240280"/>
            <a:ext cx="4892040" cy="100584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It offsets less than one tenth of the scale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29000"/>
            <a:ext cx="5303520" cy="100584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“Emissions are booked where they are generated.”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44768" y="3813048"/>
            <a:ext cx="32004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37960" y="3429000"/>
            <a:ext cx="4892040" cy="100584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Hub accounting shifts up to 3.5 pp of world emissions across borders.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17720"/>
            <a:ext cx="5303520" cy="100584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“Your emissions depend on your own network.”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44768" y="5001768"/>
            <a:ext cx="320040" cy="237744"/>
          </a:xfrm>
          <a:prstGeom prst="rightArrow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37960" y="4617720"/>
            <a:ext cx="4892040" cy="1005840"/>
          </a:xfrm>
          <a:prstGeom prst="roundRect">
            <a:avLst>
              <a:gd name="adj" fmla="val 12000"/>
            </a:avLst>
          </a:prstGeom>
          <a:solidFill>
            <a:srgbClr val="F8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/>
            <a:r>
              <a:rPr sz="1400" b="1" i="0">
                <a:solidFill>
                  <a:srgbClr val="B0413E"/>
                </a:solidFill>
                <a:latin typeface="Calibri"/>
              </a:rPr>
              <a:t>+1% in neighbours' connectivity raises your CO2 by 7.5%.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576072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Connectivity policy needs a carbon line in its cost-benefit table. Here is the number to put there.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58 / 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C O N C L U S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Summary and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New data: flight-stage CO2 for 6,000+ airports, 1996–2023, valid under any allocation rule.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New estimate: the connectivity-emissions elasticity is 5.67, far above one, concentrated in newly connecting countries, spilling across borders.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The bill: 42.5% of 2023 aviation CO2 (356 Mt, $18–68 bn per year) traces to the post-1996 connectivity boom.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Policy: evaluate connectivity investments jointly with fuel and demand-side instruments; efficiency gains are not a decarbonisation strategy, and booked-emissions schemes embed cross-border transfers.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760720"/>
            <a:ext cx="9601200" cy="64008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Connect if it pays, but put the carbon in the ledger, and bring the fuel.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59 /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C O N C L U S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36576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Points to discuss (a.k.a. our limitations)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Schedule-based emissions: carbon content of scheduled capacity, not of realised load factors.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The instrument is strongest in the expansion era; the late period is identified only excluding COVID years.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Airport-level results are descriptive: no valid airport-level instrument survived our checks.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Attribution and SAF scenarios are partial-equilibrium accounting; non-CO2 climate effects (contrails, NOx) are out of scope.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E1E24"/>
                </a:solidFill>
                <a:latin typeface="Calibri"/>
              </a:rPr>
              <a:t>•  Where next: load factors? Airline-level behaviour? Non-CO2 forcing? Your ideas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60 / 61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E6E6E"/>
                </a:solidFill>
                <a:latin typeface="Calibri"/>
              </a:rPr>
              <a:t>Air Connectivity and Aviation CO2, 1996–2023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Verdana"/>
              </a:rPr>
              <a:t>Thank you  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661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BCC5DE"/>
                </a:solidFill>
                <a:latin typeface="Calibri"/>
              </a:rPr>
              <a:t>How Much Does Air Connectivity Increase Aviation CO2?</a:t>
            </a:r>
          </a:p>
          <a:p>
            <a:r>
              <a:rPr sz="1500" b="0" i="0">
                <a:solidFill>
                  <a:srgbClr val="E2A85A"/>
                </a:solidFill>
                <a:latin typeface="Calibri"/>
              </a:rPr>
              <a:t>+1% connectivity → +5.7% CO2  ·  356 Mt since 1996  ·  only fuel switching bends the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61 / 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5354</Words>
  <Application>Microsoft Office PowerPoint</Application>
  <PresentationFormat>와이드스크린</PresentationFormat>
  <Paragraphs>711</Paragraphs>
  <Slides>62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66" baseType="lpstr">
      <vt:lpstr>Arial</vt:lpstr>
      <vt:lpstr>Calibri</vt:lpstr>
      <vt:lpstr>Verdana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유선빈</cp:lastModifiedBy>
  <cp:revision>4</cp:revision>
  <dcterms:created xsi:type="dcterms:W3CDTF">2013-01-27T09:14:16Z</dcterms:created>
  <dcterms:modified xsi:type="dcterms:W3CDTF">2026-09-02T04:11:32Z</dcterms:modified>
  <cp:category/>
</cp:coreProperties>
</file>