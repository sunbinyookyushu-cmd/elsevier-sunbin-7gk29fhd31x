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30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99" r:id="rId13"/>
    <p:sldId id="267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300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301" r:id="rId42"/>
    <p:sldId id="298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34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712B7-262F-4357-A090-A9FF959E1D0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B5104-1FDC-4DF8-B815-CCA010033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618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B5104-1FDC-4DF8-B815-CCA010033C0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33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3199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b="1" i="0" dirty="0">
                <a:solidFill>
                  <a:srgbClr val="BCC5DE"/>
                </a:solidFill>
                <a:latin typeface="Calibri"/>
              </a:rPr>
              <a:t>Research Seminar</a:t>
            </a:r>
            <a:endParaRPr sz="1200" b="1" i="0" dirty="0">
              <a:solidFill>
                <a:srgbClr val="BCC5D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1371600" cy="4572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 dirty="0">
                <a:solidFill>
                  <a:srgbClr val="FFFFFF"/>
                </a:solidFill>
                <a:latin typeface="Verdana"/>
              </a:rPr>
              <a:t>Global Air Connectivity and Trade Openness, 1996–2023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00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 dirty="0">
                <a:solidFill>
                  <a:srgbClr val="BCC5DE"/>
                </a:solidFill>
                <a:latin typeface="Calibri"/>
              </a:rPr>
              <a:t>Building a global aviation connectivity index, and estimating its effect on trade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114800"/>
            <a:ext cx="10515600" cy="18288"/>
          </a:xfrm>
          <a:prstGeom prst="rect">
            <a:avLst/>
          </a:prstGeom>
          <a:solidFill>
            <a:srgbClr val="444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4681975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1" dirty="0">
                <a:solidFill>
                  <a:srgbClr val="BCC5DE"/>
                </a:solidFill>
                <a:latin typeface="Calibri"/>
              </a:rPr>
              <a:t>Sunbin YOO, </a:t>
            </a:r>
            <a:endParaRPr lang="en-US" sz="1300" i="1" dirty="0">
              <a:solidFill>
                <a:srgbClr val="BCC5DE"/>
              </a:solidFill>
              <a:latin typeface="Calibri"/>
            </a:endParaRPr>
          </a:p>
          <a:p>
            <a:r>
              <a:rPr lang="en-US" sz="1300" b="0" i="1" dirty="0" err="1">
                <a:solidFill>
                  <a:srgbClr val="BCC5DE"/>
                </a:solidFill>
                <a:latin typeface="Calibri"/>
              </a:rPr>
              <a:t>Junya</a:t>
            </a:r>
            <a:r>
              <a:rPr lang="en-US" sz="1300" b="0" i="1" dirty="0">
                <a:solidFill>
                  <a:srgbClr val="BCC5DE"/>
                </a:solidFill>
                <a:latin typeface="Calibri"/>
              </a:rPr>
              <a:t> KUMAGAI</a:t>
            </a:r>
          </a:p>
          <a:p>
            <a:r>
              <a:rPr lang="en-US" sz="1300" i="1" dirty="0" err="1">
                <a:solidFill>
                  <a:srgbClr val="BCC5DE"/>
                </a:solidFill>
                <a:latin typeface="Calibri"/>
              </a:rPr>
              <a:t>Longfei</a:t>
            </a:r>
            <a:r>
              <a:rPr lang="en-US" sz="1300" i="1" dirty="0">
                <a:solidFill>
                  <a:srgbClr val="BCC5DE"/>
                </a:solidFill>
                <a:latin typeface="Calibri"/>
              </a:rPr>
              <a:t> ZHENG</a:t>
            </a:r>
          </a:p>
          <a:p>
            <a:r>
              <a:rPr lang="en-US" sz="1300" b="0" i="1" dirty="0" err="1">
                <a:solidFill>
                  <a:srgbClr val="BCC5DE"/>
                </a:solidFill>
                <a:latin typeface="Calibri"/>
              </a:rPr>
              <a:t>Chunan</a:t>
            </a:r>
            <a:r>
              <a:rPr lang="en-US" sz="1300" b="0" i="1" dirty="0">
                <a:solidFill>
                  <a:srgbClr val="BCC5DE"/>
                </a:solidFill>
                <a:latin typeface="Calibri"/>
              </a:rPr>
              <a:t> WANG</a:t>
            </a:r>
          </a:p>
          <a:p>
            <a:r>
              <a:rPr lang="en-US" sz="1300" b="0" i="1" dirty="0" err="1">
                <a:solidFill>
                  <a:srgbClr val="BCC5DE"/>
                </a:solidFill>
                <a:latin typeface="Calibri"/>
              </a:rPr>
              <a:t>Jinwoo</a:t>
            </a:r>
            <a:r>
              <a:rPr lang="en-US" sz="1300" b="0" i="1" dirty="0">
                <a:solidFill>
                  <a:srgbClr val="BCC5DE"/>
                </a:solidFill>
                <a:latin typeface="Calibri"/>
              </a:rPr>
              <a:t> LEE</a:t>
            </a:r>
          </a:p>
          <a:p>
            <a:r>
              <a:rPr lang="en-US" sz="1300" i="1" dirty="0" err="1">
                <a:solidFill>
                  <a:srgbClr val="BCC5DE"/>
                </a:solidFill>
                <a:latin typeface="Calibri"/>
              </a:rPr>
              <a:t>Anming</a:t>
            </a:r>
            <a:r>
              <a:rPr lang="en-US" sz="1300" i="1" dirty="0">
                <a:solidFill>
                  <a:srgbClr val="BCC5DE"/>
                </a:solidFill>
                <a:latin typeface="Calibri"/>
              </a:rPr>
              <a:t> ZHANG</a:t>
            </a:r>
            <a:endParaRPr lang="en-US" sz="1300" b="0" i="1" dirty="0">
              <a:solidFill>
                <a:srgbClr val="BCC5DE"/>
              </a:solidFill>
              <a:latin typeface="Calibri"/>
            </a:endParaRPr>
          </a:p>
          <a:p>
            <a:endParaRPr sz="1300" b="0" i="1" dirty="0">
              <a:solidFill>
                <a:srgbClr val="BCC5D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O D A Y ' S   T A L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1E1E24"/>
                </a:solidFill>
                <a:latin typeface="Verdana"/>
              </a:rPr>
              <a:t>Motivation</a:t>
            </a:r>
            <a:endParaRPr sz="2800" b="1" i="0" dirty="0">
              <a:solidFill>
                <a:srgbClr val="1E1E24"/>
              </a:solidFill>
              <a:latin typeface="Verdan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</a:t>
            </a:r>
            <a:r>
              <a:rPr lang="en-US" sz="1900" b="0" i="0" dirty="0">
                <a:solidFill>
                  <a:srgbClr val="1E1E24"/>
                </a:solidFill>
                <a:latin typeface="Calibri"/>
              </a:rPr>
              <a:t>We simply wanted to </a:t>
            </a:r>
            <a:r>
              <a:rPr lang="en-US" sz="1900" dirty="0">
                <a:solidFill>
                  <a:srgbClr val="1E1E24"/>
                </a:solidFill>
                <a:latin typeface="Calibri"/>
              </a:rPr>
              <a:t>Graduate from Railway research.</a:t>
            </a:r>
          </a:p>
          <a:p>
            <a:pPr marL="342900" indent="-342900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E1E24"/>
                </a:solidFill>
                <a:latin typeface="Calibri"/>
              </a:rPr>
              <a:t>We had a chance to meet Professor </a:t>
            </a:r>
            <a:r>
              <a:rPr lang="en-US" sz="1900" dirty="0" err="1">
                <a:solidFill>
                  <a:srgbClr val="1E1E24"/>
                </a:solidFill>
                <a:latin typeface="Calibri"/>
              </a:rPr>
              <a:t>Anming</a:t>
            </a:r>
            <a:r>
              <a:rPr lang="en-US" sz="1900" dirty="0">
                <a:solidFill>
                  <a:srgbClr val="1E1E24"/>
                </a:solidFill>
                <a:latin typeface="Calibri"/>
              </a:rPr>
              <a:t> Zhang (Chief editor of Transportation Research Part A)</a:t>
            </a:r>
          </a:p>
          <a:p>
            <a:pPr marL="342900" indent="-342900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E1E24"/>
                </a:solidFill>
                <a:latin typeface="Calibri"/>
              </a:rPr>
              <a:t>He suggested me about aviation research. 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lang="en-US" sz="1900" dirty="0">
                <a:solidFill>
                  <a:srgbClr val="1E1E24"/>
                </a:solidFill>
                <a:latin typeface="Calibri"/>
              </a:rPr>
              <a:t> </a:t>
            </a:r>
            <a:endParaRPr sz="1900" b="0" i="0" dirty="0">
              <a:solidFill>
                <a:srgbClr val="1E1E2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T O D A Y ' S   T A L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1E1E24"/>
                </a:solidFill>
                <a:latin typeface="Verdana"/>
              </a:rPr>
              <a:t>What this paper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We build a new measure of </a:t>
            </a:r>
            <a:r>
              <a:rPr sz="1900" b="1" i="1" dirty="0">
                <a:solidFill>
                  <a:srgbClr val="1E1E24"/>
                </a:solidFill>
                <a:latin typeface="Calibri"/>
              </a:rPr>
              <a:t>how connected each country is to the world by air</a:t>
            </a:r>
            <a:r>
              <a:rPr sz="1900" b="0" i="0" dirty="0">
                <a:solidFill>
                  <a:srgbClr val="1E1E24"/>
                </a:solidFill>
                <a:latin typeface="Calibri"/>
              </a:rPr>
              <a:t>, covering 184 countries from 1996 to 2023.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We then ask whether that connectivity causally raises a country’s </a:t>
            </a:r>
            <a:r>
              <a:rPr sz="1900" b="1" i="0" dirty="0">
                <a:solidFill>
                  <a:srgbClr val="1E1E24"/>
                </a:solidFill>
                <a:latin typeface="Calibri"/>
              </a:rPr>
              <a:t>trade</a:t>
            </a:r>
            <a:r>
              <a:rPr lang="en-US" altLang="ko-KR" sz="1900" b="1" i="0" dirty="0">
                <a:solidFill>
                  <a:srgbClr val="1E1E24"/>
                </a:solidFill>
                <a:latin typeface="Calibri"/>
              </a:rPr>
              <a:t> openness</a:t>
            </a:r>
            <a:r>
              <a:rPr sz="1900" b="0" i="0" dirty="0">
                <a:solidFill>
                  <a:srgbClr val="1E1E24"/>
                </a:solidFill>
                <a:latin typeface="Calibri"/>
              </a:rPr>
              <a:t>, using an instrument based on tourism and</a:t>
            </a:r>
            <a:r>
              <a:rPr lang="en-US" altLang="ko-KR" sz="1900" b="0" i="0" dirty="0">
                <a:solidFill>
                  <a:srgbClr val="1E1E24"/>
                </a:solidFill>
                <a:latin typeface="Calibri"/>
              </a:rPr>
              <a:t> UNESCO national</a:t>
            </a:r>
            <a:r>
              <a:rPr sz="1900" b="0" i="0" dirty="0">
                <a:solidFill>
                  <a:srgbClr val="1E1E24"/>
                </a:solidFill>
                <a:latin typeface="Calibri"/>
              </a:rPr>
              <a:t> heritage to break reverse causality.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07008" y="3776472"/>
            <a:ext cx="9601200" cy="713232"/>
          </a:xfrm>
          <a:prstGeom prst="roundRect">
            <a:avLst/>
          </a:prstGeom>
          <a:solidFill>
            <a:srgbClr val="F2E9F7"/>
          </a:solidFill>
          <a:ln w="15875">
            <a:solidFill>
              <a:srgbClr val="8E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A data contribution (the index) and a causal contribution (the effect on trade).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  <p:extLst>
      <p:ext uri="{BB962C8B-B14F-4D97-AF65-F5344CB8AC3E}">
        <p14:creationId xmlns:p14="http://schemas.microsoft.com/office/powerpoint/2010/main" val="2221487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O A D M A 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Five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48840"/>
            <a:ext cx="2139696" cy="31089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2148840"/>
            <a:ext cx="2139696" cy="73152"/>
          </a:xfrm>
          <a:prstGeom prst="rect">
            <a:avLst/>
          </a:prstGeom>
          <a:solidFill>
            <a:srgbClr val="1E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8653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6E8A"/>
                </a:solidFill>
                <a:latin typeface="Verdana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E1E24"/>
                </a:solidFill>
                <a:latin typeface="Verdana"/>
              </a:rPr>
              <a:t>Motivation</a:t>
            </a:r>
          </a:p>
          <a:p>
            <a:pPr>
              <a:spcBef>
                <a:spcPts val="1000"/>
              </a:spcBef>
            </a:pPr>
            <a:r>
              <a:rPr sz="1250" b="0" i="0">
                <a:solidFill>
                  <a:srgbClr val="6E6E6E"/>
                </a:solidFill>
                <a:latin typeface="Calibri"/>
              </a:rPr>
              <a:t>Why connectivity &amp; trade </a:t>
            </a:r>
          </a:p>
        </p:txBody>
      </p:sp>
      <p:sp>
        <p:nvSpPr>
          <p:cNvPr id="8" name="Rectangle 7"/>
          <p:cNvSpPr/>
          <p:nvPr/>
        </p:nvSpPr>
        <p:spPr>
          <a:xfrm>
            <a:off x="2871216" y="2148840"/>
            <a:ext cx="2139696" cy="31089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71216" y="2148840"/>
            <a:ext cx="2139696" cy="73152"/>
          </a:xfrm>
          <a:prstGeom prst="rect">
            <a:avLst/>
          </a:prstGeom>
          <a:solidFill>
            <a:srgbClr val="1E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2377440"/>
            <a:ext cx="18653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6E8A"/>
                </a:solidFill>
                <a:latin typeface="Verdana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E1E24"/>
                </a:solidFill>
                <a:latin typeface="Verdana"/>
              </a:rPr>
              <a:t>Building GACI</a:t>
            </a:r>
          </a:p>
          <a:p>
            <a:pPr>
              <a:spcBef>
                <a:spcPts val="1000"/>
              </a:spcBef>
            </a:pPr>
            <a:r>
              <a:rPr sz="1250" b="0" i="0">
                <a:solidFill>
                  <a:srgbClr val="6E6E6E"/>
                </a:solidFill>
                <a:latin typeface="Calibri"/>
              </a:rPr>
              <a:t>What it is and how we build it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75504" y="2148840"/>
            <a:ext cx="2139696" cy="31089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75504" y="2148840"/>
            <a:ext cx="2139696" cy="73152"/>
          </a:xfrm>
          <a:prstGeom prst="rect">
            <a:avLst/>
          </a:prstGeom>
          <a:solidFill>
            <a:srgbClr val="1E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0096" y="2377440"/>
            <a:ext cx="18653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6E8A"/>
                </a:solidFill>
                <a:latin typeface="Verdana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E1E24"/>
                </a:solidFill>
                <a:latin typeface="Verdana"/>
              </a:rPr>
              <a:t>Identification</a:t>
            </a:r>
          </a:p>
          <a:p>
            <a:pPr>
              <a:spcBef>
                <a:spcPts val="1000"/>
              </a:spcBef>
            </a:pPr>
            <a:r>
              <a:rPr sz="1250" b="0" i="0">
                <a:solidFill>
                  <a:srgbClr val="6E6E6E"/>
                </a:solidFill>
                <a:latin typeface="Calibri"/>
              </a:rPr>
              <a:t>Tourism–heritage IV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79792" y="2148840"/>
            <a:ext cx="2139696" cy="31089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79792" y="2148840"/>
            <a:ext cx="2139696" cy="73152"/>
          </a:xfrm>
          <a:prstGeom prst="rect">
            <a:avLst/>
          </a:prstGeom>
          <a:solidFill>
            <a:srgbClr val="1E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44383" y="2377440"/>
            <a:ext cx="18653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6E8A"/>
                </a:solidFill>
                <a:latin typeface="Verdana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E1E24"/>
                </a:solidFill>
                <a:latin typeface="Verdana"/>
              </a:rPr>
              <a:t>Results</a:t>
            </a:r>
          </a:p>
          <a:p>
            <a:pPr>
              <a:spcBef>
                <a:spcPts val="1000"/>
              </a:spcBef>
            </a:pPr>
            <a:r>
              <a:rPr sz="1250" b="0" i="0">
                <a:solidFill>
                  <a:srgbClr val="6E6E6E"/>
                </a:solidFill>
                <a:latin typeface="Calibri"/>
              </a:rPr>
              <a:t>Effect, who gains, how much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2148840"/>
            <a:ext cx="2139696" cy="31089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784080" y="2148840"/>
            <a:ext cx="2139696" cy="73152"/>
          </a:xfrm>
          <a:prstGeom prst="rect">
            <a:avLst/>
          </a:prstGeom>
          <a:solidFill>
            <a:srgbClr val="1E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48672" y="2377440"/>
            <a:ext cx="18653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6E8A"/>
                </a:solidFill>
                <a:latin typeface="Verdana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E1E24"/>
                </a:solidFill>
                <a:latin typeface="Verdana"/>
              </a:rPr>
              <a:t>Conclusion</a:t>
            </a:r>
          </a:p>
          <a:p>
            <a:pPr>
              <a:spcBef>
                <a:spcPts val="1000"/>
              </a:spcBef>
            </a:pPr>
            <a:r>
              <a:rPr sz="1250" b="0" i="0">
                <a:solidFill>
                  <a:srgbClr val="6E6E6E"/>
                </a:solidFill>
                <a:latin typeface="Calibri"/>
              </a:rPr>
              <a:t>Policy &amp; extensions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 / 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01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Motivation</a:t>
            </a:r>
          </a:p>
          <a:p>
            <a:r>
              <a:rPr sz="1600" b="0" i="1">
                <a:solidFill>
                  <a:srgbClr val="BCC5DE"/>
                </a:solidFill>
                <a:latin typeface="Calibri"/>
              </a:rPr>
              <a:t>Why air connectivity, and why 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M O T I V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 dirty="0">
                <a:solidFill>
                  <a:srgbClr val="1E1E24"/>
                </a:solidFill>
                <a:latin typeface="Verdana"/>
              </a:rPr>
              <a:t>Air connectivity shrinks economic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A country’s position in the world air network sets how near it is, in time and cost, to markets, suppliers, and partners.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Among the flows distance impedes (people, capital, ideas, goods), trade responds most robustly and is observed most cleanly.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Trade is the proximate, observable margin on which connectivity acts; income is the distant, confounded end of the 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/>
          </a:prstGeom>
          <a:solidFill>
            <a:srgbClr val="F2E9F7"/>
          </a:solidFill>
          <a:ln w="15875">
            <a:solidFill>
              <a:srgbClr val="8E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So we study trade: the clearest economic footprint of air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M O T I V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Why connectivity should move trade: two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600944" cy="41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100"/>
              </a:spcAft>
            </a:pPr>
            <a:r>
              <a:rPr lang="en-US" altLang="ko-KR" sz="1600" b="1" dirty="0">
                <a:solidFill>
                  <a:srgbClr val="1E1E24"/>
                </a:solidFill>
              </a:rPr>
              <a:t>Why a continuous index, not a count or a discrete treatment- </a:t>
            </a:r>
            <a:r>
              <a:rPr lang="en-US" altLang="ko-KR" sz="1600" dirty="0">
                <a:solidFill>
                  <a:srgbClr val="1E1E24"/>
                </a:solidFill>
              </a:rPr>
              <a:t>Continuous, not lumpy. </a:t>
            </a:r>
          </a:p>
          <a:p>
            <a:pPr>
              <a:spcBef>
                <a:spcPts val="200"/>
              </a:spcBef>
              <a:spcAft>
                <a:spcPts val="1100"/>
              </a:spcAft>
            </a:pPr>
            <a:r>
              <a:rPr lang="en-US" altLang="ko-KR" sz="1600" dirty="0">
                <a:solidFill>
                  <a:srgbClr val="1E1E24"/>
                </a:solidFill>
              </a:rPr>
              <a:t>Airports rarely open or close; position moves every year as partners rewire. A discrete DID misses this. </a:t>
            </a:r>
          </a:p>
          <a:p>
            <a:pPr>
              <a:spcBef>
                <a:spcPts val="200"/>
              </a:spcBef>
              <a:spcAft>
                <a:spcPts val="1100"/>
              </a:spcAft>
            </a:pPr>
            <a:r>
              <a:rPr lang="en-US" altLang="ko-KR" sz="1600" b="1" dirty="0">
                <a:solidFill>
                  <a:srgbClr val="1E1E24"/>
                </a:solidFill>
              </a:rPr>
              <a:t>Weighted, not counted. </a:t>
            </a:r>
            <a:r>
              <a:rPr lang="en-US" altLang="ko-KR" sz="1600" dirty="0">
                <a:solidFill>
                  <a:srgbClr val="1E1E24"/>
                </a:solidFill>
              </a:rPr>
              <a:t>A mega-hub ≠ a thin regional field (top ~2.4% of airports carry half the world's seats). A count erases this; a capacity-weighted index keeps it.</a:t>
            </a:r>
          </a:p>
          <a:p>
            <a:pPr>
              <a:spcBef>
                <a:spcPts val="200"/>
              </a:spcBef>
              <a:spcAft>
                <a:spcPts val="1100"/>
              </a:spcAft>
            </a:pPr>
            <a:endParaRPr lang="en-US" altLang="ko-KR" sz="1600" dirty="0">
              <a:solidFill>
                <a:srgbClr val="1E1E24"/>
              </a:solidFill>
            </a:endParaRPr>
          </a:p>
          <a:p>
            <a:pPr>
              <a:spcBef>
                <a:spcPts val="200"/>
              </a:spcBef>
              <a:spcAft>
                <a:spcPts val="1100"/>
              </a:spcAft>
            </a:pPr>
            <a:endParaRPr lang="en-US" altLang="ko-KR" sz="1600" dirty="0">
              <a:solidFill>
                <a:srgbClr val="1E1E24"/>
              </a:solidFill>
            </a:endParaRPr>
          </a:p>
          <a:p>
            <a:pPr>
              <a:spcBef>
                <a:spcPts val="200"/>
              </a:spcBef>
              <a:spcAft>
                <a:spcPts val="1100"/>
              </a:spcAft>
            </a:pPr>
            <a:endParaRPr lang="en-US" altLang="ko-KR" sz="1600" dirty="0">
              <a:solidFill>
                <a:srgbClr val="1E1E24"/>
              </a:solidFill>
            </a:endParaRPr>
          </a:p>
          <a:p>
            <a:pPr>
              <a:spcBef>
                <a:spcPts val="200"/>
              </a:spcBef>
              <a:spcAft>
                <a:spcPts val="1100"/>
              </a:spcAft>
            </a:pPr>
            <a:endParaRPr lang="en-US" altLang="ko-KR" sz="1600" dirty="0">
              <a:solidFill>
                <a:srgbClr val="1E1E24"/>
              </a:solidFill>
            </a:endParaRPr>
          </a:p>
          <a:p>
            <a:pPr>
              <a:spcBef>
                <a:spcPts val="200"/>
              </a:spcBef>
              <a:spcAft>
                <a:spcPts val="1100"/>
              </a:spcAft>
            </a:pPr>
            <a:endParaRPr lang="en-US" altLang="ko-KR" sz="1600" dirty="0">
              <a:solidFill>
                <a:srgbClr val="1E1E24"/>
              </a:solidFill>
            </a:endParaRPr>
          </a:p>
          <a:p>
            <a:pPr>
              <a:spcBef>
                <a:spcPts val="200"/>
              </a:spcBef>
              <a:spcAft>
                <a:spcPts val="1100"/>
              </a:spcAft>
            </a:pPr>
            <a:r>
              <a:rPr lang="en-US" altLang="ko-KR" sz="1600" b="1" dirty="0">
                <a:solidFill>
                  <a:srgbClr val="1E1E24"/>
                </a:solidFill>
              </a:rPr>
              <a:t>- Captures shocks. </a:t>
            </a:r>
            <a:r>
              <a:rPr lang="en-US" altLang="ko-KR" sz="1600" dirty="0">
                <a:solidFill>
                  <a:srgbClr val="1E1E24"/>
                </a:solidFill>
              </a:rPr>
              <a:t>War, sanctions, COVID collapse connectivity while airports stay open. No open/close event to see  but the index registers the drop.</a:t>
            </a:r>
            <a:endParaRPr lang="en-US" altLang="ko-KR" sz="1600" dirty="0">
              <a:solidFill>
                <a:srgbClr val="1E1E24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BE7B13-EA9A-4F38-9A42-B5ED39878590}"/>
              </a:ext>
            </a:extLst>
          </p:cNvPr>
          <p:cNvSpPr/>
          <p:nvPr/>
        </p:nvSpPr>
        <p:spPr>
          <a:xfrm>
            <a:off x="2667000" y="3348078"/>
            <a:ext cx="2596896" cy="18867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/>
              <a:t>Incheon</a:t>
            </a:r>
          </a:p>
          <a:p>
            <a:pPr algn="ctr"/>
            <a:r>
              <a:rPr lang="en-US" altLang="ko-KR" sz="3600" b="1" dirty="0"/>
              <a:t>Haneda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5FACF0-DB66-4BE2-82A0-405518470C91}"/>
              </a:ext>
            </a:extLst>
          </p:cNvPr>
          <p:cNvSpPr/>
          <p:nvPr/>
        </p:nvSpPr>
        <p:spPr>
          <a:xfrm>
            <a:off x="6986016" y="4039287"/>
            <a:ext cx="2060448" cy="6993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Small airports (i.e., Kitakyushu)</a:t>
            </a:r>
          </a:p>
        </p:txBody>
      </p:sp>
      <p:sp>
        <p:nvSpPr>
          <p:cNvPr id="11" name="Not Equal 10">
            <a:extLst>
              <a:ext uri="{FF2B5EF4-FFF2-40B4-BE49-F238E27FC236}">
                <a16:creationId xmlns:a16="http://schemas.microsoft.com/office/drawing/2014/main" id="{DFD14136-462A-412D-966B-00998F8C4012}"/>
              </a:ext>
            </a:extLst>
          </p:cNvPr>
          <p:cNvSpPr/>
          <p:nvPr/>
        </p:nvSpPr>
        <p:spPr>
          <a:xfrm>
            <a:off x="5428490" y="3941213"/>
            <a:ext cx="1499616" cy="699367"/>
          </a:xfrm>
          <a:prstGeom prst="mathNot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02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Building GACI</a:t>
            </a:r>
          </a:p>
          <a:p>
            <a:r>
              <a:rPr sz="1600" b="0" i="1">
                <a:solidFill>
                  <a:srgbClr val="BCC5DE"/>
                </a:solidFill>
                <a:latin typeface="Calibri"/>
              </a:rPr>
              <a:t>What is it, and how do we construct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7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E P 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What is "air connectivity", really?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It is not how many airports or routes a country has.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 b="1" i="0" dirty="0">
                <a:solidFill>
                  <a:srgbClr val="232A55"/>
                </a:solidFill>
                <a:latin typeface="Calibri"/>
              </a:rPr>
              <a:t>•  It is a country’s POSITION in the world air network: how easily, through how many and how important partners, it can reach everywhere else.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Two countries with the same number of routes differ if one connects to global hubs and the other to dead-ends.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/>
          </a:prstGeom>
          <a:solidFill>
            <a:srgbClr val="F2E9F7"/>
          </a:solidFill>
          <a:ln w="15875">
            <a:solidFill>
              <a:srgbClr val="8E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Connectivity = network position, not a simple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8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E P 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we measure it: the Global Air Connectivity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1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GACI </a:t>
            </a:r>
            <a:r>
              <a:rPr sz="1800" b="0" i="0" dirty="0" err="1">
                <a:solidFill>
                  <a:srgbClr val="1E1E24"/>
                </a:solidFill>
                <a:latin typeface="Calibri"/>
              </a:rPr>
              <a:t>summarises</a:t>
            </a:r>
            <a:r>
              <a:rPr sz="1800" b="0" i="0" dirty="0">
                <a:solidFill>
                  <a:srgbClr val="1E1E24"/>
                </a:solidFill>
                <a:latin typeface="Calibri"/>
              </a:rPr>
              <a:t> each airport’s position in the weighted world air network as a single, time-comparable number (Cheung, Wong &amp; Zhang, 2020).</a:t>
            </a:r>
          </a:p>
          <a:p>
            <a:pPr>
              <a:spcBef>
                <a:spcPts val="200"/>
              </a:spcBef>
              <a:spcAft>
                <a:spcPts val="1100"/>
              </a:spcAft>
            </a:pPr>
            <a:r>
              <a:rPr sz="1800" b="1" i="0" dirty="0">
                <a:solidFill>
                  <a:srgbClr val="232A55"/>
                </a:solidFill>
                <a:latin typeface="Calibri"/>
              </a:rPr>
              <a:t>•  It blends three ideas:</a:t>
            </a:r>
          </a:p>
          <a:p>
            <a:pPr lvl="1">
              <a:spcBef>
                <a:spcPts val="200"/>
              </a:spcBef>
              <a:spcAft>
                <a:spcPts val="1100"/>
              </a:spcAft>
            </a:pPr>
            <a:r>
              <a:rPr sz="1600" b="0" i="0" dirty="0">
                <a:solidFill>
                  <a:srgbClr val="1E1E24"/>
                </a:solidFill>
                <a:latin typeface="Calibri"/>
              </a:rPr>
              <a:t>–  REACH — how many and how well-placed are its connections;</a:t>
            </a:r>
          </a:p>
          <a:p>
            <a:pPr lvl="1">
              <a:spcBef>
                <a:spcPts val="200"/>
              </a:spcBef>
              <a:spcAft>
                <a:spcPts val="1100"/>
              </a:spcAft>
            </a:pPr>
            <a:r>
              <a:rPr sz="1600" b="0" i="0" dirty="0">
                <a:solidFill>
                  <a:srgbClr val="1E1E24"/>
                </a:solidFill>
                <a:latin typeface="Calibri"/>
              </a:rPr>
              <a:t>–  FLOW — how much passenger traffic moves through it;</a:t>
            </a:r>
          </a:p>
          <a:p>
            <a:pPr lvl="1">
              <a:spcBef>
                <a:spcPts val="200"/>
              </a:spcBef>
              <a:spcAft>
                <a:spcPts val="1100"/>
              </a:spcAft>
            </a:pPr>
            <a:r>
              <a:rPr sz="1600" b="0" i="0" dirty="0">
                <a:solidFill>
                  <a:srgbClr val="1E1E24"/>
                </a:solidFill>
                <a:latin typeface="Calibri"/>
              </a:rPr>
              <a:t>–  STANDING — how important are the airports it connects 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/>
          </a:prstGeom>
          <a:solidFill>
            <a:srgbClr val="F2E9F7"/>
          </a:solidFill>
          <a:ln w="15875">
            <a:solidFill>
              <a:srgbClr val="8E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One number that captures reach, flow, and standing in the global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9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How the index is built: the pipeline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2053052"/>
            <a:ext cx="11972544" cy="28816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04842" y="4934712"/>
            <a:ext cx="873791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 dirty="0">
                <a:solidFill>
                  <a:srgbClr val="6E6E6E"/>
                </a:solidFill>
                <a:latin typeface="Calibri"/>
              </a:rPr>
              <a:t>Each step is computed for every year, then aggregated to countries.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10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 dirty="0">
                <a:solidFill>
                  <a:srgbClr val="1E1E24"/>
                </a:solidFill>
                <a:latin typeface="Verdana"/>
              </a:rPr>
              <a:t>元データ</a:t>
            </a:r>
            <a:endParaRPr sz="2800" b="1" i="0" dirty="0">
              <a:solidFill>
                <a:srgbClr val="1E1E24"/>
              </a:solidFill>
              <a:latin typeface="Verdan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12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F983B9-AD48-4274-B438-8219F5BDA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71" y="1929384"/>
            <a:ext cx="8167629" cy="408736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BD156FC-822F-43CE-9669-B8D40307BD32}"/>
              </a:ext>
            </a:extLst>
          </p:cNvPr>
          <p:cNvSpPr/>
          <p:nvPr/>
        </p:nvSpPr>
        <p:spPr>
          <a:xfrm>
            <a:off x="8743701" y="2058833"/>
            <a:ext cx="3157728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lang="en-US" altLang="ko-KR" dirty="0">
                <a:solidFill>
                  <a:srgbClr val="1E1E24"/>
                </a:solidFill>
              </a:rPr>
              <a:t>Connected Dummy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endParaRPr lang="en-US" altLang="ko-KR" dirty="0">
              <a:solidFill>
                <a:srgbClr val="1E1E24"/>
              </a:solidFill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lang="en-US" altLang="ko-KR" dirty="0">
                <a:solidFill>
                  <a:srgbClr val="1E1E24"/>
                </a:solidFill>
              </a:rPr>
              <a:t>Total Riding capacity</a:t>
            </a:r>
          </a:p>
        </p:txBody>
      </p:sp>
    </p:spTree>
    <p:extLst>
      <p:ext uri="{BB962C8B-B14F-4D97-AF65-F5344CB8AC3E}">
        <p14:creationId xmlns:p14="http://schemas.microsoft.com/office/powerpoint/2010/main" val="1085012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0: building a clean weighted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Source: </a:t>
            </a:r>
            <a:r>
              <a:rPr sz="1800" b="0" dirty="0">
                <a:solidFill>
                  <a:srgbClr val="1E1E24"/>
                </a:solidFill>
                <a:latin typeface="Calibri"/>
              </a:rPr>
              <a:t>global airline schedule data </a:t>
            </a:r>
            <a:r>
              <a:rPr sz="1800" b="0" i="0" dirty="0">
                <a:solidFill>
                  <a:srgbClr val="1E1E24"/>
                </a:solidFill>
                <a:latin typeface="Calibri"/>
              </a:rPr>
              <a:t>(route-segment level).</a:t>
            </a:r>
            <a:r>
              <a:rPr lang="en-US" altLang="ko-KR" sz="1800" b="0" i="0" dirty="0">
                <a:solidFill>
                  <a:srgbClr val="1E1E24"/>
                </a:solidFill>
                <a:latin typeface="Calibri"/>
              </a:rPr>
              <a:t> OAG </a:t>
            </a:r>
            <a:r>
              <a:rPr lang="en-US" altLang="ko-KR" sz="1800" b="0" i="0" dirty="0" err="1">
                <a:solidFill>
                  <a:srgbClr val="1E1E24"/>
                </a:solidFill>
                <a:latin typeface="Calibri"/>
              </a:rPr>
              <a:t>Datasource</a:t>
            </a:r>
            <a:r>
              <a:rPr lang="en-US" altLang="ko-KR" sz="1800" b="0" i="0" dirty="0">
                <a:solidFill>
                  <a:srgbClr val="1E1E24"/>
                </a:solidFill>
                <a:latin typeface="Calibri"/>
              </a:rPr>
              <a:t> (So big!) </a:t>
            </a:r>
            <a:endParaRPr sz="1800" b="0" i="0" dirty="0">
              <a:solidFill>
                <a:srgbClr val="1E1E24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Keep only scheduled </a:t>
            </a:r>
            <a:r>
              <a:rPr sz="1800" b="1" i="0" dirty="0">
                <a:solidFill>
                  <a:srgbClr val="1E1E24"/>
                </a:solidFill>
                <a:latin typeface="Calibri"/>
              </a:rPr>
              <a:t>commercial service</a:t>
            </a:r>
            <a:r>
              <a:rPr sz="1800" b="0" i="0" dirty="0">
                <a:solidFill>
                  <a:srgbClr val="1E1E24"/>
                </a:solidFill>
                <a:latin typeface="Calibri"/>
              </a:rPr>
              <a:t>; exclude military, charter, seaplane, heliports, and airports that closed in-window.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0" i="0" dirty="0">
                <a:solidFill>
                  <a:srgbClr val="1E1E24"/>
                </a:solidFill>
                <a:latin typeface="Calibri"/>
              </a:rPr>
              <a:t>•  Aggregate segments per airport pair per year into one link; set the link weight to passenger seat capacity.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 i="0" dirty="0">
                <a:solidFill>
                  <a:srgbClr val="232A55"/>
                </a:solidFill>
                <a:latin typeface="Calibri"/>
              </a:rPr>
              <a:t>•  Two matrices per year: adjacency A (who connects) and weight W (how much).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12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B010F4-EE27-4385-84EE-EA7CA9E2B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964" y="3813511"/>
            <a:ext cx="3324689" cy="2362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649796-549B-4BA5-8A9F-3EB461A7E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813511"/>
            <a:ext cx="3200847" cy="23339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1a: topological indicators (position)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38799"/>
            <a:ext cx="10972800" cy="377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Degree — number of direct connections (raw reach).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Closeness — inverse of the average number of </a:t>
            </a:r>
            <a:r>
              <a:rPr lang="en-US" sz="1900" b="1" i="0" dirty="0">
                <a:solidFill>
                  <a:srgbClr val="1E1E24"/>
                </a:solidFill>
                <a:latin typeface="Calibri"/>
              </a:rPr>
              <a:t>Transfers</a:t>
            </a:r>
            <a:r>
              <a:rPr sz="1900" b="0" i="0" dirty="0">
                <a:solidFill>
                  <a:srgbClr val="1E1E24"/>
                </a:solidFill>
                <a:latin typeface="Calibri"/>
              </a:rPr>
              <a:t> to reach all others (accessibility).</a:t>
            </a:r>
            <a:endParaRPr lang="en-US" altLang="ko-KR" sz="1900" b="0" i="0" dirty="0">
              <a:solidFill>
                <a:srgbClr val="1E1E24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300"/>
              </a:spcAft>
            </a:pPr>
            <a:endParaRPr lang="en-US" altLang="ko-KR" sz="1900" b="0" i="0" dirty="0">
              <a:solidFill>
                <a:srgbClr val="1E1E24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300"/>
              </a:spcAft>
            </a:pPr>
            <a:endParaRPr lang="en-US" altLang="ko-KR" sz="1900" dirty="0">
              <a:solidFill>
                <a:srgbClr val="1E1E24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300"/>
              </a:spcAft>
            </a:pPr>
            <a:endParaRPr lang="en-US" altLang="ko-KR" sz="1900" b="0" i="0" dirty="0">
              <a:solidFill>
                <a:srgbClr val="1E1E24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300"/>
              </a:spcAft>
            </a:pPr>
            <a:endParaRPr lang="en-US" altLang="ko-KR" sz="1900" dirty="0">
              <a:solidFill>
                <a:srgbClr val="1E1E24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300"/>
              </a:spcAft>
            </a:pPr>
            <a:endParaRPr lang="en-US" altLang="ko-KR" sz="1900" b="0" i="0" dirty="0">
              <a:solidFill>
                <a:srgbClr val="1E1E24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300"/>
              </a:spcAft>
            </a:pPr>
            <a:endParaRPr sz="1900" b="0" i="0" dirty="0">
              <a:solidFill>
                <a:srgbClr val="1E1E24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15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1BECE6-FCAA-4818-A016-F73CC5F99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" y="2399074"/>
            <a:ext cx="5172639" cy="3870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65DB0D-6714-4764-BFEA-F73414B93170}"/>
              </a:ext>
            </a:extLst>
          </p:cNvPr>
          <p:cNvSpPr txBox="1"/>
          <p:nvPr/>
        </p:nvSpPr>
        <p:spPr>
          <a:xfrm>
            <a:off x="6114288" y="2368826"/>
            <a:ext cx="549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Eigenvector:</a:t>
            </a:r>
          </a:p>
          <a:p>
            <a:r>
              <a:rPr lang="en-US" altLang="ko-KR" dirty="0"/>
              <a:t>How much I am connected to “BIG” airports. </a:t>
            </a:r>
            <a:endParaRPr lang="ko-KR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7FBD19-47E4-4C48-A71C-66DF5B233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357" y="3015157"/>
            <a:ext cx="5001323" cy="26387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1b: volumetric indicators (passenger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Flow betweenness — </a:t>
            </a:r>
            <a:r>
              <a:rPr sz="1900" b="1" i="0" dirty="0">
                <a:solidFill>
                  <a:srgbClr val="1E1E24"/>
                </a:solidFill>
                <a:latin typeface="Calibri"/>
              </a:rPr>
              <a:t>share of passenger transferring through the airport; the hub / transfer role.</a:t>
            </a:r>
            <a:r>
              <a:rPr lang="en-US" altLang="ko-KR" sz="1900" b="1" dirty="0">
                <a:solidFill>
                  <a:srgbClr val="1E1E24"/>
                </a:solidFill>
              </a:rPr>
              <a:t> (Haneda &lt; Narita) </a:t>
            </a:r>
            <a:r>
              <a:rPr lang="en-US" altLang="ko-KR" sz="1900" dirty="0">
                <a:solidFill>
                  <a:srgbClr val="1E1E24"/>
                </a:solidFill>
              </a:rPr>
              <a:t>.</a:t>
            </a:r>
            <a:endParaRPr sz="1900" b="1" i="0" dirty="0">
              <a:solidFill>
                <a:srgbClr val="1E1E24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0" i="0" dirty="0">
                <a:solidFill>
                  <a:srgbClr val="1E1E24"/>
                </a:solidFill>
                <a:latin typeface="Calibri"/>
              </a:rPr>
              <a:t>•  Regional importance — </a:t>
            </a:r>
            <a:r>
              <a:rPr sz="1900" b="1" i="0" dirty="0">
                <a:solidFill>
                  <a:srgbClr val="1E1E24"/>
                </a:solidFill>
                <a:latin typeface="Calibri"/>
              </a:rPr>
              <a:t>average connection intensity within its own region</a:t>
            </a:r>
            <a:r>
              <a:rPr lang="en-US" altLang="ko-KR" sz="1900" b="1" i="0" dirty="0">
                <a:solidFill>
                  <a:srgbClr val="1E1E24"/>
                </a:solidFill>
                <a:latin typeface="Calibri"/>
              </a:rPr>
              <a:t> (Haneda &gt; Narita) </a:t>
            </a:r>
            <a:r>
              <a:rPr sz="1900" b="0" i="0" dirty="0">
                <a:solidFill>
                  <a:srgbClr val="1E1E24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1" i="0" dirty="0">
                <a:solidFill>
                  <a:srgbClr val="232A55"/>
                </a:solidFill>
                <a:latin typeface="Calibri"/>
              </a:rPr>
              <a:t>•  These two flow measures make GACI flow-aware, not purely topological.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16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 dirty="0">
                <a:solidFill>
                  <a:srgbClr val="1E1E24"/>
                </a:solidFill>
                <a:latin typeface="Verdana"/>
              </a:rPr>
              <a:t>Flow betweenness: passengers as electrical current</a:t>
            </a:r>
          </a:p>
        </p:txBody>
      </p:sp>
      <p:pic>
        <p:nvPicPr>
          <p:cNvPr id="5" name="Picture 4" descr="gr1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01" y="1828800"/>
            <a:ext cx="7880291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81047" y="5806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E6E6E"/>
                </a:solidFill>
                <a:latin typeface="Calibri"/>
              </a:rPr>
              <a:t>Each route is a resistor with resistance inversely proportional to its passenger intensity; betweenness = current through the node.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17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1: the exact formulas</a:t>
            </a:r>
          </a:p>
        </p:txBody>
      </p:sp>
      <p:pic>
        <p:nvPicPr>
          <p:cNvPr id="5" name="Picture 4" descr="fig_eq_centr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476190"/>
            <a:ext cx="8356701" cy="47752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18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 dirty="0">
                <a:solidFill>
                  <a:srgbClr val="1E1E24"/>
                </a:solidFill>
                <a:latin typeface="Verdana"/>
              </a:rPr>
              <a:t>The five indicators are related but not redundant</a:t>
            </a:r>
          </a:p>
        </p:txBody>
      </p:sp>
      <p:pic>
        <p:nvPicPr>
          <p:cNvPr id="5" name="Picture 4" descr="1-s2.0-S1366554519301243-gr11_l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714" y="1783080"/>
            <a:ext cx="5064265" cy="42976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81047" y="6126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E6E6E"/>
                </a:solidFill>
                <a:latin typeface="Calibri"/>
              </a:rPr>
              <a:t>Pairwise rank correlations 0.71–0.87: each adds information, so we combine rather than pick one.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19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2: combine the five into one index (PCA)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Five indicators, different scales, partly correlated.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1" i="0">
                <a:solidFill>
                  <a:srgbClr val="232A55"/>
                </a:solidFill>
                <a:latin typeface="Calibri"/>
              </a:rPr>
              <a:t>•  GACI = the first principal component: the single weighted combination capturing the most variance across airports.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It explains about two-thirds of total variance, so one number retains most of the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20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2: the aggregation formula</a:t>
            </a:r>
          </a:p>
        </p:txBody>
      </p:sp>
      <p:pic>
        <p:nvPicPr>
          <p:cNvPr id="5" name="Picture 4" descr="fig_eq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377" y="1783080"/>
            <a:ext cx="752094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21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PCA weights, computed on our panel</a:t>
            </a:r>
          </a:p>
        </p:txBody>
      </p:sp>
      <p:pic>
        <p:nvPicPr>
          <p:cNvPr id="5" name="Picture 4" descr="fig_pca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23" y="1828800"/>
            <a:ext cx="7242048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81047" y="5897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E6E6E"/>
                </a:solidFill>
                <a:latin typeface="Calibri"/>
              </a:rPr>
              <a:t>First-component loadings on our 1996–2023 data: all positive and similar; PC1 explains 74% of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22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Making GACI comparable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A naive yearly PCA would re-scale every year, so scores could not be compared across years.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1" i="0">
                <a:solidFill>
                  <a:srgbClr val="232A55"/>
                </a:solidFill>
                <a:latin typeface="Calibri"/>
              </a:rPr>
              <a:t>•  We standardise so rankings WITHIN a year and relative scores ACROSS years are both preserved.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Result: one index that tracks an airport or country up and down the global hierarchy from 1996 to 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23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Face validity: high GACI = the world’s major hubs</a:t>
            </a:r>
          </a:p>
        </p:txBody>
      </p:sp>
      <p:pic>
        <p:nvPicPr>
          <p:cNvPr id="5" name="Picture 4" descr="1-s2.0-S1366554519301243-gr8_l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59" y="1828800"/>
            <a:ext cx="4829375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81047" y="5897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 dirty="0">
                <a:solidFill>
                  <a:srgbClr val="6E6E6E"/>
                </a:solidFill>
                <a:latin typeface="Calibri"/>
              </a:rPr>
              <a:t>GACI tracks passenger volume; the top of the scale is ATL, PEK, DXB, LHR, HKG, SIN. Source: Cheung et al.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24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-s2.0-S1366554519301243-gr8_l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66803"/>
            <a:ext cx="8071516" cy="67243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24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  <p:extLst>
      <p:ext uri="{BB962C8B-B14F-4D97-AF65-F5344CB8AC3E}">
        <p14:creationId xmlns:p14="http://schemas.microsoft.com/office/powerpoint/2010/main" val="640340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3: from airports to countries, two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1" i="0">
                <a:solidFill>
                  <a:srgbClr val="232A55"/>
                </a:solidFill>
                <a:latin typeface="Calibri"/>
              </a:rPr>
              <a:t>•  Hub quality = capacity-weighted MEAN (headline): average gateway quality, not inflated by having many tiny airports.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Total connectivity = SUM: overall network footprint, larger for big countries.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We report both; hub quality is the headline because its first stage is stronger.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25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Step 3: the aggregation formulas</a:t>
            </a:r>
          </a:p>
        </p:txBody>
      </p:sp>
      <p:pic>
        <p:nvPicPr>
          <p:cNvPr id="5" name="Picture 4" descr="fig_eq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1319349"/>
            <a:ext cx="9180576" cy="5246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26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B U I L D I N G   G A 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built index, mapped: connectivity by country, 2023</a:t>
            </a:r>
          </a:p>
        </p:txBody>
      </p:sp>
      <p:pic>
        <p:nvPicPr>
          <p:cNvPr id="5" name="Picture 4" descr="GACI_ba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21" y="1828800"/>
            <a:ext cx="9833253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9221" y="5989320"/>
            <a:ext cx="983325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E6E6E"/>
                </a:solidFill>
                <a:latin typeface="Calibri"/>
              </a:rPr>
              <a:t>Total connectivity (country sum), 2023. Yellow = highly connected. This is the explanatory variable for Part 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27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03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Identification</a:t>
            </a:r>
          </a:p>
          <a:p>
            <a:r>
              <a:rPr sz="1600" b="0" i="1">
                <a:solidFill>
                  <a:srgbClr val="BCC5DE"/>
                </a:solidFill>
                <a:latin typeface="Calibri"/>
              </a:rPr>
              <a:t>Breaking reverse causality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The problem: connectivity is endogenous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Airlines add capacity WHERE TRADE IS ALREADY GROWING (reverse causality).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Routes open lumpily: a coarse proxy for the connectivity that actually changes.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900" b="0" i="0">
                <a:solidFill>
                  <a:srgbClr val="1E1E24"/>
                </a:solidFill>
                <a:latin typeface="Calibri"/>
              </a:rPr>
              <a:t>•  OLS mixes the true effect with demand-driven entry and measurement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/>
          </a:prstGeom>
          <a:solidFill>
            <a:srgbClr val="F2E9F7"/>
          </a:solidFill>
          <a:ln w="15875">
            <a:solidFill>
              <a:srgbClr val="8E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We need variation in connectivity unrelated to goods-trade fundamentals.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29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A tourism–heritage shift-share 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30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1474EA-392F-4369-B02A-E6424203D45D}"/>
              </a:ext>
            </a:extLst>
          </p:cNvPr>
          <p:cNvSpPr/>
          <p:nvPr/>
        </p:nvSpPr>
        <p:spPr>
          <a:xfrm>
            <a:off x="4632960" y="1946148"/>
            <a:ext cx="1895856" cy="136855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/>
              <a:t>GACI</a:t>
            </a:r>
            <a:endParaRPr lang="ko-KR" altLang="en-US" sz="36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8D24B3-339B-4E71-B678-1B968EE382D9}"/>
              </a:ext>
            </a:extLst>
          </p:cNvPr>
          <p:cNvSpPr/>
          <p:nvPr/>
        </p:nvSpPr>
        <p:spPr>
          <a:xfrm>
            <a:off x="3694461" y="4556761"/>
            <a:ext cx="1895856" cy="136855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/>
              <a:t>Trade</a:t>
            </a:r>
            <a:endParaRPr lang="ko-KR" altLang="en-US" sz="3600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7390C0-541A-46B6-A598-1A37B7E49E45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 flipH="1">
            <a:off x="4642389" y="3314700"/>
            <a:ext cx="938499" cy="1242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B42D989-69E1-4E78-9F57-5BB97FFA3F13}"/>
              </a:ext>
            </a:extLst>
          </p:cNvPr>
          <p:cNvSpPr/>
          <p:nvPr/>
        </p:nvSpPr>
        <p:spPr>
          <a:xfrm>
            <a:off x="5609175" y="3429000"/>
            <a:ext cx="3539300" cy="1368552"/>
          </a:xfrm>
          <a:prstGeom prst="ellipse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Tourism Demand</a:t>
            </a:r>
          </a:p>
          <a:p>
            <a:pPr algn="ctr"/>
            <a:r>
              <a:rPr lang="en-US" altLang="ko-KR" sz="2400" b="1" dirty="0"/>
              <a:t>National Heritage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6569C3-44F3-415A-834E-9696A26EDEFF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6440327" y="2885694"/>
            <a:ext cx="938498" cy="543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I D E N T I F I C A T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First stage: the instrument strongly predicts connectivity</a:t>
            </a:r>
          </a:p>
        </p:txBody>
      </p:sp>
      <p:pic>
        <p:nvPicPr>
          <p:cNvPr id="5" name="Picture 4" descr="fig_first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198" y="1828800"/>
            <a:ext cx="6205297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81047" y="5897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E6E6E"/>
                </a:solidFill>
                <a:latin typeface="Calibri"/>
              </a:rPr>
              <a:t>Binned partial-residual plot (country + year FE, population removed). Slope 0.032, Kleibergen–Paap F = 18.0.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31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04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Results</a:t>
            </a:r>
          </a:p>
          <a:p>
            <a:r>
              <a:rPr sz="1600" b="0" i="1">
                <a:solidFill>
                  <a:srgbClr val="BCC5DE"/>
                </a:solidFill>
                <a:latin typeface="Calibri"/>
              </a:rPr>
              <a:t>Effect, who gains, and how much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81047" y="5897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E6E6E"/>
                </a:solidFill>
                <a:latin typeface="Calibri"/>
              </a:rPr>
              <a:t>A one-percent rise in hub quality: openness +1.30%, volume +2.30%, GDP +1.00% (ns).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33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8B0462-BD6D-40FE-920A-8E977276DB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188"/>
          <a:stretch/>
        </p:blipFill>
        <p:spPr>
          <a:xfrm>
            <a:off x="2685135" y="179274"/>
            <a:ext cx="6945357" cy="65321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118AAFB-A635-4A72-8D82-C75F9416809D}"/>
              </a:ext>
            </a:extLst>
          </p:cNvPr>
          <p:cNvSpPr/>
          <p:nvPr/>
        </p:nvSpPr>
        <p:spPr>
          <a:xfrm>
            <a:off x="2582562" y="2681416"/>
            <a:ext cx="7376984" cy="747584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1532F8-0EBA-4ED4-B564-28F8CF7EF7A7}"/>
              </a:ext>
            </a:extLst>
          </p:cNvPr>
          <p:cNvSpPr/>
          <p:nvPr/>
        </p:nvSpPr>
        <p:spPr>
          <a:xfrm>
            <a:off x="2726571" y="4773827"/>
            <a:ext cx="7376984" cy="747584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Where the gains fall: ~$7.8 trillion of 2023 trade</a:t>
            </a:r>
          </a:p>
        </p:txBody>
      </p:sp>
      <p:pic>
        <p:nvPicPr>
          <p:cNvPr id="5" name="Picture 4" descr="GACI_implie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82" y="1828800"/>
            <a:ext cx="1014093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5382" y="5989320"/>
            <a:ext cx="1014093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E6E6E"/>
                </a:solidFill>
                <a:latin typeface="Calibri"/>
              </a:rPr>
              <a:t>≈17% of world trade, 7.4% of world GDP. Concentrated in China, the Gulf, and East/Southeast Asia.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36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When and where: Gulf and Asia pull away after 2005</a:t>
            </a:r>
          </a:p>
        </p:txBody>
      </p:sp>
      <p:pic>
        <p:nvPicPr>
          <p:cNvPr id="5" name="Picture 4" descr="GACI_continen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137" y="1828800"/>
            <a:ext cx="7367419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81047" y="5989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E6E6E"/>
                </a:solidFill>
                <a:latin typeface="Calibri"/>
              </a:rPr>
              <a:t>Implied gain in trade openness relative to 1996, by continent.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37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Who gains most: poorer, less-connected economies</a:t>
            </a:r>
          </a:p>
        </p:txBody>
      </p:sp>
      <p:pic>
        <p:nvPicPr>
          <p:cNvPr id="5" name="Picture 4" descr="GACI_hetero_quar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950" y="1828800"/>
            <a:ext cx="916379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13950" y="5989320"/>
            <a:ext cx="91637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E6E6E"/>
                </a:solidFill>
                <a:latin typeface="Calibri"/>
              </a:rPr>
              <a:t>Implied openness elasticity falls monotonically with baseline income and connectivity: aviation as a convergence lever.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38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Robustness: the design survives four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Over-identification — heritage as two instruments: Hansen J not rejected (p = 0.52–0.84); volume 2.18.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Falsification — adding cultural heritage: Hansen J rejects (p = 0.004).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Independent instrument — Frankel–Romer/Feyrer geography: volume 2.26; combined, the two agree (J p = 0.95).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Timing — identification concentrated post-2010 (pre-2010 first stage F = 0.29).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39 / 43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R E S U L T 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Symmetry: the COVID-19 connectivity collapse</a:t>
            </a:r>
          </a:p>
        </p:txBody>
      </p:sp>
      <p:pic>
        <p:nvPicPr>
          <p:cNvPr id="5" name="Picture 4" descr="GACI_shoc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09" y="1828800"/>
            <a:ext cx="9960675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09" y="5989320"/>
            <a:ext cx="99606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E6E6E"/>
                </a:solidFill>
                <a:latin typeface="Calibri"/>
              </a:rPr>
              <a:t>2019→2020: connectivity fell in 140 of 177 countries; implied trade disruption ~$1.8 trillion, concentrated in major hubs.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40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8016" cy="109728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2A85A"/>
                </a:solidFill>
                <a:latin typeface="Verdana"/>
              </a:rPr>
              <a:t>05</a:t>
            </a:r>
          </a:p>
          <a:p>
            <a:r>
              <a:rPr sz="3200" b="1" i="0">
                <a:solidFill>
                  <a:srgbClr val="FFFFFF"/>
                </a:solidFill>
                <a:latin typeface="Verdana"/>
              </a:rPr>
              <a:t>Conclusion</a:t>
            </a:r>
          </a:p>
          <a:p>
            <a:r>
              <a:rPr sz="1600" b="0" i="1">
                <a:solidFill>
                  <a:srgbClr val="BCC5DE"/>
                </a:solidFill>
                <a:latin typeface="Calibri"/>
              </a:rPr>
              <a:t>What we learn, and what it implies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41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1E24"/>
                </a:solidFill>
                <a:latin typeface="Verdana"/>
              </a:rPr>
              <a:t>Summary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We build a 184-country, 1996–2023 panel of global aviation connectivity from the weighted world airport network (five centralities, PCA).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Using a tourism–heritage IV, connectivity causally raises trade, mainly on the openness margin.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 b="0" i="0">
                <a:solidFill>
                  <a:srgbClr val="1E1E24"/>
                </a:solidFill>
                <a:latin typeface="Calibri"/>
              </a:rPr>
              <a:t>•  Returns are largest for poorer, less-connected economies; large in aggregate (~$7.8 trillion); symmetric in collapses (COVID-19).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5504688"/>
            <a:ext cx="9601200" cy="713232"/>
          </a:xfrm>
          <a:prstGeom prst="roundRect">
            <a:avLst/>
          </a:prstGeom>
          <a:solidFill>
            <a:srgbClr val="F2E9F7"/>
          </a:solidFill>
          <a:ln w="15875">
            <a:solidFill>
              <a:srgbClr val="8E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232A55"/>
                </a:solidFill>
                <a:latin typeface="Calibri"/>
              </a:rPr>
              <a:t>Airport/route investment and liberalisation: concrete trade levers, highest returns in peripheral economies.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42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A55"/>
                </a:solidFill>
                <a:latin typeface="Calibri"/>
              </a:rPr>
              <a:t>C O N C L U S I O 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280160" cy="41148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1E1E24"/>
                </a:solidFill>
                <a:latin typeface="Verdana"/>
              </a:rPr>
              <a:t>Points to discuss</a:t>
            </a:r>
            <a:endParaRPr sz="2800" b="1" i="0" dirty="0">
              <a:solidFill>
                <a:srgbClr val="1E1E24"/>
              </a:solidFill>
              <a:latin typeface="Verdan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lang="en-US" sz="3600" b="0" i="0" dirty="0">
                <a:solidFill>
                  <a:srgbClr val="1E1E24"/>
                </a:solidFill>
                <a:latin typeface="Calibri"/>
              </a:rPr>
              <a:t>Why Trade?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lang="en-US" sz="3600" dirty="0">
                <a:solidFill>
                  <a:srgbClr val="1E1E24"/>
                </a:solidFill>
                <a:latin typeface="Calibri"/>
              </a:rPr>
              <a:t>How Trade? &lt; Mechanism </a:t>
            </a:r>
            <a:endParaRPr sz="3600" b="0" i="0" dirty="0">
              <a:solidFill>
                <a:srgbClr val="1E1E2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42 /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502920" cy="45720"/>
          </a:xfrm>
          <a:prstGeom prst="rect">
            <a:avLst/>
          </a:prstGeom>
          <a:solidFill>
            <a:srgbClr val="23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E6E6E"/>
                </a:solidFill>
                <a:latin typeface="Calibri"/>
              </a:rPr>
              <a:t>Global Air Connectivity and Trade, 1996–2023</a:t>
            </a:r>
          </a:p>
        </p:txBody>
      </p:sp>
    </p:spTree>
    <p:extLst>
      <p:ext uri="{BB962C8B-B14F-4D97-AF65-F5344CB8AC3E}">
        <p14:creationId xmlns:p14="http://schemas.microsoft.com/office/powerpoint/2010/main" val="3827885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Verdana"/>
              </a:rPr>
              <a:t>Thank you</a:t>
            </a:r>
          </a:p>
          <a:p>
            <a:r>
              <a:rPr sz="1600" b="0" i="1">
                <a:solidFill>
                  <a:srgbClr val="BCC5DE"/>
                </a:solidFill>
                <a:latin typeface="Calibri"/>
              </a:rPr>
              <a:t>Global Air Connectivity and Trade Openness, 1996–2023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BCC5DE"/>
                </a:solidFill>
                <a:latin typeface="Calibri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2397</Words>
  <Application>Microsoft Office PowerPoint</Application>
  <PresentationFormat>Widescreen</PresentationFormat>
  <Paragraphs>276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ＭＳ Ｐゴシック</vt:lpstr>
      <vt:lpstr>맑은 고딕</vt:lpstr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Sunbin Yoo</dc:creator>
  <cp:keywords/>
  <dc:description>generated using python-pptx</dc:description>
  <cp:lastModifiedBy>YOO SUNBIN</cp:lastModifiedBy>
  <cp:revision>8</cp:revision>
  <dcterms:created xsi:type="dcterms:W3CDTF">2013-01-27T09:14:16Z</dcterms:created>
  <dcterms:modified xsi:type="dcterms:W3CDTF">2026-07-01T01:50:27Z</dcterms:modified>
  <cp:category/>
</cp:coreProperties>
</file>