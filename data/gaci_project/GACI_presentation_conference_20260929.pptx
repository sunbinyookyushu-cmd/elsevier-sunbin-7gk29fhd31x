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85" r:id="rId3"/>
    <p:sldId id="257" r:id="rId4"/>
    <p:sldId id="286" r:id="rId37"/>
    <p:sldId id="258" r:id="rId5"/>
    <p:sldId id="259" r:id="rId6"/>
    <p:sldId id="260" r:id="rId7"/>
    <p:sldId id="261" r:id="rId8"/>
    <p:sldId id="262" r:id="rId9"/>
    <p:sldId id="263" r:id="rId10"/>
    <p:sldId id="264" r:id="rId11"/>
    <p:sldId id="265" r:id="rId12"/>
    <p:sldId id="266" r:id="rId13"/>
    <p:sldId id="267" r:id="rId14"/>
    <p:sldId id="268" r:id="rId15"/>
    <p:sldId id="287" r:id="rId38"/>
    <p:sldId id="288" r:id="rId39"/>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7" d="100"/>
          <a:sy n="87" d="100"/>
        </p:scale>
        <p:origin x="84" y="9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1"/>
        <c:ser>
          <c:idx val="0"/>
          <c:order val="0"/>
          <c:tx>
            <c:strRef>
              <c:f>Sheet1!$B$1</c:f>
              <c:strCache>
                <c:ptCount val="1"/>
                <c:pt idx="0">
                  <c:v>Mean loading</c:v>
                </c:pt>
              </c:strCache>
            </c:strRef>
          </c:tx>
          <c:spPr>
            <a:solidFill>
              <a:srgbClr val="1F3A32"/>
            </a:solidFill>
          </c:spPr>
          <c:invertIfNegative val="1"/>
          <c:dLbls>
            <c:numFmt formatCode="0.00" sourceLinked="0"/>
            <c:spPr>
              <a:noFill/>
              <a:ln>
                <a:noFill/>
              </a:ln>
              <a:effectLst/>
            </c:spPr>
            <c:txPr>
              <a:bodyPr/>
              <a:lstStyle/>
              <a:p>
                <a:pPr>
                  <a:defRPr sz="1300" b="1">
                    <a:solidFill>
                      <a:srgbClr val="FFFFFF"/>
                    </a:solidFill>
                  </a:defRPr>
                </a:pPr>
                <a:endParaRPr lang="ko-K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errBars>
            <c:errBarType val="both"/>
            <c:errValType val="cust"/>
            <c:noEndCap val="0"/>
            <c:plus>
              <c:numLit>
                <c:formatCode>General</c:formatCode>
                <c:ptCount val="5"/>
                <c:pt idx="0">
                  <c:v>1.0001132940748371E-2</c:v>
                </c:pt>
                <c:pt idx="1">
                  <c:v>3.1849260881835421E-2</c:v>
                </c:pt>
                <c:pt idx="2">
                  <c:v>9.1013234570556135E-3</c:v>
                </c:pt>
                <c:pt idx="3">
                  <c:v>6.4172815477469983E-3</c:v>
                </c:pt>
                <c:pt idx="4">
                  <c:v>1.0042443180054862E-2</c:v>
                </c:pt>
              </c:numLit>
            </c:plus>
            <c:minus>
              <c:numLit>
                <c:formatCode>General</c:formatCode>
                <c:ptCount val="5"/>
                <c:pt idx="0">
                  <c:v>1.0001132940748371E-2</c:v>
                </c:pt>
                <c:pt idx="1">
                  <c:v>3.1849260881835421E-2</c:v>
                </c:pt>
                <c:pt idx="2">
                  <c:v>9.1013234570556135E-3</c:v>
                </c:pt>
                <c:pt idx="3">
                  <c:v>6.4172815477469983E-3</c:v>
                </c:pt>
                <c:pt idx="4">
                  <c:v>1.0042443180054862E-2</c:v>
                </c:pt>
              </c:numLit>
            </c:minus>
            <c:spPr>
              <a:ln w="19050">
                <a:solidFill>
                  <a:srgbClr val="B8862F"/>
                </a:solidFill>
              </a:ln>
            </c:spPr>
          </c:errBars>
          <c:cat>
            <c:strRef>
              <c:f>Sheet1!$A$2:$A$6</c:f>
              <c:strCache>
                <c:ptCount val="5"/>
                <c:pt idx="0">
                  <c:v>Closeness</c:v>
                </c:pt>
                <c:pt idx="1">
                  <c:v>Eigenvector</c:v>
                </c:pt>
                <c:pt idx="2">
                  <c:v>Flow betweenness</c:v>
                </c:pt>
                <c:pt idx="3">
                  <c:v>Regional importance</c:v>
                </c:pt>
                <c:pt idx="4">
                  <c:v>Degree</c:v>
                </c:pt>
              </c:strCache>
            </c:strRef>
          </c:cat>
          <c:val>
            <c:numRef>
              <c:f>Sheet1!$B$2:$B$6</c:f>
              <c:numCache>
                <c:formatCode>General</c:formatCode>
                <c:ptCount val="5"/>
                <c:pt idx="0">
                  <c:v>0.39400000000000002</c:v>
                </c:pt>
                <c:pt idx="1">
                  <c:v>0.43</c:v>
                </c:pt>
                <c:pt idx="2">
                  <c:v>0.433</c:v>
                </c:pt>
                <c:pt idx="3">
                  <c:v>0.48299999999999998</c:v>
                </c:pt>
                <c:pt idx="4">
                  <c:v>0.48699999999999999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92D-4429-9B47-E57DF9C1FA13}"/>
            </c:ext>
          </c:extLst>
        </c:ser>
        <c:dLbls>
          <c:dLblPos val="in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none"/>
        <c:minorTickMark val="none"/>
        <c:tickLblPos val="nextTo"/>
        <c:spPr>
          <a:ln w="9525">
            <a:solidFill>
              <a:srgbClr val="BDB8AE"/>
            </a:solidFill>
          </a:ln>
        </c:spPr>
        <c:txPr>
          <a:bodyPr/>
          <a:lstStyle/>
          <a:p>
            <a:pPr>
              <a:defRPr sz="1400">
                <a:solidFill>
                  <a:srgbClr val="22211F"/>
                </a:solidFill>
                <a:latin typeface="Calibri"/>
              </a:defRPr>
            </a:pPr>
            <a:endParaRPr lang="ko-KR"/>
          </a:p>
        </c:txPr>
        <c:crossAx val="-2113994440"/>
        <c:crosses val="autoZero"/>
        <c:auto val="1"/>
        <c:lblAlgn val="ctr"/>
        <c:lblOffset val="100"/>
        <c:noMultiLvlLbl val="0"/>
      </c:catAx>
      <c:valAx>
        <c:axId val="-2113994440"/>
        <c:scaling>
          <c:orientation val="minMax"/>
          <c:max val="0.6"/>
          <c:min val="0"/>
        </c:scaling>
        <c:delete val="0"/>
        <c:axPos val="b"/>
        <c:majorGridlines>
          <c:spPr>
            <a:ln w="7620">
              <a:solidFill>
                <a:srgbClr val="D9D5CC"/>
              </a:solidFill>
            </a:ln>
          </c:spPr>
        </c:majorGridlines>
        <c:numFmt formatCode="0.0" sourceLinked="0"/>
        <c:majorTickMark val="none"/>
        <c:minorTickMark val="none"/>
        <c:tickLblPos val="nextTo"/>
        <c:spPr>
          <a:ln>
            <a:noFill/>
          </a:ln>
        </c:spPr>
        <c:txPr>
          <a:bodyPr/>
          <a:lstStyle/>
          <a:p>
            <a:pPr>
              <a:defRPr sz="1200">
                <a:solidFill>
                  <a:srgbClr val="6F6A62"/>
                </a:solidFill>
                <a:latin typeface="Calibri"/>
              </a:defRPr>
            </a:pPr>
            <a:endParaRPr lang="ko-KR"/>
          </a:p>
        </c:txPr>
        <c:crossAx val="-2068027336"/>
        <c:crosses val="autoZero"/>
        <c:crossBetween val="between"/>
        <c:majorUnit val="0.1"/>
      </c:valAx>
    </c:plotArea>
    <c:plotVisOnly val="1"/>
    <c:dispBlanksAs val="gap"/>
    <c:showDLblsOverMax val="1"/>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manualLayout>
          <c:layoutTarget val="inner"/>
          <c:xMode val="edge"/>
          <c:yMode val="edge"/>
          <c:x val="7.0000000000000007E-2"/>
          <c:y val="0.03"/>
          <c:w val="0.86"/>
          <c:h val="0.86"/>
        </c:manualLayout>
      </c:layout>
      <c:lineChart>
        <c:grouping val="standard"/>
        <c:varyColors val="0"/>
        <c:ser>
          <c:idx val="0"/>
          <c:order val="0"/>
          <c:tx>
            <c:strRef>
              <c:f>Sheet1!$B$1</c:f>
              <c:strCache>
                <c:ptCount val="1"/>
                <c:pt idx="0">
                  <c:v>DXB</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Sheet1!$B$2:$B$8</c:f>
              <c:numCache>
                <c:formatCode>General</c:formatCode>
                <c:ptCount val="7"/>
                <c:pt idx="0">
                  <c:v>24.916982289945551</c:v>
                </c:pt>
                <c:pt idx="1">
                  <c:v>23.797648703848441</c:v>
                </c:pt>
                <c:pt idx="2">
                  <c:v>21.709694266877314</c:v>
                </c:pt>
                <c:pt idx="3">
                  <c:v>13</c:v>
                </c:pt>
                <c:pt idx="4">
                  <c:v>6</c:v>
                </c:pt>
                <c:pt idx="5">
                  <c:v>10</c:v>
                </c:pt>
                <c:pt idx="6">
                  <c:v>1</c:v>
                </c:pt>
              </c:numCache>
            </c:numRef>
          </c:val>
          <c:smooth val="0"/>
          <c:extLst>
            <c:ext xmlns:c16="http://schemas.microsoft.com/office/drawing/2014/chart" uri="{C3380CC4-5D6E-409C-BE32-E72D297353CC}">
              <c16:uniqueId val="{00000000-9050-4F5E-BF96-7329EE684757}"/>
            </c:ext>
          </c:extLst>
        </c:ser>
        <c:ser>
          <c:idx val="1"/>
          <c:order val="1"/>
          <c:tx>
            <c:strRef>
              <c:f>Sheet1!$C$1</c:f>
              <c:strCache>
                <c:ptCount val="1"/>
                <c:pt idx="0">
                  <c:v>IST</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Sheet1!$C$2:$C$8</c:f>
              <c:numCache>
                <c:formatCode>General</c:formatCode>
                <c:ptCount val="7"/>
                <c:pt idx="0">
                  <c:v>25.120545906608857</c:v>
                </c:pt>
                <c:pt idx="1">
                  <c:v>23.990065208222802</c:v>
                </c:pt>
                <c:pt idx="2">
                  <c:v>24.466666666666669</c:v>
                </c:pt>
                <c:pt idx="3">
                  <c:v>22.390536165624123</c:v>
                </c:pt>
                <c:pt idx="4">
                  <c:v>10</c:v>
                </c:pt>
                <c:pt idx="5">
                  <c:v>9</c:v>
                </c:pt>
                <c:pt idx="6">
                  <c:v>2</c:v>
                </c:pt>
              </c:numCache>
            </c:numRef>
          </c:val>
          <c:smooth val="0"/>
          <c:extLst>
            <c:ext xmlns:c16="http://schemas.microsoft.com/office/drawing/2014/chart" uri="{C3380CC4-5D6E-409C-BE32-E72D297353CC}">
              <c16:uniqueId val="{00000001-9050-4F5E-BF96-7329EE684757}"/>
            </c:ext>
          </c:extLst>
        </c:ser>
        <c:ser>
          <c:idx val="2"/>
          <c:order val="2"/>
          <c:tx>
            <c:strRef>
              <c:f>Sheet1!$D$1</c:f>
              <c:strCache>
                <c:ptCount val="1"/>
                <c:pt idx="0">
                  <c:v>CDG</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Sheet1!$D$2:$D$8</c:f>
              <c:numCache>
                <c:formatCode>General</c:formatCode>
                <c:ptCount val="7"/>
                <c:pt idx="0">
                  <c:v>4</c:v>
                </c:pt>
                <c:pt idx="1">
                  <c:v>4</c:v>
                </c:pt>
                <c:pt idx="2">
                  <c:v>5</c:v>
                </c:pt>
                <c:pt idx="3">
                  <c:v>4</c:v>
                </c:pt>
                <c:pt idx="4">
                  <c:v>3</c:v>
                </c:pt>
                <c:pt idx="5">
                  <c:v>7</c:v>
                </c:pt>
                <c:pt idx="6">
                  <c:v>3</c:v>
                </c:pt>
              </c:numCache>
            </c:numRef>
          </c:val>
          <c:smooth val="0"/>
          <c:extLst>
            <c:ext xmlns:c16="http://schemas.microsoft.com/office/drawing/2014/chart" uri="{C3380CC4-5D6E-409C-BE32-E72D297353CC}">
              <c16:uniqueId val="{00000002-9050-4F5E-BF96-7329EE684757}"/>
            </c:ext>
          </c:extLst>
        </c:ser>
        <c:ser>
          <c:idx val="3"/>
          <c:order val="3"/>
          <c:tx>
            <c:strRef>
              <c:f>Sheet1!$E$1</c:f>
              <c:strCache>
                <c:ptCount val="1"/>
                <c:pt idx="0">
                  <c:v>FRA</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Sheet1!$E$2:$E$8</c:f>
              <c:numCache>
                <c:formatCode>General</c:formatCode>
                <c:ptCount val="7"/>
                <c:pt idx="0">
                  <c:v>2</c:v>
                </c:pt>
                <c:pt idx="1">
                  <c:v>2</c:v>
                </c:pt>
                <c:pt idx="2">
                  <c:v>1</c:v>
                </c:pt>
                <c:pt idx="3">
                  <c:v>1</c:v>
                </c:pt>
                <c:pt idx="4">
                  <c:v>2</c:v>
                </c:pt>
                <c:pt idx="5">
                  <c:v>6</c:v>
                </c:pt>
                <c:pt idx="6">
                  <c:v>4</c:v>
                </c:pt>
              </c:numCache>
            </c:numRef>
          </c:val>
          <c:smooth val="0"/>
          <c:extLst>
            <c:ext xmlns:c16="http://schemas.microsoft.com/office/drawing/2014/chart" uri="{C3380CC4-5D6E-409C-BE32-E72D297353CC}">
              <c16:uniqueId val="{00000003-9050-4F5E-BF96-7329EE684757}"/>
            </c:ext>
          </c:extLst>
        </c:ser>
        <c:ser>
          <c:idx val="4"/>
          <c:order val="4"/>
          <c:tx>
            <c:strRef>
              <c:f>Sheet1!$F$1</c:f>
              <c:strCache>
                <c:ptCount val="1"/>
                <c:pt idx="0">
                  <c:v>PVG</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Sheet1!$F$2:$F$8</c:f>
              <c:numCache>
                <c:formatCode>General</c:formatCode>
                <c:ptCount val="7"/>
                <c:pt idx="1">
                  <c:v>25.43360934291664</c:v>
                </c:pt>
                <c:pt idx="2">
                  <c:v>22.887212573275523</c:v>
                </c:pt>
                <c:pt idx="3">
                  <c:v>21.084119914013542</c:v>
                </c:pt>
                <c:pt idx="4">
                  <c:v>9</c:v>
                </c:pt>
                <c:pt idx="5">
                  <c:v>3</c:v>
                </c:pt>
                <c:pt idx="6">
                  <c:v>5</c:v>
                </c:pt>
              </c:numCache>
            </c:numRef>
          </c:val>
          <c:smooth val="0"/>
          <c:extLst>
            <c:ext xmlns:c16="http://schemas.microsoft.com/office/drawing/2014/chart" uri="{C3380CC4-5D6E-409C-BE32-E72D297353CC}">
              <c16:uniqueId val="{00000004-9050-4F5E-BF96-7329EE684757}"/>
            </c:ext>
          </c:extLst>
        </c:ser>
        <c:ser>
          <c:idx val="5"/>
          <c:order val="5"/>
          <c:tx>
            <c:strRef>
              <c:f>Sheet1!$G$1</c:f>
              <c:strCache>
                <c:ptCount val="1"/>
                <c:pt idx="0">
                  <c:v>LAX</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Sheet1!$G$2:$G$8</c:f>
              <c:numCache>
                <c:formatCode>General</c:formatCode>
                <c:ptCount val="7"/>
                <c:pt idx="0">
                  <c:v>1</c:v>
                </c:pt>
                <c:pt idx="1">
                  <c:v>1</c:v>
                </c:pt>
                <c:pt idx="2">
                  <c:v>2</c:v>
                </c:pt>
                <c:pt idx="3">
                  <c:v>3</c:v>
                </c:pt>
                <c:pt idx="4">
                  <c:v>4</c:v>
                </c:pt>
                <c:pt idx="5">
                  <c:v>15</c:v>
                </c:pt>
                <c:pt idx="6">
                  <c:v>6</c:v>
                </c:pt>
              </c:numCache>
            </c:numRef>
          </c:val>
          <c:smooth val="0"/>
          <c:extLst>
            <c:ext xmlns:c16="http://schemas.microsoft.com/office/drawing/2014/chart" uri="{C3380CC4-5D6E-409C-BE32-E72D297353CC}">
              <c16:uniqueId val="{00000005-9050-4F5E-BF96-7329EE684757}"/>
            </c:ext>
          </c:extLst>
        </c:ser>
        <c:ser>
          <c:idx val="6"/>
          <c:order val="6"/>
          <c:tx>
            <c:strRef>
              <c:f>Sheet1!$H$1</c:f>
              <c:strCache>
                <c:ptCount val="1"/>
                <c:pt idx="0">
                  <c:v>ORD</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Sheet1!$H$2:$H$8</c:f>
              <c:numCache>
                <c:formatCode>General</c:formatCode>
                <c:ptCount val="7"/>
                <c:pt idx="0">
                  <c:v>3</c:v>
                </c:pt>
                <c:pt idx="1">
                  <c:v>3</c:v>
                </c:pt>
                <c:pt idx="2">
                  <c:v>3</c:v>
                </c:pt>
                <c:pt idx="3">
                  <c:v>7</c:v>
                </c:pt>
                <c:pt idx="4">
                  <c:v>7</c:v>
                </c:pt>
                <c:pt idx="5">
                  <c:v>11</c:v>
                </c:pt>
                <c:pt idx="6">
                  <c:v>7</c:v>
                </c:pt>
              </c:numCache>
            </c:numRef>
          </c:val>
          <c:smooth val="0"/>
          <c:extLst>
            <c:ext xmlns:c16="http://schemas.microsoft.com/office/drawing/2014/chart" uri="{C3380CC4-5D6E-409C-BE32-E72D297353CC}">
              <c16:uniqueId val="{00000006-9050-4F5E-BF96-7329EE684757}"/>
            </c:ext>
          </c:extLst>
        </c:ser>
        <c:ser>
          <c:idx val="7"/>
          <c:order val="7"/>
          <c:tx>
            <c:strRef>
              <c:f>Sheet1!$I$1</c:f>
              <c:strCache>
                <c:ptCount val="1"/>
                <c:pt idx="0">
                  <c:v>LHR</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Sheet1!$I$2:$I$8</c:f>
              <c:numCache>
                <c:formatCode>General</c:formatCode>
                <c:ptCount val="7"/>
                <c:pt idx="0">
                  <c:v>9</c:v>
                </c:pt>
                <c:pt idx="1">
                  <c:v>10</c:v>
                </c:pt>
                <c:pt idx="2">
                  <c:v>7</c:v>
                </c:pt>
                <c:pt idx="3">
                  <c:v>11</c:v>
                </c:pt>
                <c:pt idx="4">
                  <c:v>15</c:v>
                </c:pt>
                <c:pt idx="5">
                  <c:v>12</c:v>
                </c:pt>
                <c:pt idx="6">
                  <c:v>8</c:v>
                </c:pt>
              </c:numCache>
            </c:numRef>
          </c:val>
          <c:smooth val="0"/>
          <c:extLst>
            <c:ext xmlns:c16="http://schemas.microsoft.com/office/drawing/2014/chart" uri="{C3380CC4-5D6E-409C-BE32-E72D297353CC}">
              <c16:uniqueId val="{00000007-9050-4F5E-BF96-7329EE684757}"/>
            </c:ext>
          </c:extLst>
        </c:ser>
        <c:ser>
          <c:idx val="8"/>
          <c:order val="8"/>
          <c:tx>
            <c:strRef>
              <c:f>Sheet1!$J$1</c:f>
              <c:strCache>
                <c:ptCount val="1"/>
                <c:pt idx="0">
                  <c:v>PEK</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Sheet1!$J$2:$J$8</c:f>
              <c:numCache>
                <c:formatCode>General</c:formatCode>
                <c:ptCount val="7"/>
                <c:pt idx="0">
                  <c:v>22.752942356831614</c:v>
                </c:pt>
                <c:pt idx="1">
                  <c:v>22.466351873586245</c:v>
                </c:pt>
                <c:pt idx="2">
                  <c:v>20.966942676249971</c:v>
                </c:pt>
                <c:pt idx="3">
                  <c:v>5</c:v>
                </c:pt>
                <c:pt idx="4">
                  <c:v>1</c:v>
                </c:pt>
                <c:pt idx="5">
                  <c:v>1</c:v>
                </c:pt>
                <c:pt idx="6">
                  <c:v>9</c:v>
                </c:pt>
              </c:numCache>
            </c:numRef>
          </c:val>
          <c:smooth val="0"/>
          <c:extLst>
            <c:ext xmlns:c16="http://schemas.microsoft.com/office/drawing/2014/chart" uri="{C3380CC4-5D6E-409C-BE32-E72D297353CC}">
              <c16:uniqueId val="{00000008-9050-4F5E-BF96-7329EE684757}"/>
            </c:ext>
          </c:extLst>
        </c:ser>
        <c:ser>
          <c:idx val="9"/>
          <c:order val="9"/>
          <c:tx>
            <c:strRef>
              <c:f>Sheet1!$K$1</c:f>
              <c:strCache>
                <c:ptCount val="1"/>
                <c:pt idx="0">
                  <c:v>CAN</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Sheet1!$K$2:$K$8</c:f>
              <c:numCache>
                <c:formatCode>General</c:formatCode>
                <c:ptCount val="7"/>
                <c:pt idx="0">
                  <c:v>26.597705093197355</c:v>
                </c:pt>
                <c:pt idx="1">
                  <c:v>25.718930064993003</c:v>
                </c:pt>
                <c:pt idx="2">
                  <c:v>23.846840787985439</c:v>
                </c:pt>
                <c:pt idx="3">
                  <c:v>22.068065368108897</c:v>
                </c:pt>
                <c:pt idx="4">
                  <c:v>20.307091203041523</c:v>
                </c:pt>
                <c:pt idx="5">
                  <c:v>2</c:v>
                </c:pt>
                <c:pt idx="6">
                  <c:v>10</c:v>
                </c:pt>
              </c:numCache>
            </c:numRef>
          </c:val>
          <c:smooth val="0"/>
          <c:extLst>
            <c:ext xmlns:c16="http://schemas.microsoft.com/office/drawing/2014/chart" uri="{C3380CC4-5D6E-409C-BE32-E72D297353CC}">
              <c16:uniqueId val="{00000009-9050-4F5E-BF96-7329EE684757}"/>
            </c:ext>
          </c:extLst>
        </c:ser>
        <c:ser>
          <c:idx val="10"/>
          <c:order val="10"/>
          <c:tx>
            <c:strRef>
              <c:f>Sheet1!$L$1</c:f>
              <c:strCache>
                <c:ptCount val="1"/>
                <c:pt idx="0">
                  <c:v>SIN</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Sheet1!$L$2:$L$8</c:f>
              <c:numCache>
                <c:formatCode>General</c:formatCode>
                <c:ptCount val="7"/>
                <c:pt idx="0">
                  <c:v>20.587443506362138</c:v>
                </c:pt>
                <c:pt idx="1">
                  <c:v>20.718972745248443</c:v>
                </c:pt>
                <c:pt idx="2">
                  <c:v>18</c:v>
                </c:pt>
                <c:pt idx="3">
                  <c:v>9</c:v>
                </c:pt>
                <c:pt idx="4">
                  <c:v>13</c:v>
                </c:pt>
                <c:pt idx="5">
                  <c:v>21.803092659261981</c:v>
                </c:pt>
                <c:pt idx="6">
                  <c:v>11</c:v>
                </c:pt>
              </c:numCache>
            </c:numRef>
          </c:val>
          <c:smooth val="0"/>
          <c:extLst>
            <c:ext xmlns:c16="http://schemas.microsoft.com/office/drawing/2014/chart" uri="{C3380CC4-5D6E-409C-BE32-E72D297353CC}">
              <c16:uniqueId val="{0000000A-9050-4F5E-BF96-7329EE684757}"/>
            </c:ext>
          </c:extLst>
        </c:ser>
        <c:ser>
          <c:idx val="11"/>
          <c:order val="11"/>
          <c:tx>
            <c:strRef>
              <c:f>Sheet1!$M$1</c:f>
              <c:strCache>
                <c:ptCount val="1"/>
                <c:pt idx="0">
                  <c:v>DFW</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Sheet1!$M$2:$M$8</c:f>
              <c:numCache>
                <c:formatCode>General</c:formatCode>
                <c:ptCount val="7"/>
                <c:pt idx="0">
                  <c:v>7</c:v>
                </c:pt>
                <c:pt idx="1">
                  <c:v>8</c:v>
                </c:pt>
                <c:pt idx="2">
                  <c:v>10</c:v>
                </c:pt>
                <c:pt idx="3">
                  <c:v>16</c:v>
                </c:pt>
                <c:pt idx="4">
                  <c:v>14</c:v>
                </c:pt>
                <c:pt idx="5">
                  <c:v>17</c:v>
                </c:pt>
                <c:pt idx="6">
                  <c:v>12</c:v>
                </c:pt>
              </c:numCache>
            </c:numRef>
          </c:val>
          <c:smooth val="0"/>
          <c:extLst>
            <c:ext xmlns:c16="http://schemas.microsoft.com/office/drawing/2014/chart" uri="{C3380CC4-5D6E-409C-BE32-E72D297353CC}">
              <c16:uniqueId val="{0000000B-9050-4F5E-BF96-7329EE684757}"/>
            </c:ext>
          </c:extLst>
        </c:ser>
        <c:ser>
          <c:idx val="12"/>
          <c:order val="12"/>
          <c:tx>
            <c:strRef>
              <c:f>Sheet1!$N$1</c:f>
              <c:strCache>
                <c:ptCount val="1"/>
                <c:pt idx="0">
                  <c:v>ATL</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Sheet1!$N$2:$N$8</c:f>
              <c:numCache>
                <c:formatCode>General</c:formatCode>
                <c:ptCount val="7"/>
                <c:pt idx="0">
                  <c:v>5</c:v>
                </c:pt>
                <c:pt idx="1">
                  <c:v>5</c:v>
                </c:pt>
                <c:pt idx="2">
                  <c:v>4</c:v>
                </c:pt>
                <c:pt idx="3">
                  <c:v>2</c:v>
                </c:pt>
                <c:pt idx="4">
                  <c:v>5</c:v>
                </c:pt>
                <c:pt idx="5">
                  <c:v>18</c:v>
                </c:pt>
                <c:pt idx="6">
                  <c:v>13</c:v>
                </c:pt>
              </c:numCache>
            </c:numRef>
          </c:val>
          <c:smooth val="0"/>
          <c:extLst>
            <c:ext xmlns:c16="http://schemas.microsoft.com/office/drawing/2014/chart" uri="{C3380CC4-5D6E-409C-BE32-E72D297353CC}">
              <c16:uniqueId val="{0000000C-9050-4F5E-BF96-7329EE684757}"/>
            </c:ext>
          </c:extLst>
        </c:ser>
        <c:ser>
          <c:idx val="13"/>
          <c:order val="13"/>
          <c:tx>
            <c:strRef>
              <c:f>Sheet1!$O$1</c:f>
              <c:strCache>
                <c:ptCount val="1"/>
                <c:pt idx="0">
                  <c:v>AMS</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Sheet1!$O$2:$O$8</c:f>
              <c:numCache>
                <c:formatCode>General</c:formatCode>
                <c:ptCount val="7"/>
                <c:pt idx="0">
                  <c:v>10</c:v>
                </c:pt>
                <c:pt idx="1">
                  <c:v>6</c:v>
                </c:pt>
                <c:pt idx="2">
                  <c:v>6</c:v>
                </c:pt>
                <c:pt idx="3">
                  <c:v>6</c:v>
                </c:pt>
                <c:pt idx="4">
                  <c:v>8</c:v>
                </c:pt>
                <c:pt idx="5">
                  <c:v>8</c:v>
                </c:pt>
                <c:pt idx="6">
                  <c:v>14</c:v>
                </c:pt>
              </c:numCache>
            </c:numRef>
          </c:val>
          <c:smooth val="0"/>
          <c:extLst>
            <c:ext xmlns:c16="http://schemas.microsoft.com/office/drawing/2014/chart" uri="{C3380CC4-5D6E-409C-BE32-E72D297353CC}">
              <c16:uniqueId val="{0000000D-9050-4F5E-BF96-7329EE684757}"/>
            </c:ext>
          </c:extLst>
        </c:ser>
        <c:ser>
          <c:idx val="14"/>
          <c:order val="14"/>
          <c:tx>
            <c:strRef>
              <c:f>Sheet1!$P$1</c:f>
              <c:strCache>
                <c:ptCount val="1"/>
                <c:pt idx="0">
                  <c:v>ICN</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Sheet1!$P$2:$P$8</c:f>
              <c:numCache>
                <c:formatCode>General</c:formatCode>
                <c:ptCount val="7"/>
                <c:pt idx="2">
                  <c:v>21.412065681282247</c:v>
                </c:pt>
                <c:pt idx="3">
                  <c:v>20.157202832290789</c:v>
                </c:pt>
                <c:pt idx="4">
                  <c:v>19</c:v>
                </c:pt>
                <c:pt idx="5">
                  <c:v>21.306416251610582</c:v>
                </c:pt>
                <c:pt idx="6">
                  <c:v>15</c:v>
                </c:pt>
              </c:numCache>
            </c:numRef>
          </c:val>
          <c:smooth val="0"/>
          <c:extLst>
            <c:ext xmlns:c16="http://schemas.microsoft.com/office/drawing/2014/chart" uri="{C3380CC4-5D6E-409C-BE32-E72D297353CC}">
              <c16:uniqueId val="{0000000E-9050-4F5E-BF96-7329EE684757}"/>
            </c:ext>
          </c:extLst>
        </c:ser>
        <c:ser>
          <c:idx val="15"/>
          <c:order val="15"/>
          <c:tx>
            <c:strRef>
              <c:f>Sheet1!$Q$1</c:f>
              <c:strCache>
                <c:ptCount val="1"/>
                <c:pt idx="0">
                  <c:v>divider</c:v>
                </c:pt>
              </c:strCache>
            </c:strRef>
          </c:tx>
          <c:spPr>
            <a:ln w="9525">
              <a:solidFill>
                <a:srgbClr val="BDB8AE"/>
              </a:solidFill>
              <a:prstDash val="dash"/>
            </a:ln>
          </c:spPr>
          <c:marker>
            <c:symbol val="none"/>
          </c:marker>
          <c:cat>
            <c:strRef>
              <c:f>Sheet1!$A$2:$A$8</c:f>
              <c:strCache>
                <c:ptCount val="7"/>
                <c:pt idx="0">
                  <c:v>1996</c:v>
                </c:pt>
                <c:pt idx="1">
                  <c:v>2000</c:v>
                </c:pt>
                <c:pt idx="2">
                  <c:v>2005</c:v>
                </c:pt>
                <c:pt idx="3">
                  <c:v>2010</c:v>
                </c:pt>
                <c:pt idx="4">
                  <c:v>2015</c:v>
                </c:pt>
                <c:pt idx="5">
                  <c:v>2020</c:v>
                </c:pt>
                <c:pt idx="6">
                  <c:v>2024</c:v>
                </c:pt>
              </c:strCache>
            </c:strRef>
          </c:cat>
          <c:val>
            <c:numRef>
              <c:f>Sheet1!$Q$2:$Q$8</c:f>
              <c:numCache>
                <c:formatCode>General</c:formatCode>
                <c:ptCount val="7"/>
                <c:pt idx="0">
                  <c:v>20.5</c:v>
                </c:pt>
                <c:pt idx="1">
                  <c:v>20.5</c:v>
                </c:pt>
                <c:pt idx="2">
                  <c:v>20.5</c:v>
                </c:pt>
                <c:pt idx="3">
                  <c:v>20.5</c:v>
                </c:pt>
                <c:pt idx="4">
                  <c:v>20.5</c:v>
                </c:pt>
                <c:pt idx="5">
                  <c:v>20.5</c:v>
                </c:pt>
                <c:pt idx="6">
                  <c:v>20.5</c:v>
                </c:pt>
              </c:numCache>
            </c:numRef>
          </c:val>
          <c:smooth val="0"/>
          <c:extLst>
            <c:ext xmlns:c16="http://schemas.microsoft.com/office/drawing/2014/chart" uri="{C3380CC4-5D6E-409C-BE32-E72D297353CC}">
              <c16:uniqueId val="{0000000F-9050-4F5E-BF96-7329EE684757}"/>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high"/>
        <c:spPr>
          <a:ln w="9525">
            <a:solidFill>
              <a:srgbClr val="BDB8AE"/>
            </a:solidFill>
          </a:ln>
        </c:spPr>
        <c:txPr>
          <a:bodyPr/>
          <a:lstStyle/>
          <a:p>
            <a:pPr>
              <a:defRPr sz="1300">
                <a:solidFill>
                  <a:srgbClr val="22211F"/>
                </a:solidFill>
                <a:latin typeface="Calibri"/>
              </a:defRPr>
            </a:pPr>
            <a:endParaRPr lang="ko-KR"/>
          </a:p>
        </c:txPr>
        <c:crossAx val="2140495176"/>
        <c:crosses val="max"/>
        <c:auto val="1"/>
        <c:lblAlgn val="ctr"/>
        <c:lblOffset val="100"/>
        <c:noMultiLvlLbl val="0"/>
      </c:catAx>
      <c:valAx>
        <c:axId val="2140495176"/>
        <c:scaling>
          <c:orientation val="maxMin"/>
          <c:max val="27.2"/>
          <c:min val="0.4"/>
        </c:scaling>
        <c:delete val="0"/>
        <c:axPos val="l"/>
        <c:numFmt formatCode="General" sourceLinked="1"/>
        <c:majorTickMark val="out"/>
        <c:minorTickMark val="none"/>
        <c:tickLblPos val="none"/>
        <c:spPr>
          <a:ln>
            <a:noFill/>
          </a:ln>
        </c:spPr>
        <c:crossAx val="2118791784"/>
        <c:crosses val="autoZero"/>
        <c:crossBetween val="between"/>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Tourism shift</c:v>
                </c:pt>
              </c:strCache>
            </c:strRef>
          </c:tx>
          <c:spPr>
            <a:ln w="34925">
              <a:solidFill>
                <a:srgbClr val="1F3A32"/>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Sheet1!$B$2:$B$30</c:f>
              <c:numCache>
                <c:formatCode>General</c:formatCode>
                <c:ptCount val="29"/>
                <c:pt idx="0">
                  <c:v>0.27400000000000002</c:v>
                </c:pt>
                <c:pt idx="1">
                  <c:v>0.30309999999999998</c:v>
                </c:pt>
                <c:pt idx="2">
                  <c:v>0.31230000000000002</c:v>
                </c:pt>
                <c:pt idx="3">
                  <c:v>0.33800000000000002</c:v>
                </c:pt>
                <c:pt idx="4">
                  <c:v>0.38290000000000002</c:v>
                </c:pt>
                <c:pt idx="5">
                  <c:v>0.36370000000000002</c:v>
                </c:pt>
                <c:pt idx="6">
                  <c:v>0.3755</c:v>
                </c:pt>
                <c:pt idx="7">
                  <c:v>0.36430000000000001</c:v>
                </c:pt>
                <c:pt idx="8">
                  <c:v>0.44290000000000002</c:v>
                </c:pt>
                <c:pt idx="9">
                  <c:v>0.48039999999999999</c:v>
                </c:pt>
                <c:pt idx="10">
                  <c:v>0.58499999999999996</c:v>
                </c:pt>
                <c:pt idx="11">
                  <c:v>0.61750000000000005</c:v>
                </c:pt>
                <c:pt idx="12">
                  <c:v>0.624</c:v>
                </c:pt>
                <c:pt idx="13">
                  <c:v>0.58740000000000003</c:v>
                </c:pt>
                <c:pt idx="14">
                  <c:v>0.62690000000000001</c:v>
                </c:pt>
                <c:pt idx="15">
                  <c:v>0.6482</c:v>
                </c:pt>
                <c:pt idx="16">
                  <c:v>0.69920000000000004</c:v>
                </c:pt>
                <c:pt idx="17">
                  <c:v>0.74029999999999996</c:v>
                </c:pt>
                <c:pt idx="18">
                  <c:v>0.77480000000000004</c:v>
                </c:pt>
                <c:pt idx="19">
                  <c:v>0.80910000000000004</c:v>
                </c:pt>
                <c:pt idx="20">
                  <c:v>0.84860000000000002</c:v>
                </c:pt>
                <c:pt idx="21">
                  <c:v>0.91110000000000002</c:v>
                </c:pt>
                <c:pt idx="22">
                  <c:v>0.96330000000000005</c:v>
                </c:pt>
                <c:pt idx="23">
                  <c:v>1</c:v>
                </c:pt>
                <c:pt idx="24">
                  <c:v>0</c:v>
                </c:pt>
                <c:pt idx="25">
                  <c:v>4.5699999999999998E-2</c:v>
                </c:pt>
                <c:pt idx="26">
                  <c:v>0.52490000000000003</c:v>
                </c:pt>
                <c:pt idx="27">
                  <c:v>0.84350000000000003</c:v>
                </c:pt>
                <c:pt idx="28">
                  <c:v>0.98609999999999998</c:v>
                </c:pt>
              </c:numCache>
            </c:numRef>
          </c:val>
          <c:smooth val="0"/>
          <c:extLst>
            <c:ext xmlns:c16="http://schemas.microsoft.com/office/drawing/2014/chart" uri="{C3380CC4-5D6E-409C-BE32-E72D297353CC}">
              <c16:uniqueId val="{00000000-5025-4366-957E-87FA82816841}"/>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BDB8AE"/>
            </a:solidFill>
          </a:ln>
        </c:spPr>
        <c:txPr>
          <a:bodyPr/>
          <a:lstStyle/>
          <a:p>
            <a:pPr>
              <a:defRPr sz="1200">
                <a:solidFill>
                  <a:srgbClr val="6F6A62"/>
                </a:solidFill>
                <a:latin typeface="Calibri"/>
              </a:defRPr>
            </a:pPr>
            <a:endParaRPr lang="ko-KR"/>
          </a:p>
        </c:txPr>
        <c:crossAx val="2140495176"/>
        <c:crosses val="autoZero"/>
        <c:auto val="1"/>
        <c:lblAlgn val="ctr"/>
        <c:lblOffset val="50"/>
        <c:tickLblSkip val="4"/>
        <c:tickMarkSkip val="4"/>
        <c:noMultiLvlLbl val="0"/>
      </c:catAx>
      <c:valAx>
        <c:axId val="2140495176"/>
        <c:scaling>
          <c:orientation val="minMax"/>
          <c:max val="1"/>
          <c:min val="0"/>
        </c:scaling>
        <c:delete val="0"/>
        <c:axPos val="l"/>
        <c:majorGridlines>
          <c:spPr>
            <a:ln w="7620">
              <a:solidFill>
                <a:srgbClr val="D9D5CC"/>
              </a:solidFill>
            </a:ln>
          </c:spPr>
        </c:majorGridlines>
        <c:numFmt formatCode="0.0" sourceLinked="0"/>
        <c:majorTickMark val="none"/>
        <c:minorTickMark val="none"/>
        <c:tickLblPos val="nextTo"/>
        <c:spPr>
          <a:ln>
            <a:noFill/>
          </a:ln>
        </c:spPr>
        <c:txPr>
          <a:bodyPr/>
          <a:lstStyle/>
          <a:p>
            <a:pPr>
              <a:defRPr sz="1200">
                <a:solidFill>
                  <a:srgbClr val="6F6A62"/>
                </a:solidFill>
                <a:latin typeface="Calibri"/>
              </a:defRPr>
            </a:pPr>
            <a:endParaRPr lang="ko-KR"/>
          </a:p>
        </c:txPr>
        <c:crossAx val="2118791784"/>
        <c:crosses val="autoZero"/>
        <c:crossBetween val="between"/>
        <c:majorUnit val="0.2"/>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scatterChart>
        <c:scatterStyle val="lineMarker"/>
        <c:varyColors val="0"/>
        <c:ser>
          <c:idx val="0"/>
          <c:order val="0"/>
          <c:tx>
            <c:strRef>
              <c:f>Sheet1!$B$1</c:f>
              <c:strCache>
                <c:ptCount val="1"/>
                <c:pt idx="0">
                  <c:v>Binned means</c:v>
                </c:pt>
              </c:strCache>
            </c:strRef>
          </c:tx>
          <c:spPr>
            <a:ln w="47625">
              <a:noFill/>
            </a:ln>
          </c:spPr>
          <c:marker>
            <c:symbol val="circle"/>
            <c:size val="9"/>
            <c:spPr>
              <a:solidFill>
                <a:srgbClr val="1F3A32"/>
              </a:solidFill>
              <a:ln>
                <a:solidFill>
                  <a:srgbClr val="1F3A32"/>
                </a:solidFill>
              </a:ln>
            </c:spPr>
          </c:marker>
          <c:xVal>
            <c:numRef>
              <c:f>Sheet1!$A$2:$A$21</c:f>
              <c:numCache>
                <c:formatCode>General</c:formatCode>
                <c:ptCount val="20"/>
                <c:pt idx="0">
                  <c:v>-0.42125000000000001</c:v>
                </c:pt>
                <c:pt idx="1">
                  <c:v>-0.24654999999999999</c:v>
                </c:pt>
                <c:pt idx="2">
                  <c:v>-0.18612999999999999</c:v>
                </c:pt>
                <c:pt idx="3">
                  <c:v>-0.12859999999999999</c:v>
                </c:pt>
                <c:pt idx="4">
                  <c:v>-8.2989999999999994E-2</c:v>
                </c:pt>
                <c:pt idx="5">
                  <c:v>-5.5449999999999999E-2</c:v>
                </c:pt>
                <c:pt idx="6">
                  <c:v>-3.8269999999999998E-2</c:v>
                </c:pt>
                <c:pt idx="7">
                  <c:v>-2.095E-2</c:v>
                </c:pt>
                <c:pt idx="8">
                  <c:v>-1.2359999999999999E-2</c:v>
                </c:pt>
                <c:pt idx="9">
                  <c:v>-6.7600000000000004E-3</c:v>
                </c:pt>
                <c:pt idx="10">
                  <c:v>5.9999999999999995E-4</c:v>
                </c:pt>
                <c:pt idx="11">
                  <c:v>9.6399999999999993E-3</c:v>
                </c:pt>
                <c:pt idx="12">
                  <c:v>1.8880000000000001E-2</c:v>
                </c:pt>
                <c:pt idx="13">
                  <c:v>3.1329999999999997E-2</c:v>
                </c:pt>
                <c:pt idx="14">
                  <c:v>5.4859999999999999E-2</c:v>
                </c:pt>
                <c:pt idx="15">
                  <c:v>8.9010000000000006E-2</c:v>
                </c:pt>
                <c:pt idx="16">
                  <c:v>0.13188</c:v>
                </c:pt>
                <c:pt idx="17">
                  <c:v>0.17055000000000001</c:v>
                </c:pt>
                <c:pt idx="18">
                  <c:v>0.23885999999999999</c:v>
                </c:pt>
                <c:pt idx="19">
                  <c:v>0.45362999999999998</c:v>
                </c:pt>
              </c:numCache>
            </c:numRef>
          </c:xVal>
          <c:yVal>
            <c:numRef>
              <c:f>Sheet1!$B$2:$B$21</c:f>
              <c:numCache>
                <c:formatCode>General</c:formatCode>
                <c:ptCount val="20"/>
                <c:pt idx="0">
                  <c:v>-2.479E-2</c:v>
                </c:pt>
                <c:pt idx="1">
                  <c:v>6.7000000000000002E-4</c:v>
                </c:pt>
                <c:pt idx="2">
                  <c:v>-9.3000000000000005E-4</c:v>
                </c:pt>
                <c:pt idx="3">
                  <c:v>7.9000000000000001E-4</c:v>
                </c:pt>
                <c:pt idx="4">
                  <c:v>-3.8800000000000002E-3</c:v>
                </c:pt>
                <c:pt idx="5">
                  <c:v>-5.3699999999999998E-3</c:v>
                </c:pt>
                <c:pt idx="6">
                  <c:v>1.83E-3</c:v>
                </c:pt>
                <c:pt idx="7">
                  <c:v>5.0899999999999999E-3</c:v>
                </c:pt>
                <c:pt idx="8">
                  <c:v>-6.6699999999999997E-3</c:v>
                </c:pt>
                <c:pt idx="9">
                  <c:v>-1.1690000000000001E-2</c:v>
                </c:pt>
                <c:pt idx="10">
                  <c:v>3.7000000000000002E-3</c:v>
                </c:pt>
                <c:pt idx="11">
                  <c:v>5.9800000000000001E-3</c:v>
                </c:pt>
                <c:pt idx="12">
                  <c:v>4.0400000000000002E-3</c:v>
                </c:pt>
                <c:pt idx="13">
                  <c:v>-8.4999999999999995E-4</c:v>
                </c:pt>
                <c:pt idx="14">
                  <c:v>-1.298E-2</c:v>
                </c:pt>
                <c:pt idx="15">
                  <c:v>9.6799999999999994E-3</c:v>
                </c:pt>
                <c:pt idx="16">
                  <c:v>1.106E-2</c:v>
                </c:pt>
                <c:pt idx="17">
                  <c:v>5.6699999999999997E-3</c:v>
                </c:pt>
                <c:pt idx="18">
                  <c:v>1.256E-2</c:v>
                </c:pt>
                <c:pt idx="19">
                  <c:v>6.0099999999999997E-3</c:v>
                </c:pt>
              </c:numCache>
            </c:numRef>
          </c:yVal>
          <c:smooth val="0"/>
          <c:extLst>
            <c:ext xmlns:c16="http://schemas.microsoft.com/office/drawing/2014/chart" uri="{C3380CC4-5D6E-409C-BE32-E72D297353CC}">
              <c16:uniqueId val="{00000000-4897-435E-9726-224F5DEB96C0}"/>
            </c:ext>
          </c:extLst>
        </c:ser>
        <c:ser>
          <c:idx val="1"/>
          <c:order val="1"/>
          <c:tx>
            <c:strRef>
              <c:f>Sheet1!$B$23</c:f>
              <c:strCache>
                <c:ptCount val="1"/>
                <c:pt idx="0">
                  <c:v>Fit</c:v>
                </c:pt>
              </c:strCache>
            </c:strRef>
          </c:tx>
          <c:spPr>
            <a:ln w="31750">
              <a:solidFill>
                <a:srgbClr val="B8862F"/>
              </a:solidFill>
            </a:ln>
          </c:spPr>
          <c:marker>
            <c:symbol val="none"/>
          </c:marker>
          <c:xVal>
            <c:numRef>
              <c:f>Sheet1!$A$24:$A$25</c:f>
              <c:numCache>
                <c:formatCode>General</c:formatCode>
                <c:ptCount val="2"/>
                <c:pt idx="0">
                  <c:v>-0.3644</c:v>
                </c:pt>
                <c:pt idx="1">
                  <c:v>0.4325</c:v>
                </c:pt>
              </c:numCache>
            </c:numRef>
          </c:xVal>
          <c:yVal>
            <c:numRef>
              <c:f>Sheet1!$B$24:$B$25</c:f>
              <c:numCache>
                <c:formatCode>General</c:formatCode>
                <c:ptCount val="2"/>
                <c:pt idx="0">
                  <c:v>-1.2426039999999999E-2</c:v>
                </c:pt>
                <c:pt idx="1">
                  <c:v>1.4748249999999999E-2</c:v>
                </c:pt>
              </c:numCache>
            </c:numRef>
          </c:yVal>
          <c:smooth val="0"/>
          <c:extLst>
            <c:ext xmlns:c16="http://schemas.microsoft.com/office/drawing/2014/chart" uri="{C3380CC4-5D6E-409C-BE32-E72D297353CC}">
              <c16:uniqueId val="{00000001-4897-435E-9726-224F5DEB96C0}"/>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title>
          <c:tx>
            <c:rich>
              <a:bodyPr/>
              <a:lstStyle/>
              <a:p>
                <a:r>
                  <a:rPr lang="en-US" sz="1200" b="0" i="0">
                    <a:solidFill>
                      <a:srgbClr val="6F6A62"/>
                    </a:solidFill>
                    <a:latin typeface="Calibri"/>
                  </a:rPr>
                  <a:t>Heritage × tourism instrument (change within country)</a:t>
                </a:r>
              </a:p>
            </c:rich>
          </c:tx>
          <c:overlay val="0"/>
        </c:title>
        <c:numFmt formatCode="0.0" sourceLinked="0"/>
        <c:majorTickMark val="none"/>
        <c:minorTickMark val="none"/>
        <c:tickLblPos val="low"/>
        <c:spPr>
          <a:ln w="9525">
            <a:solidFill>
              <a:srgbClr val="BDB8AE"/>
            </a:solidFill>
          </a:ln>
        </c:spPr>
        <c:txPr>
          <a:bodyPr/>
          <a:lstStyle/>
          <a:p>
            <a:pPr>
              <a:defRPr sz="1200">
                <a:solidFill>
                  <a:srgbClr val="6F6A62"/>
                </a:solidFill>
                <a:latin typeface="Calibri"/>
              </a:defRPr>
            </a:pPr>
            <a:endParaRPr lang="ko-KR"/>
          </a:p>
        </c:txPr>
        <c:crossAx val="-2129643912"/>
        <c:crosses val="autoZero"/>
        <c:crossBetween val="midCat"/>
      </c:valAx>
      <c:valAx>
        <c:axId val="-2129643912"/>
        <c:scaling>
          <c:orientation val="minMax"/>
          <c:max val="0.03"/>
          <c:min val="-0.04"/>
        </c:scaling>
        <c:delete val="0"/>
        <c:axPos val="l"/>
        <c:majorGridlines>
          <c:spPr>
            <a:ln w="7620">
              <a:solidFill>
                <a:srgbClr val="D9D5CC"/>
              </a:solidFill>
            </a:ln>
          </c:spPr>
        </c:majorGridlines>
        <c:title>
          <c:tx>
            <c:rich>
              <a:bodyPr/>
              <a:lstStyle/>
              <a:p>
                <a:r>
                  <a:rPr lang="en-US" sz="1200" b="0" i="0">
                    <a:solidFill>
                      <a:srgbClr val="6F6A62"/>
                    </a:solidFill>
                    <a:latin typeface="Calibri"/>
                  </a:rPr>
                  <a:t>Hub quality (change within country)</a:t>
                </a:r>
              </a:p>
            </c:rich>
          </c:tx>
          <c:overlay val="0"/>
        </c:title>
        <c:numFmt formatCode="0.00" sourceLinked="0"/>
        <c:majorTickMark val="none"/>
        <c:minorTickMark val="none"/>
        <c:tickLblPos val="low"/>
        <c:spPr>
          <a:ln>
            <a:noFill/>
          </a:ln>
        </c:spPr>
        <c:txPr>
          <a:bodyPr/>
          <a:lstStyle/>
          <a:p>
            <a:pPr>
              <a:defRPr sz="1200">
                <a:solidFill>
                  <a:srgbClr val="6F6A62"/>
                </a:solidFill>
                <a:latin typeface="Calibri"/>
              </a:defRPr>
            </a:pPr>
            <a:endParaRPr lang="ko-KR"/>
          </a:p>
        </c:txPr>
        <c:crossAx val="-2128940872"/>
        <c:crosses val="autoZero"/>
        <c:crossBetween val="midCat"/>
        <c:majorUnit val="0.01"/>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manualLayout>
          <c:layoutTarget val="inner"/>
          <c:xMode val="edge"/>
          <c:yMode val="edge"/>
          <c:x val="0"/>
          <c:y val="0.05"/>
          <c:w val="1"/>
          <c:h val="0.9"/>
        </c:manualLayout>
      </c:layout>
      <c:barChart>
        <c:barDir val="bar"/>
        <c:grouping val="stacked"/>
        <c:varyColors val="1"/>
        <c:ser>
          <c:idx val="0"/>
          <c:order val="0"/>
          <c:tx>
            <c:strRef>
              <c:f>Sheet1!$B$1</c:f>
              <c:strCache>
                <c:ptCount val="1"/>
                <c:pt idx="0">
                  <c:v>More open</c:v>
                </c:pt>
              </c:strCache>
            </c:strRef>
          </c:tx>
          <c:spPr>
            <a:solidFill>
              <a:srgbClr val="1F3A32"/>
            </a:solidFill>
          </c:spPr>
          <c:invertIfNegative val="1"/>
          <c:dLbls>
            <c:dLbl>
              <c:idx val="0"/>
              <c:tx>
                <c:rich>
                  <a:bodyPr/>
                  <a:lstStyle/>
                  <a:p>
                    <a:r>
                      <a:rPr lang="en-US" sz="1300" b="1" i="0">
                        <a:solidFill>
                          <a:srgbClr val="FFFFFF"/>
                        </a:solidFill>
                        <a:latin typeface="Calibri"/>
                      </a:rPr>
                      <a:t>More open 1.21</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24E-46A9-AE92-D44C33CB396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Sheet1!$A$2:$A$2</c:f>
              <c:strCache>
                <c:ptCount val="1"/>
                <c:pt idx="0">
                  <c:v>IV</c:v>
                </c:pt>
              </c:strCache>
            </c:strRef>
          </c:cat>
          <c:val>
            <c:numRef>
              <c:f>Sheet1!$B$2:$B$2</c:f>
              <c:numCache>
                <c:formatCode>General</c:formatCode>
                <c:ptCount val="1"/>
                <c:pt idx="0">
                  <c:v>1.208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24E-46A9-AE92-D44C33CB3962}"/>
            </c:ext>
          </c:extLst>
        </c:ser>
        <c:ser>
          <c:idx val="1"/>
          <c:order val="1"/>
          <c:tx>
            <c:strRef>
              <c:f>Sheet1!$C$1</c:f>
              <c:strCache>
                <c:ptCount val="1"/>
                <c:pt idx="0">
                  <c:v>Bigger economy</c:v>
                </c:pt>
              </c:strCache>
            </c:strRef>
          </c:tx>
          <c:spPr>
            <a:solidFill>
              <a:srgbClr val="7F9A8E"/>
            </a:solidFill>
          </c:spPr>
          <c:invertIfNegative val="1"/>
          <c:dLbls>
            <c:dLbl>
              <c:idx val="0"/>
              <c:tx>
                <c:rich>
                  <a:bodyPr/>
                  <a:lstStyle/>
                  <a:p>
                    <a:r>
                      <a:rPr lang="en-US" sz="1100" b="1" i="0">
                        <a:solidFill>
                          <a:srgbClr val="FFFFFF"/>
                        </a:solidFill>
                        <a:latin typeface="Calibri"/>
                      </a:rPr>
                      <a:t>Bigger economy 0.92</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24E-46A9-AE92-D44C33CB396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Sheet1!$A$2:$A$2</c:f>
              <c:strCache>
                <c:ptCount val="1"/>
                <c:pt idx="0">
                  <c:v>IV</c:v>
                </c:pt>
              </c:strCache>
            </c:strRef>
          </c:cat>
          <c:val>
            <c:numRef>
              <c:f>Sheet1!$C$2:$C$2</c:f>
              <c:numCache>
                <c:formatCode>General</c:formatCode>
                <c:ptCount val="1"/>
                <c:pt idx="0">
                  <c:v>0.91900000000000004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924E-46A9-AE92-D44C33CB3962}"/>
            </c:ext>
          </c:extLst>
        </c:ser>
        <c:dLbls>
          <c:showLegendKey val="0"/>
          <c:showVal val="0"/>
          <c:showCatName val="0"/>
          <c:showSerName val="0"/>
          <c:showPercent val="0"/>
          <c:showBubbleSize val="0"/>
        </c:dLbls>
        <c:gapWidth val="30"/>
        <c:overlap val="100"/>
        <c:axId val="-2068027336"/>
        <c:axId val="-2113994440"/>
      </c:barChart>
      <c:catAx>
        <c:axId val="-2068027336"/>
        <c:scaling>
          <c:orientation val="minMax"/>
        </c:scaling>
        <c:delete val="1"/>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max val="2.13"/>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Effect on trade / GDP</c:v>
                </c:pt>
              </c:strCache>
            </c:strRef>
          </c:tx>
          <c:spPr>
            <a:ln>
              <a:noFill/>
            </a:ln>
          </c:spPr>
          <c:marker>
            <c:symbol val="circle"/>
            <c:size val="11"/>
            <c:spPr>
              <a:solidFill>
                <a:srgbClr val="1F3A32"/>
              </a:solidFill>
              <a:ln>
                <a:solidFill>
                  <a:srgbClr val="1F3A32"/>
                </a:solidFill>
              </a:ln>
            </c:spPr>
          </c:marker>
          <c:dPt>
            <c:idx val="1"/>
            <c:marker>
              <c:spPr>
                <a:solidFill>
                  <a:srgbClr val="B8862F"/>
                </a:solidFill>
                <a:ln>
                  <a:solidFill>
                    <a:srgbClr val="B8862F"/>
                  </a:solidFill>
                </a:ln>
              </c:spPr>
            </c:marker>
            <c:bubble3D val="0"/>
            <c:extLst>
              <c:ext xmlns:c16="http://schemas.microsoft.com/office/drawing/2014/chart" uri="{C3380CC4-5D6E-409C-BE32-E72D297353CC}">
                <c16:uniqueId val="{00000000-0001-48B2-B168-E943C01459F0}"/>
              </c:ext>
            </c:extLst>
          </c:dPt>
          <c:dLbls>
            <c:dLbl>
              <c:idx val="0"/>
              <c:tx>
                <c:rich>
                  <a:bodyPr/>
                  <a:lstStyle/>
                  <a:p>
                    <a:r>
                      <a:rPr lang="en-US" sz="1200" b="0" i="0">
                        <a:solidFill>
                          <a:srgbClr val="22211F"/>
                        </a:solidFill>
                        <a:latin typeface="Calibri"/>
                      </a:rPr>
                      <a:t>1.52</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001-48B2-B168-E943C01459F0}"/>
                </c:ext>
              </c:extLst>
            </c:dLbl>
            <c:dLbl>
              <c:idx val="1"/>
              <c:tx>
                <c:rich>
                  <a:bodyPr/>
                  <a:lstStyle/>
                  <a:p>
                    <a:r>
                      <a:rPr lang="en-US" sz="1200" b="0" i="0">
                        <a:solidFill>
                          <a:srgbClr val="22211F"/>
                        </a:solidFill>
                        <a:latin typeface="Calibri"/>
                      </a:rPr>
                      <a:t>1.21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001-48B2-B168-E943C01459F0}"/>
                </c:ext>
              </c:extLst>
            </c:dLbl>
            <c:dLbl>
              <c:idx val="2"/>
              <c:tx>
                <c:rich>
                  <a:bodyPr/>
                  <a:lstStyle/>
                  <a:p>
                    <a:r>
                      <a:rPr lang="en-US" sz="1200" b="0" i="0">
                        <a:solidFill>
                          <a:srgbClr val="22211F"/>
                        </a:solidFill>
                        <a:latin typeface="Calibri"/>
                      </a:rPr>
                      <a:t>1.54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001-48B2-B168-E943C01459F0}"/>
                </c:ext>
              </c:extLst>
            </c:dLbl>
            <c:dLbl>
              <c:idx val="3"/>
              <c:tx>
                <c:rich>
                  <a:bodyPr/>
                  <a:lstStyle/>
                  <a:p>
                    <a:r>
                      <a:rPr lang="en-US" sz="1200" b="0" i="0">
                        <a:solidFill>
                          <a:srgbClr val="22211F"/>
                        </a:solidFill>
                        <a:latin typeface="Calibri"/>
                      </a:rPr>
                      <a:t>1.50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001-48B2-B168-E943C01459F0}"/>
                </c:ext>
              </c:extLst>
            </c:dLbl>
            <c:dLbl>
              <c:idx val="4"/>
              <c:tx>
                <c:rich>
                  <a:bodyPr/>
                  <a:lstStyle/>
                  <a:p>
                    <a:r>
                      <a:rPr lang="en-US" sz="1200" b="0" i="0">
                        <a:solidFill>
                          <a:srgbClr val="22211F"/>
                        </a:solidFill>
                        <a:latin typeface="Calibri"/>
                      </a:rPr>
                      <a:t>1.34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001-48B2-B168-E943C01459F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errBars>
            <c:errDir val="y"/>
            <c:errBarType val="both"/>
            <c:errValType val="cust"/>
            <c:noEndCap val="0"/>
            <c:plus>
              <c:numLit>
                <c:formatCode>General</c:formatCode>
                <c:ptCount val="5"/>
                <c:pt idx="0">
                  <c:v>1.323</c:v>
                </c:pt>
                <c:pt idx="1">
                  <c:v>1.16228</c:v>
                </c:pt>
                <c:pt idx="2">
                  <c:v>1.1779599999999999</c:v>
                </c:pt>
                <c:pt idx="3">
                  <c:v>1.19364</c:v>
                </c:pt>
                <c:pt idx="4">
                  <c:v>1.2642</c:v>
                </c:pt>
              </c:numLit>
            </c:plus>
            <c:minus>
              <c:numLit>
                <c:formatCode>General</c:formatCode>
                <c:ptCount val="5"/>
                <c:pt idx="0">
                  <c:v>1.323</c:v>
                </c:pt>
                <c:pt idx="1">
                  <c:v>1.16228</c:v>
                </c:pt>
                <c:pt idx="2">
                  <c:v>1.1779599999999999</c:v>
                </c:pt>
                <c:pt idx="3">
                  <c:v>1.19364</c:v>
                </c:pt>
                <c:pt idx="4">
                  <c:v>1.2642</c:v>
                </c:pt>
              </c:numLit>
            </c:minus>
            <c:spPr>
              <a:ln w="19050">
                <a:solidFill>
                  <a:srgbClr val="1F3A32"/>
                </a:solidFill>
              </a:ln>
            </c:spPr>
          </c:errBars>
          <c:cat>
            <c:strRef>
              <c:f>Sheet1!$A$2:$A$6</c:f>
              <c:strCache>
                <c:ptCount val="5"/>
                <c:pt idx="0">
                  <c:v>No
controls</c:v>
                </c:pt>
                <c:pt idx="1">
                  <c:v>Population
(main)</c:v>
                </c:pt>
                <c:pt idx="2">
                  <c:v>GDP</c:v>
                </c:pt>
                <c:pt idx="3">
                  <c:v>Population
+ GDP</c:v>
                </c:pt>
                <c:pt idx="4">
                  <c:v>Population
+ GDP per head</c:v>
                </c:pt>
              </c:strCache>
            </c:strRef>
          </c:cat>
          <c:val>
            <c:numRef>
              <c:f>Sheet1!$B$2:$B$6</c:f>
              <c:numCache>
                <c:formatCode>General</c:formatCode>
                <c:ptCount val="5"/>
                <c:pt idx="0">
                  <c:v>1.516</c:v>
                </c:pt>
                <c:pt idx="1">
                  <c:v>1.208</c:v>
                </c:pt>
                <c:pt idx="2">
                  <c:v>1.54</c:v>
                </c:pt>
                <c:pt idx="3">
                  <c:v>1.5049999999999999</c:v>
                </c:pt>
                <c:pt idx="4">
                  <c:v>1.34</c:v>
                </c:pt>
              </c:numCache>
            </c:numRef>
          </c:val>
          <c:smooth val="0"/>
          <c:extLst>
            <c:ext xmlns:c16="http://schemas.microsoft.com/office/drawing/2014/chart" uri="{C3380CC4-5D6E-409C-BE32-E72D297353CC}">
              <c16:uniqueId val="{00000005-0001-48B2-B168-E943C01459F0}"/>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low"/>
        <c:spPr>
          <a:ln w="9525">
            <a:solidFill>
              <a:srgbClr val="BDB8AE"/>
            </a:solidFill>
          </a:ln>
        </c:spPr>
        <c:txPr>
          <a:bodyPr/>
          <a:lstStyle/>
          <a:p>
            <a:pPr>
              <a:defRPr sz="1150">
                <a:solidFill>
                  <a:srgbClr val="22211F"/>
                </a:solidFill>
                <a:latin typeface="Calibri"/>
              </a:defRPr>
            </a:pPr>
            <a:endParaRPr lang="ko-KR"/>
          </a:p>
        </c:txPr>
        <c:crossAx val="2140495176"/>
        <c:crosses val="autoZero"/>
        <c:auto val="1"/>
        <c:lblAlgn val="ctr"/>
        <c:lblOffset val="100"/>
        <c:noMultiLvlLbl val="0"/>
      </c:catAx>
      <c:valAx>
        <c:axId val="2140495176"/>
        <c:scaling>
          <c:orientation val="minMax"/>
          <c:max val="3"/>
          <c:min val="0"/>
        </c:scaling>
        <c:delete val="0"/>
        <c:axPos val="l"/>
        <c:majorGridlines>
          <c:spPr>
            <a:ln w="7620">
              <a:solidFill>
                <a:srgbClr val="D9D5CC"/>
              </a:solidFill>
            </a:ln>
          </c:spPr>
        </c:majorGridlines>
        <c:numFmt formatCode="0.0" sourceLinked="0"/>
        <c:majorTickMark val="none"/>
        <c:minorTickMark val="none"/>
        <c:tickLblPos val="nextTo"/>
        <c:spPr>
          <a:ln>
            <a:noFill/>
          </a:ln>
        </c:spPr>
        <c:txPr>
          <a:bodyPr/>
          <a:lstStyle/>
          <a:p>
            <a:pPr>
              <a:defRPr sz="1200">
                <a:solidFill>
                  <a:srgbClr val="6F6A62"/>
                </a:solidFill>
                <a:latin typeface="Calibri"/>
              </a:defRPr>
            </a:pPr>
            <a:endParaRPr lang="ko-KR"/>
          </a:p>
        </c:txPr>
        <c:crossAx val="2118791784"/>
        <c:crosses val="autoZero"/>
        <c:crossBetween val="between"/>
        <c:majorUnit val="0.5"/>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1"/>
        <c:ser>
          <c:idx val="0"/>
          <c:order val="0"/>
          <c:tx>
            <c:strRef>
              <c:f>Sheet1!$B$1</c:f>
              <c:strCache>
                <c:ptCount val="1"/>
                <c:pt idx="0">
                  <c:v>IV</c:v>
                </c:pt>
              </c:strCache>
            </c:strRef>
          </c:tx>
          <c:spPr>
            <a:solidFill>
              <a:srgbClr val="1F3A32"/>
            </a:solidFill>
          </c:spPr>
          <c:invertIfNegative val="1"/>
          <c:dLbls>
            <c:dLbl>
              <c:idx val="0"/>
              <c:tx>
                <c:rich>
                  <a:bodyPr/>
                  <a:lstStyle/>
                  <a:p>
                    <a:r>
                      <a:rPr lang="en-US" sz="1500" b="1" i="0">
                        <a:solidFill>
                          <a:srgbClr val="FFFFFF"/>
                        </a:solidFill>
                        <a:latin typeface="Calibri"/>
                      </a:rPr>
                      <a:t>1.48**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3F6-461A-A235-C235D427C3B4}"/>
                </c:ext>
              </c:extLst>
            </c:dLbl>
            <c:dLbl>
              <c:idx val="1"/>
              <c:tx>
                <c:rich>
                  <a:bodyPr/>
                  <a:lstStyle/>
                  <a:p>
                    <a:r>
                      <a:rPr lang="en-US" sz="1500" b="1" i="0">
                        <a:solidFill>
                          <a:srgbClr val="FFFFFF"/>
                        </a:solidFill>
                        <a:latin typeface="Calibri"/>
                      </a:rPr>
                      <a:t>1.87***</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3F6-461A-A235-C235D427C3B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errBars>
            <c:errBarType val="both"/>
            <c:errValType val="cust"/>
            <c:noEndCap val="0"/>
            <c:plus>
              <c:numLit>
                <c:formatCode>General</c:formatCode>
                <c:ptCount val="2"/>
                <c:pt idx="0">
                  <c:v>1.2798800000000001</c:v>
                </c:pt>
                <c:pt idx="1">
                  <c:v>1.4033599999999999</c:v>
                </c:pt>
              </c:numLit>
            </c:plus>
            <c:minus>
              <c:numLit>
                <c:formatCode>General</c:formatCode>
                <c:ptCount val="2"/>
                <c:pt idx="0">
                  <c:v>1.2798800000000001</c:v>
                </c:pt>
                <c:pt idx="1">
                  <c:v>1.4033599999999999</c:v>
                </c:pt>
              </c:numLit>
            </c:minus>
            <c:spPr>
              <a:ln w="22225">
                <a:solidFill>
                  <a:srgbClr val="B8862F"/>
                </a:solidFill>
              </a:ln>
            </c:spPr>
          </c:errBars>
          <c:cat>
            <c:strRef>
              <c:f>Sheet1!$A$2:$A$3</c:f>
              <c:strCache>
                <c:ptCount val="2"/>
                <c:pt idx="0">
                  <c:v>Parts ÷ consumer goods</c:v>
                </c:pt>
                <c:pt idx="1">
                  <c:v>High-value ÷ low-value goods</c:v>
                </c:pt>
              </c:strCache>
            </c:strRef>
          </c:cat>
          <c:val>
            <c:numRef>
              <c:f>Sheet1!$B$2:$B$3</c:f>
              <c:numCache>
                <c:formatCode>General</c:formatCode>
                <c:ptCount val="2"/>
                <c:pt idx="0">
                  <c:v>1.4830000000000001</c:v>
                </c:pt>
                <c:pt idx="1">
                  <c:v>1.8680000000000001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3F6-461A-A235-C235D427C3B4}"/>
            </c:ext>
          </c:extLst>
        </c:ser>
        <c:dLbls>
          <c:showLegendKey val="0"/>
          <c:showVal val="0"/>
          <c:showCatName val="0"/>
          <c:showSerName val="0"/>
          <c:showPercent val="0"/>
          <c:showBubbleSize val="0"/>
        </c:dLbls>
        <c:gapWidth val="9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BDB8AE"/>
            </a:solidFill>
          </a:ln>
        </c:spPr>
        <c:txPr>
          <a:bodyPr/>
          <a:lstStyle/>
          <a:p>
            <a:pPr>
              <a:defRPr sz="1400">
                <a:solidFill>
                  <a:srgbClr val="22211F"/>
                </a:solidFill>
                <a:latin typeface="Calibri"/>
              </a:defRPr>
            </a:pPr>
            <a:endParaRPr lang="ko-KR"/>
          </a:p>
        </c:txPr>
        <c:crossAx val="-2113994440"/>
        <c:crosses val="autoZero"/>
        <c:auto val="1"/>
        <c:lblAlgn val="ctr"/>
        <c:lblOffset val="100"/>
        <c:noMultiLvlLbl val="0"/>
      </c:catAx>
      <c:valAx>
        <c:axId val="-2113994440"/>
        <c:scaling>
          <c:orientation val="minMax"/>
          <c:max val="3.5"/>
          <c:min val="0"/>
        </c:scaling>
        <c:delete val="0"/>
        <c:axPos val="l"/>
        <c:majorGridlines>
          <c:spPr>
            <a:ln w="7620">
              <a:solidFill>
                <a:srgbClr val="D9D5CC"/>
              </a:solidFill>
            </a:ln>
          </c:spPr>
        </c:majorGridlines>
        <c:title>
          <c:tx>
            <c:rich>
              <a:bodyPr/>
              <a:lstStyle/>
              <a:p>
                <a:r>
                  <a:rPr lang="en-US" sz="1200" b="0" i="0">
                    <a:solidFill>
                      <a:srgbClr val="6F6A62"/>
                    </a:solidFill>
                    <a:latin typeface="Calibri"/>
                  </a:rPr>
                  <a:t>Effect of hub quality (elasticity)</a:t>
                </a:r>
              </a:p>
            </c:rich>
          </c:tx>
          <c:overlay val="0"/>
        </c:title>
        <c:numFmt formatCode="0.0" sourceLinked="0"/>
        <c:majorTickMark val="none"/>
        <c:minorTickMark val="none"/>
        <c:tickLblPos val="nextTo"/>
        <c:spPr>
          <a:ln>
            <a:noFill/>
          </a:ln>
        </c:spPr>
        <c:txPr>
          <a:bodyPr/>
          <a:lstStyle/>
          <a:p>
            <a:pPr>
              <a:defRPr sz="1200">
                <a:solidFill>
                  <a:srgbClr val="6F6A62"/>
                </a:solidFill>
                <a:latin typeface="Calibri"/>
              </a:defRPr>
            </a:pPr>
            <a:endParaRPr lang="ko-KR"/>
          </a:p>
        </c:txPr>
        <c:crossAx val="-2068027336"/>
        <c:crosses val="autoZero"/>
        <c:crossBetween val="between"/>
        <c:majorUnit val="0.5"/>
      </c:valAx>
    </c:plotArea>
    <c:plotVisOnly val="1"/>
    <c:dispBlanksAs val="gap"/>
    <c:showDLblsOverMax val="1"/>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1"/>
        <c:ser>
          <c:idx val="0"/>
          <c:order val="0"/>
          <c:tx>
            <c:strRef>
              <c:f>Sheet1!$B$1</c:f>
              <c:strCache>
                <c:ptCount val="1"/>
                <c:pt idx="0">
                  <c:v>Effect of connectivity on trade / GDP</c:v>
                </c:pt>
              </c:strCache>
            </c:strRef>
          </c:tx>
          <c:spPr>
            <a:solidFill>
              <a:srgbClr val="7F9A8E"/>
            </a:solidFill>
          </c:spPr>
          <c:invertIfNegative val="1"/>
          <c:dPt>
            <c:idx val="0"/>
            <c:invertIfNegative val="1"/>
            <c:bubble3D val="0"/>
            <c:spPr>
              <a:solidFill>
                <a:srgbClr val="1F3A32"/>
              </a:solidFill>
            </c:spPr>
            <c:extLst>
              <c:ext xmlns:c16="http://schemas.microsoft.com/office/drawing/2014/chart" uri="{C3380CC4-5D6E-409C-BE32-E72D297353CC}">
                <c16:uniqueId val="{00000001-6150-4E67-B190-EE05431CFB4A}"/>
              </c:ext>
            </c:extLst>
          </c:dPt>
          <c:dLbls>
            <c:dLbl>
              <c:idx val="0"/>
              <c:tx>
                <c:rich>
                  <a:bodyPr/>
                  <a:lstStyle/>
                  <a:p>
                    <a:r>
                      <a:rPr lang="en-US" sz="1400" b="1" i="0">
                        <a:solidFill>
                          <a:srgbClr val="FFFFFF"/>
                        </a:solidFill>
                        <a:latin typeface="Calibri"/>
                      </a:rPr>
                      <a:t>1.18**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150-4E67-B190-EE05431CFB4A}"/>
                </c:ext>
              </c:extLst>
            </c:dLbl>
            <c:dLbl>
              <c:idx val="1"/>
              <c:tx>
                <c:rich>
                  <a:bodyPr/>
                  <a:lstStyle/>
                  <a:p>
                    <a:r>
                      <a:rPr lang="en-US" sz="1400" b="1" i="0">
                        <a:solidFill>
                          <a:srgbClr val="FFFFFF"/>
                        </a:solidFill>
                        <a:latin typeface="Calibri"/>
                      </a:rPr>
                      <a:t>0.94</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150-4E67-B190-EE05431CFB4A}"/>
                </c:ext>
              </c:extLst>
            </c:dLbl>
            <c:dLbl>
              <c:idx val="2"/>
              <c:tx>
                <c:rich>
                  <a:bodyPr/>
                  <a:lstStyle/>
                  <a:p>
                    <a:r>
                      <a:rPr lang="en-US" sz="1400" b="1" i="0">
                        <a:solidFill>
                          <a:srgbClr val="FFFFFF"/>
                        </a:solidFill>
                        <a:latin typeface="Calibri"/>
                      </a:rPr>
                      <a:t>1.14*</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150-4E67-B190-EE05431CFB4A}"/>
                </c:ext>
              </c:extLst>
            </c:dLbl>
            <c:dLbl>
              <c:idx val="3"/>
              <c:tx>
                <c:rich>
                  <a:bodyPr/>
                  <a:lstStyle/>
                  <a:p>
                    <a:r>
                      <a:rPr lang="en-US" sz="1400" b="1" i="0">
                        <a:solidFill>
                          <a:srgbClr val="FFFFFF"/>
                        </a:solidFill>
                        <a:latin typeface="Calibri"/>
                      </a:rPr>
                      <a:t>0.83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150-4E67-B190-EE05431CFB4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errBars>
            <c:errBarType val="both"/>
            <c:errValType val="cust"/>
            <c:noEndCap val="0"/>
            <c:plus>
              <c:numLit>
                <c:formatCode>General</c:formatCode>
                <c:ptCount val="4"/>
                <c:pt idx="0">
                  <c:v>1.1524799999999999</c:v>
                </c:pt>
                <c:pt idx="1">
                  <c:v>1.1191599999999999</c:v>
                </c:pt>
                <c:pt idx="2">
                  <c:v>1.17404</c:v>
                </c:pt>
                <c:pt idx="3">
                  <c:v>1.1426799999999999</c:v>
                </c:pt>
              </c:numLit>
            </c:plus>
            <c:minus>
              <c:numLit>
                <c:formatCode>General</c:formatCode>
                <c:ptCount val="4"/>
                <c:pt idx="0">
                  <c:v>1.1524799999999999</c:v>
                </c:pt>
                <c:pt idx="1">
                  <c:v>1.1191599999999999</c:v>
                </c:pt>
                <c:pt idx="2">
                  <c:v>1.17404</c:v>
                </c:pt>
                <c:pt idx="3">
                  <c:v>1.1426799999999999</c:v>
                </c:pt>
              </c:numLit>
            </c:minus>
            <c:spPr>
              <a:ln w="15875">
                <a:solidFill>
                  <a:srgbClr val="22211F"/>
                </a:solidFill>
              </a:ln>
            </c:spPr>
          </c:errBars>
          <c:cat>
            <c:strRef>
              <c:f>Sheet1!$A$2:$A$5</c:f>
              <c:strCache>
                <c:ptCount val="4"/>
                <c:pt idx="0">
                  <c:v>Connectivity
only</c:v>
                </c:pt>
                <c:pt idx="1">
                  <c:v>+ parts
ratio</c:v>
                </c:pt>
                <c:pt idx="2">
                  <c:v>+ value
ratio</c:v>
                </c:pt>
                <c:pt idx="3">
                  <c:v>+ both
ratios</c:v>
                </c:pt>
              </c:strCache>
            </c:strRef>
          </c:cat>
          <c:val>
            <c:numRef>
              <c:f>Sheet1!$B$2:$B$5</c:f>
              <c:numCache>
                <c:formatCode>General</c:formatCode>
                <c:ptCount val="4"/>
                <c:pt idx="0">
                  <c:v>1.1759999999999999</c:v>
                </c:pt>
                <c:pt idx="1">
                  <c:v>0.93899999999999995</c:v>
                </c:pt>
                <c:pt idx="2">
                  <c:v>1.1439999999999999</c:v>
                </c:pt>
                <c:pt idx="3">
                  <c:v>0.82499999999999996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6150-4E67-B190-EE05431CFB4A}"/>
            </c:ext>
          </c:extLst>
        </c:ser>
        <c:dLbls>
          <c:showLegendKey val="0"/>
          <c:showVal val="0"/>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none"/>
        <c:minorTickMark val="none"/>
        <c:tickLblPos val="low"/>
        <c:spPr>
          <a:ln w="9525">
            <a:solidFill>
              <a:srgbClr val="BDB8AE"/>
            </a:solidFill>
          </a:ln>
        </c:spPr>
        <c:txPr>
          <a:bodyPr/>
          <a:lstStyle/>
          <a:p>
            <a:pPr>
              <a:defRPr sz="1300">
                <a:solidFill>
                  <a:srgbClr val="22211F"/>
                </a:solidFill>
                <a:latin typeface="Calibri"/>
              </a:defRPr>
            </a:pPr>
            <a:endParaRPr lang="ko-KR"/>
          </a:p>
        </c:txPr>
        <c:crossAx val="-2113994440"/>
        <c:crosses val="autoZero"/>
        <c:auto val="1"/>
        <c:lblAlgn val="ctr"/>
        <c:lblOffset val="100"/>
        <c:noMultiLvlLbl val="0"/>
      </c:catAx>
      <c:valAx>
        <c:axId val="-2113994440"/>
        <c:scaling>
          <c:orientation val="minMax"/>
          <c:max val="2.5"/>
          <c:min val="-0.5"/>
        </c:scaling>
        <c:delete val="0"/>
        <c:axPos val="l"/>
        <c:majorGridlines>
          <c:spPr>
            <a:ln w="7620">
              <a:solidFill>
                <a:srgbClr val="D9D5CC"/>
              </a:solidFill>
            </a:ln>
          </c:spPr>
        </c:majorGridlines>
        <c:numFmt formatCode="0.0" sourceLinked="0"/>
        <c:majorTickMark val="none"/>
        <c:minorTickMark val="none"/>
        <c:tickLblPos val="nextTo"/>
        <c:spPr>
          <a:ln>
            <a:noFill/>
          </a:ln>
        </c:spPr>
        <c:txPr>
          <a:bodyPr/>
          <a:lstStyle/>
          <a:p>
            <a:pPr>
              <a:defRPr sz="1200">
                <a:solidFill>
                  <a:srgbClr val="6F6A62"/>
                </a:solidFill>
                <a:latin typeface="Calibri"/>
              </a:defRPr>
            </a:pPr>
            <a:endParaRPr lang="ko-KR"/>
          </a:p>
        </c:txPr>
        <c:crossAx val="-2068027336"/>
        <c:crosses val="autoZero"/>
        <c:crossBetween val="between"/>
        <c:majorUnit val="0.5"/>
      </c:valAx>
    </c:plotArea>
    <c:plotVisOnly val="1"/>
    <c:dispBlanksAs val="gap"/>
    <c:showDLblsOverMax val="1"/>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Effect</c:v>
                </c:pt>
              </c:strCache>
            </c:strRef>
          </c:tx>
          <c:spPr>
            <a:ln>
              <a:noFill/>
            </a:ln>
          </c:spPr>
          <c:marker>
            <c:symbol val="circle"/>
            <c:size val="12"/>
            <c:spPr>
              <a:solidFill>
                <a:srgbClr val="1F3A32"/>
              </a:solidFill>
              <a:ln>
                <a:solidFill>
                  <a:srgbClr val="1F3A32"/>
                </a:solidFill>
              </a:ln>
            </c:spPr>
          </c:marker>
          <c:dLbls>
            <c:dLbl>
              <c:idx val="0"/>
              <c:tx>
                <c:rich>
                  <a:bodyPr/>
                  <a:lstStyle/>
                  <a:p>
                    <a:r>
                      <a:rPr lang="en-US" sz="1300" b="1" i="0">
                        <a:solidFill>
                          <a:srgbClr val="22211F"/>
                        </a:solidFill>
                        <a:latin typeface="Calibri"/>
                      </a:rPr>
                      <a:t>1.52</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E94-4843-8A8D-A590EC71DA96}"/>
                </c:ext>
              </c:extLst>
            </c:dLbl>
            <c:dLbl>
              <c:idx val="1"/>
              <c:tx>
                <c:rich>
                  <a:bodyPr/>
                  <a:lstStyle/>
                  <a:p>
                    <a:r>
                      <a:rPr lang="en-US" sz="1300" b="1" i="0">
                        <a:solidFill>
                          <a:srgbClr val="22211F"/>
                        </a:solidFill>
                        <a:latin typeface="Calibri"/>
                      </a:rPr>
                      <a:t>1.27</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E94-4843-8A8D-A590EC71DA96}"/>
                </c:ext>
              </c:extLst>
            </c:dLbl>
            <c:dLbl>
              <c:idx val="2"/>
              <c:tx>
                <c:rich>
                  <a:bodyPr/>
                  <a:lstStyle/>
                  <a:p>
                    <a:r>
                      <a:rPr lang="en-US" sz="1300" b="1" i="0">
                        <a:solidFill>
                          <a:srgbClr val="22211F"/>
                        </a:solidFill>
                        <a:latin typeface="Calibri"/>
                      </a:rPr>
                      <a:t>1.05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E94-4843-8A8D-A590EC71DA96}"/>
                </c:ext>
              </c:extLst>
            </c:dLbl>
            <c:dLbl>
              <c:idx val="3"/>
              <c:tx>
                <c:rich>
                  <a:bodyPr/>
                  <a:lstStyle/>
                  <a:p>
                    <a:r>
                      <a:rPr lang="en-US" sz="1300" b="1" i="0">
                        <a:solidFill>
                          <a:srgbClr val="22211F"/>
                        </a:solidFill>
                        <a:latin typeface="Calibri"/>
                      </a:rPr>
                      <a:t>0.71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E94-4843-8A8D-A590EC71DA9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errBars>
            <c:errDir val="y"/>
            <c:errBarType val="both"/>
            <c:errValType val="cust"/>
            <c:noEndCap val="0"/>
            <c:plus>
              <c:numLit>
                <c:formatCode>General</c:formatCode>
                <c:ptCount val="4"/>
                <c:pt idx="0">
                  <c:v>1.5980000000000001</c:v>
                </c:pt>
                <c:pt idx="1">
                  <c:v>1.379</c:v>
                </c:pt>
                <c:pt idx="2">
                  <c:v>1.1910000000000001</c:v>
                </c:pt>
                <c:pt idx="3">
                  <c:v>0.92600000000000005</c:v>
                </c:pt>
              </c:numLit>
            </c:plus>
            <c:minus>
              <c:numLit>
                <c:formatCode>General</c:formatCode>
                <c:ptCount val="4"/>
                <c:pt idx="0">
                  <c:v>1.5980000000000001</c:v>
                </c:pt>
                <c:pt idx="1">
                  <c:v>1.379</c:v>
                </c:pt>
                <c:pt idx="2">
                  <c:v>1.1910000000000001</c:v>
                </c:pt>
                <c:pt idx="3">
                  <c:v>0.92600000000000005</c:v>
                </c:pt>
              </c:numLit>
            </c:minus>
            <c:spPr>
              <a:ln w="19050">
                <a:solidFill>
                  <a:srgbClr val="1F3A32"/>
                </a:solidFill>
              </a:ln>
            </c:spPr>
          </c:errBars>
          <c:cat>
            <c:strRef>
              <c:f>Sheet1!$A$2:$A$5</c:f>
              <c:strCache>
                <c:ptCount val="4"/>
                <c:pt idx="0">
                  <c:v>Poorest
25%</c:v>
                </c:pt>
                <c:pt idx="1">
                  <c:v>2nd</c:v>
                </c:pt>
                <c:pt idx="2">
                  <c:v>3rd</c:v>
                </c:pt>
                <c:pt idx="3">
                  <c:v>Richest
25%</c:v>
                </c:pt>
              </c:strCache>
            </c:strRef>
          </c:cat>
          <c:val>
            <c:numRef>
              <c:f>Sheet1!$B$2:$B$5</c:f>
              <c:numCache>
                <c:formatCode>General</c:formatCode>
                <c:ptCount val="4"/>
                <c:pt idx="0">
                  <c:v>1.52</c:v>
                </c:pt>
                <c:pt idx="1">
                  <c:v>1.274</c:v>
                </c:pt>
                <c:pt idx="2">
                  <c:v>1.054</c:v>
                </c:pt>
                <c:pt idx="3">
                  <c:v>0.71399999999999997</c:v>
                </c:pt>
              </c:numCache>
            </c:numRef>
          </c:val>
          <c:smooth val="0"/>
          <c:extLst>
            <c:ext xmlns:c16="http://schemas.microsoft.com/office/drawing/2014/chart" uri="{C3380CC4-5D6E-409C-BE32-E72D297353CC}">
              <c16:uniqueId val="{00000004-3E94-4843-8A8D-A590EC71DA9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low"/>
        <c:spPr>
          <a:ln w="9525">
            <a:solidFill>
              <a:srgbClr val="BDB8AE"/>
            </a:solidFill>
          </a:ln>
        </c:spPr>
        <c:txPr>
          <a:bodyPr/>
          <a:lstStyle/>
          <a:p>
            <a:pPr>
              <a:defRPr sz="1250">
                <a:solidFill>
                  <a:srgbClr val="22211F"/>
                </a:solidFill>
                <a:latin typeface="Calibri"/>
              </a:defRPr>
            </a:pPr>
            <a:endParaRPr lang="ko-KR"/>
          </a:p>
        </c:txPr>
        <c:crossAx val="2140495176"/>
        <c:crosses val="autoZero"/>
        <c:auto val="1"/>
        <c:lblAlgn val="ctr"/>
        <c:lblOffset val="100"/>
        <c:noMultiLvlLbl val="0"/>
      </c:catAx>
      <c:valAx>
        <c:axId val="2140495176"/>
        <c:scaling>
          <c:orientation val="minMax"/>
          <c:max val="5"/>
          <c:min val="-1"/>
        </c:scaling>
        <c:delete val="0"/>
        <c:axPos val="l"/>
        <c:majorGridlines>
          <c:spPr>
            <a:ln w="7620">
              <a:solidFill>
                <a:srgbClr val="D9D5CC"/>
              </a:solidFill>
            </a:ln>
          </c:spPr>
        </c:majorGridlines>
        <c:numFmt formatCode="0" sourceLinked="0"/>
        <c:majorTickMark val="none"/>
        <c:minorTickMark val="none"/>
        <c:tickLblPos val="nextTo"/>
        <c:spPr>
          <a:ln>
            <a:noFill/>
          </a:ln>
        </c:spPr>
        <c:txPr>
          <a:bodyPr/>
          <a:lstStyle/>
          <a:p>
            <a:pPr>
              <a:defRPr sz="1200">
                <a:solidFill>
                  <a:srgbClr val="6F6A62"/>
                </a:solidFill>
                <a:latin typeface="Calibri"/>
              </a:defRPr>
            </a:pPr>
            <a:endParaRPr lang="ko-KR"/>
          </a:p>
        </c:txPr>
        <c:crossAx val="2118791784"/>
        <c:crosses val="autoZero"/>
        <c:crossBetween val="between"/>
        <c:majorUnit val="1"/>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Effect</c:v>
                </c:pt>
              </c:strCache>
            </c:strRef>
          </c:tx>
          <c:spPr>
            <a:ln>
              <a:noFill/>
            </a:ln>
          </c:spPr>
          <c:marker>
            <c:symbol val="circle"/>
            <c:size val="12"/>
            <c:spPr>
              <a:solidFill>
                <a:srgbClr val="B8862F"/>
              </a:solidFill>
              <a:ln>
                <a:solidFill>
                  <a:srgbClr val="B8862F"/>
                </a:solidFill>
              </a:ln>
            </c:spPr>
          </c:marker>
          <c:dLbls>
            <c:dLbl>
              <c:idx val="0"/>
              <c:tx>
                <c:rich>
                  <a:bodyPr/>
                  <a:lstStyle/>
                  <a:p>
                    <a:r>
                      <a:rPr lang="en-US" sz="1300" b="1" i="0">
                        <a:solidFill>
                          <a:srgbClr val="22211F"/>
                        </a:solidFill>
                        <a:latin typeface="Calibri"/>
                      </a:rPr>
                      <a:t>2.44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18E-4229-8E41-019CEECC7151}"/>
                </c:ext>
              </c:extLst>
            </c:dLbl>
            <c:dLbl>
              <c:idx val="1"/>
              <c:tx>
                <c:rich>
                  <a:bodyPr/>
                  <a:lstStyle/>
                  <a:p>
                    <a:r>
                      <a:rPr lang="en-US" sz="1300" b="1" i="0">
                        <a:solidFill>
                          <a:srgbClr val="22211F"/>
                        </a:solidFill>
                        <a:latin typeface="Calibri"/>
                      </a:rPr>
                      <a:t>2.21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18E-4229-8E41-019CEECC7151}"/>
                </c:ext>
              </c:extLst>
            </c:dLbl>
            <c:dLbl>
              <c:idx val="2"/>
              <c:tx>
                <c:rich>
                  <a:bodyPr/>
                  <a:lstStyle/>
                  <a:p>
                    <a:r>
                      <a:rPr lang="en-US" sz="1300" b="1" i="0">
                        <a:solidFill>
                          <a:srgbClr val="22211F"/>
                        </a:solidFill>
                        <a:latin typeface="Calibri"/>
                      </a:rPr>
                      <a:t>1.94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E18E-4229-8E41-019CEECC7151}"/>
                </c:ext>
              </c:extLst>
            </c:dLbl>
            <c:dLbl>
              <c:idx val="3"/>
              <c:tx>
                <c:rich>
                  <a:bodyPr/>
                  <a:lstStyle/>
                  <a:p>
                    <a:r>
                      <a:rPr lang="en-US" sz="1300" b="1" i="0">
                        <a:solidFill>
                          <a:srgbClr val="22211F"/>
                        </a:solidFill>
                        <a:latin typeface="Calibri"/>
                      </a:rPr>
                      <a:t>1.49</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18E-4229-8E41-019CEECC715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errBars>
            <c:errDir val="y"/>
            <c:errBarType val="both"/>
            <c:errValType val="cust"/>
            <c:noEndCap val="0"/>
            <c:plus>
              <c:numLit>
                <c:formatCode>General</c:formatCode>
                <c:ptCount val="4"/>
                <c:pt idx="0">
                  <c:v>2.1960000000000002</c:v>
                </c:pt>
                <c:pt idx="1">
                  <c:v>2.0510000000000002</c:v>
                </c:pt>
                <c:pt idx="2">
                  <c:v>1.889</c:v>
                </c:pt>
                <c:pt idx="3">
                  <c:v>1.639</c:v>
                </c:pt>
              </c:numLit>
            </c:plus>
            <c:minus>
              <c:numLit>
                <c:formatCode>General</c:formatCode>
                <c:ptCount val="4"/>
                <c:pt idx="0">
                  <c:v>2.1960000000000002</c:v>
                </c:pt>
                <c:pt idx="1">
                  <c:v>2.0510000000000002</c:v>
                </c:pt>
                <c:pt idx="2">
                  <c:v>1.889</c:v>
                </c:pt>
                <c:pt idx="3">
                  <c:v>1.639</c:v>
                </c:pt>
              </c:numLit>
            </c:minus>
            <c:spPr>
              <a:ln w="19050">
                <a:solidFill>
                  <a:srgbClr val="B8862F"/>
                </a:solidFill>
              </a:ln>
            </c:spPr>
          </c:errBars>
          <c:cat>
            <c:strRef>
              <c:f>Sheet1!$A$2:$A$5</c:f>
              <c:strCache>
                <c:ptCount val="4"/>
                <c:pt idx="0">
                  <c:v>Least
connected</c:v>
                </c:pt>
                <c:pt idx="1">
                  <c:v>2nd</c:v>
                </c:pt>
                <c:pt idx="2">
                  <c:v>3rd</c:v>
                </c:pt>
                <c:pt idx="3">
                  <c:v>Best
connected</c:v>
                </c:pt>
              </c:strCache>
            </c:strRef>
          </c:cat>
          <c:val>
            <c:numRef>
              <c:f>Sheet1!$B$2:$B$5</c:f>
              <c:numCache>
                <c:formatCode>General</c:formatCode>
                <c:ptCount val="4"/>
                <c:pt idx="0">
                  <c:v>2.4369999999999998</c:v>
                </c:pt>
                <c:pt idx="1">
                  <c:v>2.2069999999999999</c:v>
                </c:pt>
                <c:pt idx="2">
                  <c:v>1.9410000000000001</c:v>
                </c:pt>
                <c:pt idx="3">
                  <c:v>1.494</c:v>
                </c:pt>
              </c:numCache>
            </c:numRef>
          </c:val>
          <c:smooth val="0"/>
          <c:extLst>
            <c:ext xmlns:c16="http://schemas.microsoft.com/office/drawing/2014/chart" uri="{C3380CC4-5D6E-409C-BE32-E72D297353CC}">
              <c16:uniqueId val="{00000004-E18E-4229-8E41-019CEECC715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low"/>
        <c:spPr>
          <a:ln w="9525">
            <a:solidFill>
              <a:srgbClr val="BDB8AE"/>
            </a:solidFill>
          </a:ln>
        </c:spPr>
        <c:txPr>
          <a:bodyPr/>
          <a:lstStyle/>
          <a:p>
            <a:pPr>
              <a:defRPr sz="1250">
                <a:solidFill>
                  <a:srgbClr val="22211F"/>
                </a:solidFill>
                <a:latin typeface="Calibri"/>
              </a:defRPr>
            </a:pPr>
            <a:endParaRPr lang="ko-KR"/>
          </a:p>
        </c:txPr>
        <c:crossAx val="2140495176"/>
        <c:crosses val="autoZero"/>
        <c:auto val="1"/>
        <c:lblAlgn val="ctr"/>
        <c:lblOffset val="100"/>
        <c:noMultiLvlLbl val="0"/>
      </c:catAx>
      <c:valAx>
        <c:axId val="2140495176"/>
        <c:scaling>
          <c:orientation val="minMax"/>
          <c:max val="5"/>
          <c:min val="-1"/>
        </c:scaling>
        <c:delete val="0"/>
        <c:axPos val="l"/>
        <c:majorGridlines>
          <c:spPr>
            <a:ln w="7620">
              <a:solidFill>
                <a:srgbClr val="D9D5CC"/>
              </a:solidFill>
            </a:ln>
          </c:spPr>
        </c:majorGridlines>
        <c:numFmt formatCode="0" sourceLinked="0"/>
        <c:majorTickMark val="none"/>
        <c:minorTickMark val="none"/>
        <c:tickLblPos val="nextTo"/>
        <c:spPr>
          <a:ln>
            <a:noFill/>
          </a:ln>
        </c:spPr>
        <c:txPr>
          <a:bodyPr/>
          <a:lstStyle/>
          <a:p>
            <a:pPr>
              <a:defRPr sz="1200">
                <a:solidFill>
                  <a:srgbClr val="6F6A62"/>
                </a:solidFill>
                <a:latin typeface="Calibri"/>
              </a:defRPr>
            </a:pPr>
            <a:endParaRPr lang="ko-KR"/>
          </a:p>
        </c:txPr>
        <c:crossAx val="2118791784"/>
        <c:crosses val="autoZero"/>
        <c:crossBetween val="between"/>
        <c:majorUnit val="1"/>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manualLayout>
          <c:layoutTarget val="inner"/>
          <c:xMode val="edge"/>
          <c:yMode val="edge"/>
          <c:x val="0.06"/>
          <c:y val="0.04"/>
          <c:w val="0.72"/>
          <c:h val="0.84"/>
        </c:manualLayout>
      </c:layout>
      <c:lineChart>
        <c:grouping val="standard"/>
        <c:varyColors val="0"/>
        <c:ser>
          <c:idx val="0"/>
          <c:order val="0"/>
          <c:tx>
            <c:strRef>
              <c:f>Sheet1!$B$1</c:f>
              <c:strCache>
                <c:ptCount val="1"/>
                <c:pt idx="0">
                  <c:v>Africa</c:v>
                </c:pt>
              </c:strCache>
            </c:strRef>
          </c:tx>
          <c:spPr>
            <a:ln w="19050">
              <a:solidFill>
                <a:srgbClr val="BDB8AE"/>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Sheet1!$B$2:$B$30</c:f>
              <c:numCache>
                <c:formatCode>General</c:formatCode>
                <c:ptCount val="29"/>
                <c:pt idx="0">
                  <c:v>0</c:v>
                </c:pt>
                <c:pt idx="1">
                  <c:v>0.35199999999999998</c:v>
                </c:pt>
                <c:pt idx="2">
                  <c:v>1.1599999999999999</c:v>
                </c:pt>
                <c:pt idx="3">
                  <c:v>1.698</c:v>
                </c:pt>
                <c:pt idx="4">
                  <c:v>2.5590000000000002</c:v>
                </c:pt>
                <c:pt idx="5">
                  <c:v>3.3340000000000001</c:v>
                </c:pt>
                <c:pt idx="6">
                  <c:v>3.26</c:v>
                </c:pt>
                <c:pt idx="7">
                  <c:v>2.7519999999999998</c:v>
                </c:pt>
                <c:pt idx="8">
                  <c:v>3.03</c:v>
                </c:pt>
                <c:pt idx="9">
                  <c:v>3.9260000000000002</c:v>
                </c:pt>
                <c:pt idx="10">
                  <c:v>5.6260000000000003</c:v>
                </c:pt>
                <c:pt idx="11">
                  <c:v>8.032</c:v>
                </c:pt>
                <c:pt idx="12">
                  <c:v>10.314</c:v>
                </c:pt>
                <c:pt idx="13">
                  <c:v>10.657</c:v>
                </c:pt>
                <c:pt idx="14">
                  <c:v>11.305</c:v>
                </c:pt>
                <c:pt idx="15">
                  <c:v>12.178000000000001</c:v>
                </c:pt>
                <c:pt idx="16">
                  <c:v>11.766</c:v>
                </c:pt>
                <c:pt idx="17">
                  <c:v>12.151</c:v>
                </c:pt>
                <c:pt idx="18">
                  <c:v>13.092000000000001</c:v>
                </c:pt>
                <c:pt idx="19">
                  <c:v>13.206</c:v>
                </c:pt>
                <c:pt idx="20">
                  <c:v>14.042999999999999</c:v>
                </c:pt>
                <c:pt idx="21">
                  <c:v>16.081</c:v>
                </c:pt>
                <c:pt idx="22">
                  <c:v>15.619</c:v>
                </c:pt>
                <c:pt idx="23">
                  <c:v>15.119</c:v>
                </c:pt>
                <c:pt idx="24">
                  <c:v>6.984</c:v>
                </c:pt>
                <c:pt idx="25">
                  <c:v>2.7330000000000001</c:v>
                </c:pt>
                <c:pt idx="26">
                  <c:v>12.282</c:v>
                </c:pt>
                <c:pt idx="27">
                  <c:v>17.77</c:v>
                </c:pt>
                <c:pt idx="28">
                  <c:v>19.681000000000001</c:v>
                </c:pt>
              </c:numCache>
            </c:numRef>
          </c:val>
          <c:smooth val="0"/>
          <c:extLst>
            <c:ext xmlns:c16="http://schemas.microsoft.com/office/drawing/2014/chart" uri="{C3380CC4-5D6E-409C-BE32-E72D297353CC}">
              <c16:uniqueId val="{00000000-152D-47A0-A00B-1B6813DC76EE}"/>
            </c:ext>
          </c:extLst>
        </c:ser>
        <c:ser>
          <c:idx val="1"/>
          <c:order val="1"/>
          <c:tx>
            <c:strRef>
              <c:f>Sheet1!$C$1</c:f>
              <c:strCache>
                <c:ptCount val="1"/>
                <c:pt idx="0">
                  <c:v>Europe</c:v>
                </c:pt>
              </c:strCache>
            </c:strRef>
          </c:tx>
          <c:spPr>
            <a:ln w="19050">
              <a:solidFill>
                <a:srgbClr val="BDB8AE"/>
              </a:solidFill>
            </a:ln>
          </c:spPr>
          <c:marker>
            <c:symbol val="none"/>
          </c:marker>
          <c:dLbls>
            <c:dLbl>
              <c:idx val="28"/>
              <c:tx>
                <c:rich>
                  <a:bodyPr/>
                  <a:lstStyle/>
                  <a:p>
                    <a:r>
                      <a:rPr lang="en-US" sz="1100" b="0" i="0">
                        <a:solidFill>
                          <a:srgbClr val="6F6A62"/>
                        </a:solidFill>
                        <a:latin typeface="Calibri"/>
                      </a:rPr>
                      <a:t>Other continents</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52D-47A0-A00B-1B6813DC76E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Sheet1!$C$2:$C$30</c:f>
              <c:numCache>
                <c:formatCode>General</c:formatCode>
                <c:ptCount val="29"/>
                <c:pt idx="0">
                  <c:v>0</c:v>
                </c:pt>
                <c:pt idx="1">
                  <c:v>-0.54300000000000004</c:v>
                </c:pt>
                <c:pt idx="2">
                  <c:v>-3.0419999999999998</c:v>
                </c:pt>
                <c:pt idx="3">
                  <c:v>-2.1829999999999998</c:v>
                </c:pt>
                <c:pt idx="4">
                  <c:v>-1.5720000000000001</c:v>
                </c:pt>
                <c:pt idx="5">
                  <c:v>-1.38</c:v>
                </c:pt>
                <c:pt idx="6">
                  <c:v>-1.7450000000000001</c:v>
                </c:pt>
                <c:pt idx="7">
                  <c:v>-2.6179999999999999</c:v>
                </c:pt>
                <c:pt idx="8">
                  <c:v>-2.452</c:v>
                </c:pt>
                <c:pt idx="9">
                  <c:v>-1.0940000000000001</c:v>
                </c:pt>
                <c:pt idx="10">
                  <c:v>0.51200000000000001</c:v>
                </c:pt>
                <c:pt idx="11">
                  <c:v>3.5489999999999999</c:v>
                </c:pt>
                <c:pt idx="12">
                  <c:v>5.194</c:v>
                </c:pt>
                <c:pt idx="13">
                  <c:v>4.0049999999999999</c:v>
                </c:pt>
                <c:pt idx="14">
                  <c:v>5.8550000000000004</c:v>
                </c:pt>
                <c:pt idx="15">
                  <c:v>7.7</c:v>
                </c:pt>
                <c:pt idx="16">
                  <c:v>7.609</c:v>
                </c:pt>
                <c:pt idx="17">
                  <c:v>6.5709999999999997</c:v>
                </c:pt>
                <c:pt idx="18">
                  <c:v>8.9469999999999992</c:v>
                </c:pt>
                <c:pt idx="19">
                  <c:v>10.37</c:v>
                </c:pt>
                <c:pt idx="20">
                  <c:v>12.217000000000001</c:v>
                </c:pt>
                <c:pt idx="21">
                  <c:v>15.631</c:v>
                </c:pt>
                <c:pt idx="22">
                  <c:v>19.308</c:v>
                </c:pt>
                <c:pt idx="23">
                  <c:v>20.372</c:v>
                </c:pt>
                <c:pt idx="24">
                  <c:v>-0.86</c:v>
                </c:pt>
                <c:pt idx="25">
                  <c:v>-2.83</c:v>
                </c:pt>
                <c:pt idx="26">
                  <c:v>11.212</c:v>
                </c:pt>
                <c:pt idx="27">
                  <c:v>13.58</c:v>
                </c:pt>
                <c:pt idx="28">
                  <c:v>20.091999999999999</c:v>
                </c:pt>
              </c:numCache>
            </c:numRef>
          </c:val>
          <c:smooth val="0"/>
          <c:extLst>
            <c:ext xmlns:c16="http://schemas.microsoft.com/office/drawing/2014/chart" uri="{C3380CC4-5D6E-409C-BE32-E72D297353CC}">
              <c16:uniqueId val="{00000002-152D-47A0-A00B-1B6813DC76EE}"/>
            </c:ext>
          </c:extLst>
        </c:ser>
        <c:ser>
          <c:idx val="2"/>
          <c:order val="2"/>
          <c:tx>
            <c:strRef>
              <c:f>Sheet1!$D$1</c:f>
              <c:strCache>
                <c:ptCount val="1"/>
                <c:pt idx="0">
                  <c:v>Latin America</c:v>
                </c:pt>
              </c:strCache>
            </c:strRef>
          </c:tx>
          <c:spPr>
            <a:ln w="19050">
              <a:solidFill>
                <a:srgbClr val="BDB8AE"/>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Sheet1!$D$2:$D$30</c:f>
              <c:numCache>
                <c:formatCode>General</c:formatCode>
                <c:ptCount val="29"/>
                <c:pt idx="0">
                  <c:v>0</c:v>
                </c:pt>
                <c:pt idx="1">
                  <c:v>-0.96</c:v>
                </c:pt>
                <c:pt idx="2">
                  <c:v>1.4079999999999999</c:v>
                </c:pt>
                <c:pt idx="3">
                  <c:v>-0.13</c:v>
                </c:pt>
                <c:pt idx="4">
                  <c:v>-1.0669999999999999</c:v>
                </c:pt>
                <c:pt idx="5">
                  <c:v>-0.57599999999999996</c:v>
                </c:pt>
                <c:pt idx="6">
                  <c:v>0.92800000000000005</c:v>
                </c:pt>
                <c:pt idx="7">
                  <c:v>-0.45</c:v>
                </c:pt>
                <c:pt idx="8">
                  <c:v>0.10299999999999999</c:v>
                </c:pt>
                <c:pt idx="9">
                  <c:v>0.38200000000000001</c:v>
                </c:pt>
                <c:pt idx="10">
                  <c:v>0.98299999999999998</c:v>
                </c:pt>
                <c:pt idx="11">
                  <c:v>0.71199999999999997</c:v>
                </c:pt>
                <c:pt idx="12">
                  <c:v>1.8280000000000001</c:v>
                </c:pt>
                <c:pt idx="13">
                  <c:v>2.6970000000000001</c:v>
                </c:pt>
                <c:pt idx="14">
                  <c:v>4.4219999999999997</c:v>
                </c:pt>
                <c:pt idx="15">
                  <c:v>6.1660000000000004</c:v>
                </c:pt>
                <c:pt idx="16">
                  <c:v>9.24</c:v>
                </c:pt>
                <c:pt idx="17">
                  <c:v>11.007</c:v>
                </c:pt>
                <c:pt idx="18">
                  <c:v>14.566000000000001</c:v>
                </c:pt>
                <c:pt idx="19">
                  <c:v>15.507999999999999</c:v>
                </c:pt>
                <c:pt idx="20">
                  <c:v>13.347</c:v>
                </c:pt>
                <c:pt idx="21">
                  <c:v>14.41</c:v>
                </c:pt>
                <c:pt idx="22">
                  <c:v>15.425000000000001</c:v>
                </c:pt>
                <c:pt idx="23">
                  <c:v>17.257000000000001</c:v>
                </c:pt>
                <c:pt idx="24">
                  <c:v>-5.0999999999999996</c:v>
                </c:pt>
                <c:pt idx="25">
                  <c:v>-4.0229999999999997</c:v>
                </c:pt>
                <c:pt idx="26">
                  <c:v>11.673999999999999</c:v>
                </c:pt>
                <c:pt idx="27">
                  <c:v>13.079000000000001</c:v>
                </c:pt>
                <c:pt idx="28">
                  <c:v>17.297000000000001</c:v>
                </c:pt>
              </c:numCache>
            </c:numRef>
          </c:val>
          <c:smooth val="0"/>
          <c:extLst>
            <c:ext xmlns:c16="http://schemas.microsoft.com/office/drawing/2014/chart" uri="{C3380CC4-5D6E-409C-BE32-E72D297353CC}">
              <c16:uniqueId val="{00000003-152D-47A0-A00B-1B6813DC76EE}"/>
            </c:ext>
          </c:extLst>
        </c:ser>
        <c:ser>
          <c:idx val="3"/>
          <c:order val="3"/>
          <c:tx>
            <c:strRef>
              <c:f>Sheet1!$E$1</c:f>
              <c:strCache>
                <c:ptCount val="1"/>
                <c:pt idx="0">
                  <c:v>North America</c:v>
                </c:pt>
              </c:strCache>
            </c:strRef>
          </c:tx>
          <c:spPr>
            <a:ln w="19050">
              <a:solidFill>
                <a:srgbClr val="BDB8AE"/>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Sheet1!$E$2:$E$30</c:f>
              <c:numCache>
                <c:formatCode>General</c:formatCode>
                <c:ptCount val="29"/>
                <c:pt idx="0">
                  <c:v>0</c:v>
                </c:pt>
                <c:pt idx="1">
                  <c:v>-0.89800000000000002</c:v>
                </c:pt>
                <c:pt idx="2">
                  <c:v>1.014</c:v>
                </c:pt>
                <c:pt idx="3">
                  <c:v>2.1760000000000002</c:v>
                </c:pt>
                <c:pt idx="4">
                  <c:v>2.9550000000000001</c:v>
                </c:pt>
                <c:pt idx="5">
                  <c:v>2.8210000000000002</c:v>
                </c:pt>
                <c:pt idx="6">
                  <c:v>-0.104</c:v>
                </c:pt>
                <c:pt idx="7">
                  <c:v>-0.159</c:v>
                </c:pt>
                <c:pt idx="8">
                  <c:v>1.605</c:v>
                </c:pt>
                <c:pt idx="9">
                  <c:v>2.6179999999999999</c:v>
                </c:pt>
                <c:pt idx="10">
                  <c:v>3.9620000000000002</c:v>
                </c:pt>
                <c:pt idx="11">
                  <c:v>4.6680000000000001</c:v>
                </c:pt>
                <c:pt idx="12">
                  <c:v>4.7050000000000001</c:v>
                </c:pt>
                <c:pt idx="13">
                  <c:v>3.8380000000000001</c:v>
                </c:pt>
                <c:pt idx="14">
                  <c:v>5.0860000000000003</c:v>
                </c:pt>
                <c:pt idx="15">
                  <c:v>6.5650000000000004</c:v>
                </c:pt>
                <c:pt idx="16">
                  <c:v>9.2509999999999994</c:v>
                </c:pt>
                <c:pt idx="17">
                  <c:v>7.8860000000000001</c:v>
                </c:pt>
                <c:pt idx="18">
                  <c:v>7.1260000000000003</c:v>
                </c:pt>
                <c:pt idx="19">
                  <c:v>9.9450000000000003</c:v>
                </c:pt>
                <c:pt idx="20">
                  <c:v>5.75</c:v>
                </c:pt>
                <c:pt idx="21">
                  <c:v>6.468</c:v>
                </c:pt>
                <c:pt idx="22">
                  <c:v>6.319</c:v>
                </c:pt>
                <c:pt idx="23">
                  <c:v>7.7779999999999996</c:v>
                </c:pt>
                <c:pt idx="24">
                  <c:v>-19.456</c:v>
                </c:pt>
                <c:pt idx="25">
                  <c:v>-19.295999999999999</c:v>
                </c:pt>
                <c:pt idx="26">
                  <c:v>5.3860000000000001</c:v>
                </c:pt>
                <c:pt idx="27">
                  <c:v>9.1880000000000006</c:v>
                </c:pt>
                <c:pt idx="28">
                  <c:v>12.646000000000001</c:v>
                </c:pt>
              </c:numCache>
            </c:numRef>
          </c:val>
          <c:smooth val="0"/>
          <c:extLst>
            <c:ext xmlns:c16="http://schemas.microsoft.com/office/drawing/2014/chart" uri="{C3380CC4-5D6E-409C-BE32-E72D297353CC}">
              <c16:uniqueId val="{00000004-152D-47A0-A00B-1B6813DC76EE}"/>
            </c:ext>
          </c:extLst>
        </c:ser>
        <c:ser>
          <c:idx val="4"/>
          <c:order val="4"/>
          <c:tx>
            <c:strRef>
              <c:f>Sheet1!$F$1</c:f>
              <c:strCache>
                <c:ptCount val="1"/>
                <c:pt idx="0">
                  <c:v>Pacific/Oceania</c:v>
                </c:pt>
              </c:strCache>
            </c:strRef>
          </c:tx>
          <c:spPr>
            <a:ln w="19050">
              <a:solidFill>
                <a:srgbClr val="BDB8AE"/>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Sheet1!$F$2:$F$30</c:f>
              <c:numCache>
                <c:formatCode>General</c:formatCode>
                <c:ptCount val="29"/>
                <c:pt idx="0">
                  <c:v>0</c:v>
                </c:pt>
                <c:pt idx="1">
                  <c:v>-2.3940000000000001</c:v>
                </c:pt>
                <c:pt idx="2">
                  <c:v>-3.113</c:v>
                </c:pt>
                <c:pt idx="3">
                  <c:v>-1.1060000000000001</c:v>
                </c:pt>
                <c:pt idx="4">
                  <c:v>-0.67</c:v>
                </c:pt>
                <c:pt idx="5">
                  <c:v>-2.109</c:v>
                </c:pt>
                <c:pt idx="6">
                  <c:v>-4.1840000000000002</c:v>
                </c:pt>
                <c:pt idx="7">
                  <c:v>-4.9800000000000004</c:v>
                </c:pt>
                <c:pt idx="8">
                  <c:v>-2.5</c:v>
                </c:pt>
                <c:pt idx="9">
                  <c:v>-0.20599999999999999</c:v>
                </c:pt>
                <c:pt idx="10">
                  <c:v>-0.41199999999999998</c:v>
                </c:pt>
                <c:pt idx="11">
                  <c:v>0.16800000000000001</c:v>
                </c:pt>
                <c:pt idx="12">
                  <c:v>4.4050000000000002</c:v>
                </c:pt>
                <c:pt idx="13">
                  <c:v>4.3010000000000002</c:v>
                </c:pt>
                <c:pt idx="14">
                  <c:v>4.1340000000000003</c:v>
                </c:pt>
                <c:pt idx="15">
                  <c:v>2.9279999999999999</c:v>
                </c:pt>
                <c:pt idx="16">
                  <c:v>4.024</c:v>
                </c:pt>
                <c:pt idx="17">
                  <c:v>5.2119999999999997</c:v>
                </c:pt>
                <c:pt idx="18">
                  <c:v>6.5960000000000001</c:v>
                </c:pt>
                <c:pt idx="19">
                  <c:v>2.5030000000000001</c:v>
                </c:pt>
                <c:pt idx="20">
                  <c:v>5.3010000000000002</c:v>
                </c:pt>
                <c:pt idx="21">
                  <c:v>13.936</c:v>
                </c:pt>
                <c:pt idx="22">
                  <c:v>14.225</c:v>
                </c:pt>
                <c:pt idx="23">
                  <c:v>14.622999999999999</c:v>
                </c:pt>
                <c:pt idx="24">
                  <c:v>-19.760000000000002</c:v>
                </c:pt>
                <c:pt idx="25">
                  <c:v>-28.652999999999999</c:v>
                </c:pt>
                <c:pt idx="26">
                  <c:v>-8.3160000000000007</c:v>
                </c:pt>
                <c:pt idx="27">
                  <c:v>5.3949999999999996</c:v>
                </c:pt>
                <c:pt idx="28">
                  <c:v>18.751999999999999</c:v>
                </c:pt>
              </c:numCache>
            </c:numRef>
          </c:val>
          <c:smooth val="0"/>
          <c:extLst>
            <c:ext xmlns:c16="http://schemas.microsoft.com/office/drawing/2014/chart" uri="{C3380CC4-5D6E-409C-BE32-E72D297353CC}">
              <c16:uniqueId val="{00000005-152D-47A0-A00B-1B6813DC76EE}"/>
            </c:ext>
          </c:extLst>
        </c:ser>
        <c:ser>
          <c:idx val="5"/>
          <c:order val="5"/>
          <c:tx>
            <c:strRef>
              <c:f>Sheet1!$G$1</c:f>
              <c:strCache>
                <c:ptCount val="1"/>
                <c:pt idx="0">
                  <c:v>Middle East</c:v>
                </c:pt>
              </c:strCache>
            </c:strRef>
          </c:tx>
          <c:spPr>
            <a:ln w="34925">
              <a:solidFill>
                <a:srgbClr val="B8862F"/>
              </a:solidFill>
            </a:ln>
          </c:spPr>
          <c:marker>
            <c:symbol val="none"/>
          </c:marker>
          <c:dLbls>
            <c:dLbl>
              <c:idx val="28"/>
              <c:tx>
                <c:rich>
                  <a:bodyPr/>
                  <a:lstStyle/>
                  <a:p>
                    <a:r>
                      <a:rPr lang="en-US" sz="1200" b="1" i="0">
                        <a:solidFill>
                          <a:srgbClr val="B8862F"/>
                        </a:solidFill>
                        <a:latin typeface="Calibri"/>
                      </a:rPr>
                      <a:t>Middle East</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52D-47A0-A00B-1B6813DC76E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Sheet1!$G$2:$G$30</c:f>
              <c:numCache>
                <c:formatCode>General</c:formatCode>
                <c:ptCount val="29"/>
                <c:pt idx="0">
                  <c:v>0</c:v>
                </c:pt>
                <c:pt idx="1">
                  <c:v>0.92100000000000004</c:v>
                </c:pt>
                <c:pt idx="2">
                  <c:v>-0.64200000000000002</c:v>
                </c:pt>
                <c:pt idx="3">
                  <c:v>1.0009999999999999</c:v>
                </c:pt>
                <c:pt idx="4">
                  <c:v>3.1539999999999999</c:v>
                </c:pt>
                <c:pt idx="5">
                  <c:v>1.115</c:v>
                </c:pt>
                <c:pt idx="6">
                  <c:v>1.5269999999999999</c:v>
                </c:pt>
                <c:pt idx="7">
                  <c:v>4.4329999999999998</c:v>
                </c:pt>
                <c:pt idx="8">
                  <c:v>9.0060000000000002</c:v>
                </c:pt>
                <c:pt idx="9">
                  <c:v>8.3339999999999996</c:v>
                </c:pt>
                <c:pt idx="10">
                  <c:v>12.1</c:v>
                </c:pt>
                <c:pt idx="11">
                  <c:v>18.541</c:v>
                </c:pt>
                <c:pt idx="12">
                  <c:v>23.806000000000001</c:v>
                </c:pt>
                <c:pt idx="13">
                  <c:v>29.559000000000001</c:v>
                </c:pt>
                <c:pt idx="14">
                  <c:v>32.677999999999997</c:v>
                </c:pt>
                <c:pt idx="15">
                  <c:v>34.866999999999997</c:v>
                </c:pt>
                <c:pt idx="16">
                  <c:v>39.908999999999999</c:v>
                </c:pt>
                <c:pt idx="17">
                  <c:v>48.65</c:v>
                </c:pt>
                <c:pt idx="18">
                  <c:v>54.325000000000003</c:v>
                </c:pt>
                <c:pt idx="19">
                  <c:v>57.180999999999997</c:v>
                </c:pt>
                <c:pt idx="20">
                  <c:v>60.89</c:v>
                </c:pt>
                <c:pt idx="21">
                  <c:v>65.58</c:v>
                </c:pt>
                <c:pt idx="22">
                  <c:v>66.528999999999996</c:v>
                </c:pt>
                <c:pt idx="23">
                  <c:v>66.341999999999999</c:v>
                </c:pt>
                <c:pt idx="24">
                  <c:v>36.338000000000001</c:v>
                </c:pt>
                <c:pt idx="25">
                  <c:v>36.906999999999996</c:v>
                </c:pt>
                <c:pt idx="26">
                  <c:v>63.116</c:v>
                </c:pt>
                <c:pt idx="27">
                  <c:v>73.355999999999995</c:v>
                </c:pt>
                <c:pt idx="28">
                  <c:v>58.189</c:v>
                </c:pt>
              </c:numCache>
            </c:numRef>
          </c:val>
          <c:smooth val="0"/>
          <c:extLst>
            <c:ext xmlns:c16="http://schemas.microsoft.com/office/drawing/2014/chart" uri="{C3380CC4-5D6E-409C-BE32-E72D297353CC}">
              <c16:uniqueId val="{00000007-152D-47A0-A00B-1B6813DC76EE}"/>
            </c:ext>
          </c:extLst>
        </c:ser>
        <c:ser>
          <c:idx val="6"/>
          <c:order val="6"/>
          <c:tx>
            <c:strRef>
              <c:f>Sheet1!$H$1</c:f>
              <c:strCache>
                <c:ptCount val="1"/>
                <c:pt idx="0">
                  <c:v>Asia</c:v>
                </c:pt>
              </c:strCache>
            </c:strRef>
          </c:tx>
          <c:spPr>
            <a:ln w="34925">
              <a:solidFill>
                <a:srgbClr val="1F3A32"/>
              </a:solidFill>
            </a:ln>
          </c:spPr>
          <c:marker>
            <c:symbol val="none"/>
          </c:marker>
          <c:dLbls>
            <c:dLbl>
              <c:idx val="28"/>
              <c:tx>
                <c:rich>
                  <a:bodyPr/>
                  <a:lstStyle/>
                  <a:p>
                    <a:r>
                      <a:rPr lang="en-US" sz="1200" b="1" i="0">
                        <a:solidFill>
                          <a:srgbClr val="1F3A32"/>
                        </a:solidFill>
                        <a:latin typeface="Calibri"/>
                      </a:rPr>
                      <a:t>Asia</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152D-47A0-A00B-1B6813DC76E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Sheet1!$H$2:$H$30</c:f>
              <c:numCache>
                <c:formatCode>General</c:formatCode>
                <c:ptCount val="29"/>
                <c:pt idx="0">
                  <c:v>0</c:v>
                </c:pt>
                <c:pt idx="1">
                  <c:v>1.0629999999999999</c:v>
                </c:pt>
                <c:pt idx="2">
                  <c:v>0.83899999999999997</c:v>
                </c:pt>
                <c:pt idx="3">
                  <c:v>-1.698</c:v>
                </c:pt>
                <c:pt idx="4">
                  <c:v>-0.20599999999999999</c:v>
                </c:pt>
                <c:pt idx="5">
                  <c:v>5.1189999999999998</c:v>
                </c:pt>
                <c:pt idx="6">
                  <c:v>8.5990000000000002</c:v>
                </c:pt>
                <c:pt idx="7">
                  <c:v>9.66</c:v>
                </c:pt>
                <c:pt idx="8">
                  <c:v>13.356999999999999</c:v>
                </c:pt>
                <c:pt idx="9">
                  <c:v>16.497</c:v>
                </c:pt>
                <c:pt idx="10">
                  <c:v>22.44</c:v>
                </c:pt>
                <c:pt idx="11">
                  <c:v>24.239000000000001</c:v>
                </c:pt>
                <c:pt idx="12">
                  <c:v>30.483000000000001</c:v>
                </c:pt>
                <c:pt idx="13">
                  <c:v>31.356999999999999</c:v>
                </c:pt>
                <c:pt idx="14">
                  <c:v>34.929000000000002</c:v>
                </c:pt>
                <c:pt idx="15">
                  <c:v>36.856999999999999</c:v>
                </c:pt>
                <c:pt idx="16">
                  <c:v>39.533000000000001</c:v>
                </c:pt>
                <c:pt idx="17">
                  <c:v>41.802</c:v>
                </c:pt>
                <c:pt idx="18">
                  <c:v>45.917999999999999</c:v>
                </c:pt>
                <c:pt idx="19">
                  <c:v>47.045000000000002</c:v>
                </c:pt>
                <c:pt idx="20">
                  <c:v>51.984000000000002</c:v>
                </c:pt>
                <c:pt idx="21">
                  <c:v>57.697000000000003</c:v>
                </c:pt>
                <c:pt idx="22">
                  <c:v>59.371000000000002</c:v>
                </c:pt>
                <c:pt idx="23">
                  <c:v>62.53</c:v>
                </c:pt>
                <c:pt idx="24">
                  <c:v>35.359000000000002</c:v>
                </c:pt>
                <c:pt idx="25">
                  <c:v>21.09</c:v>
                </c:pt>
                <c:pt idx="26">
                  <c:v>20.221</c:v>
                </c:pt>
                <c:pt idx="27">
                  <c:v>42.319000000000003</c:v>
                </c:pt>
                <c:pt idx="28">
                  <c:v>68.435000000000002</c:v>
                </c:pt>
              </c:numCache>
            </c:numRef>
          </c:val>
          <c:smooth val="0"/>
          <c:extLst>
            <c:ext xmlns:c16="http://schemas.microsoft.com/office/drawing/2014/chart" uri="{C3380CC4-5D6E-409C-BE32-E72D297353CC}">
              <c16:uniqueId val="{00000009-152D-47A0-A00B-1B6813DC76EE}"/>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low"/>
        <c:spPr>
          <a:ln w="9525">
            <a:solidFill>
              <a:srgbClr val="BDB8AE"/>
            </a:solidFill>
          </a:ln>
        </c:spPr>
        <c:txPr>
          <a:bodyPr/>
          <a:lstStyle/>
          <a:p>
            <a:pPr>
              <a:defRPr sz="1200">
                <a:solidFill>
                  <a:srgbClr val="6F6A62"/>
                </a:solidFill>
                <a:latin typeface="Calibri"/>
              </a:defRPr>
            </a:pPr>
            <a:endParaRPr lang="ko-KR"/>
          </a:p>
        </c:txPr>
        <c:crossAx val="2140495176"/>
        <c:crosses val="autoZero"/>
        <c:auto val="1"/>
        <c:lblAlgn val="ctr"/>
        <c:lblOffset val="100"/>
        <c:tickLblSkip val="4"/>
        <c:tickMarkSkip val="4"/>
        <c:noMultiLvlLbl val="0"/>
      </c:catAx>
      <c:valAx>
        <c:axId val="2140495176"/>
        <c:scaling>
          <c:orientation val="minMax"/>
          <c:max val="80"/>
          <c:min val="-40"/>
        </c:scaling>
        <c:delete val="0"/>
        <c:axPos val="l"/>
        <c:majorGridlines>
          <c:spPr>
            <a:ln w="7620">
              <a:solidFill>
                <a:srgbClr val="D9D5CC"/>
              </a:solidFill>
            </a:ln>
          </c:spPr>
        </c:majorGridlines>
        <c:numFmt formatCode="0" sourceLinked="0"/>
        <c:majorTickMark val="none"/>
        <c:minorTickMark val="none"/>
        <c:tickLblPos val="nextTo"/>
        <c:spPr>
          <a:ln>
            <a:noFill/>
          </a:ln>
        </c:spPr>
        <c:txPr>
          <a:bodyPr/>
          <a:lstStyle/>
          <a:p>
            <a:pPr>
              <a:defRPr sz="1200">
                <a:solidFill>
                  <a:srgbClr val="6F6A62"/>
                </a:solidFill>
                <a:latin typeface="Calibri"/>
              </a:defRPr>
            </a:pPr>
            <a:endParaRPr lang="ko-KR"/>
          </a:p>
        </c:txPr>
        <c:crossAx val="2118791784"/>
        <c:crosses val="autoZero"/>
        <c:crossBetween val="between"/>
        <c:majorUnit val="20"/>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1"/>
        <c:ser>
          <c:idx val="0"/>
          <c:order val="0"/>
          <c:tx>
            <c:strRef>
              <c:f>Sheet1!$B$1</c:f>
              <c:strCache>
                <c:ptCount val="1"/>
                <c:pt idx="0">
                  <c:v>US$ bn</c:v>
                </c:pt>
              </c:strCache>
            </c:strRef>
          </c:tx>
          <c:spPr>
            <a:solidFill>
              <a:srgbClr val="B8862F"/>
            </a:solidFill>
          </c:spPr>
          <c:invertIfNegative val="1"/>
          <c:dLbls>
            <c:dLbl>
              <c:idx val="0"/>
              <c:tx>
                <c:rich>
                  <a:bodyPr/>
                  <a:lstStyle/>
                  <a:p>
                    <a:r>
                      <a:rPr lang="en-US" sz="1100" b="0" i="0">
                        <a:solidFill>
                          <a:srgbClr val="22211F"/>
                        </a:solidFill>
                        <a:latin typeface="Calibri"/>
                      </a:rPr>
                      <a:t>316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8BF-4312-92EA-94B504E97508}"/>
                </c:ext>
              </c:extLst>
            </c:dLbl>
            <c:dLbl>
              <c:idx val="1"/>
              <c:tx>
                <c:rich>
                  <a:bodyPr/>
                  <a:lstStyle/>
                  <a:p>
                    <a:r>
                      <a:rPr lang="en-US" sz="1100" b="0" i="0">
                        <a:solidFill>
                          <a:srgbClr val="22211F"/>
                        </a:solidFill>
                        <a:latin typeface="Calibri"/>
                      </a:rPr>
                      <a:t>334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8BF-4312-92EA-94B504E97508}"/>
                </c:ext>
              </c:extLst>
            </c:dLbl>
            <c:dLbl>
              <c:idx val="2"/>
              <c:tx>
                <c:rich>
                  <a:bodyPr/>
                  <a:lstStyle/>
                  <a:p>
                    <a:r>
                      <a:rPr lang="en-US" sz="1100" b="0" i="0">
                        <a:solidFill>
                          <a:srgbClr val="22211F"/>
                        </a:solidFill>
                        <a:latin typeface="Calibri"/>
                      </a:rPr>
                      <a:t>347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8BF-4312-92EA-94B504E97508}"/>
                </c:ext>
              </c:extLst>
            </c:dLbl>
            <c:dLbl>
              <c:idx val="3"/>
              <c:tx>
                <c:rich>
                  <a:bodyPr/>
                  <a:lstStyle/>
                  <a:p>
                    <a:r>
                      <a:rPr lang="en-US" sz="1100" b="0" i="0">
                        <a:solidFill>
                          <a:srgbClr val="22211F"/>
                        </a:solidFill>
                        <a:latin typeface="Calibri"/>
                      </a:rPr>
                      <a:t>374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8BF-4312-92EA-94B504E97508}"/>
                </c:ext>
              </c:extLst>
            </c:dLbl>
            <c:dLbl>
              <c:idx val="4"/>
              <c:tx>
                <c:rich>
                  <a:bodyPr/>
                  <a:lstStyle/>
                  <a:p>
                    <a:r>
                      <a:rPr lang="en-US" sz="1100" b="0" i="0">
                        <a:solidFill>
                          <a:srgbClr val="22211F"/>
                        </a:solidFill>
                        <a:latin typeface="Calibri"/>
                      </a:rPr>
                      <a:t>375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8BF-4312-92EA-94B504E97508}"/>
                </c:ext>
              </c:extLst>
            </c:dLbl>
            <c:dLbl>
              <c:idx val="5"/>
              <c:tx>
                <c:rich>
                  <a:bodyPr/>
                  <a:lstStyle/>
                  <a:p>
                    <a:r>
                      <a:rPr lang="en-US" sz="1100" b="0" i="0">
                        <a:solidFill>
                          <a:srgbClr val="22211F"/>
                        </a:solidFill>
                        <a:latin typeface="Calibri"/>
                      </a:rPr>
                      <a:t>416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8BF-4312-92EA-94B504E97508}"/>
                </c:ext>
              </c:extLst>
            </c:dLbl>
            <c:dLbl>
              <c:idx val="6"/>
              <c:tx>
                <c:rich>
                  <a:bodyPr/>
                  <a:lstStyle/>
                  <a:p>
                    <a:r>
                      <a:rPr lang="en-US" sz="1100" b="0" i="0">
                        <a:solidFill>
                          <a:srgbClr val="22211F"/>
                        </a:solidFill>
                        <a:latin typeface="Calibri"/>
                      </a:rPr>
                      <a:t>856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98BF-4312-92EA-94B504E97508}"/>
                </c:ext>
              </c:extLst>
            </c:dLbl>
            <c:dLbl>
              <c:idx val="7"/>
              <c:tx>
                <c:rich>
                  <a:bodyPr/>
                  <a:lstStyle/>
                  <a:p>
                    <a:r>
                      <a:rPr lang="en-US" sz="1100" b="0" i="0">
                        <a:solidFill>
                          <a:srgbClr val="22211F"/>
                        </a:solidFill>
                        <a:latin typeface="Calibri"/>
                      </a:rPr>
                      <a:t>2,699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8BF-4312-92EA-94B504E9750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Sheet1!$A$2:$A$9</c:f>
              <c:strCache>
                <c:ptCount val="8"/>
                <c:pt idx="0">
                  <c:v>Türkiye</c:v>
                </c:pt>
                <c:pt idx="1">
                  <c:v>Viet Nam</c:v>
                </c:pt>
                <c:pt idx="2">
                  <c:v>Singapore</c:v>
                </c:pt>
                <c:pt idx="3">
                  <c:v>Hong Kong</c:v>
                </c:pt>
                <c:pt idx="4">
                  <c:v>United States</c:v>
                </c:pt>
                <c:pt idx="5">
                  <c:v>Japan</c:v>
                </c:pt>
                <c:pt idx="6">
                  <c:v>Korea</c:v>
                </c:pt>
                <c:pt idx="7">
                  <c:v>China</c:v>
                </c:pt>
              </c:strCache>
            </c:strRef>
          </c:cat>
          <c:val>
            <c:numRef>
              <c:f>Sheet1!$B$2:$B$9</c:f>
              <c:numCache>
                <c:formatCode>General</c:formatCode>
                <c:ptCount val="8"/>
                <c:pt idx="0">
                  <c:v>315.60000000000002</c:v>
                </c:pt>
                <c:pt idx="1">
                  <c:v>334.5</c:v>
                </c:pt>
                <c:pt idx="2">
                  <c:v>347.2</c:v>
                </c:pt>
                <c:pt idx="3">
                  <c:v>374.2</c:v>
                </c:pt>
                <c:pt idx="4">
                  <c:v>374.6</c:v>
                </c:pt>
                <c:pt idx="5">
                  <c:v>415.7</c:v>
                </c:pt>
                <c:pt idx="6">
                  <c:v>855.9</c:v>
                </c:pt>
                <c:pt idx="7">
                  <c:v>2699.1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98BF-4312-92EA-94B504E97508}"/>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200">
                <a:solidFill>
                  <a:srgbClr val="22211F"/>
                </a:solidFill>
                <a:latin typeface="Calibri"/>
              </a:defRPr>
            </a:pPr>
            <a:endParaRPr lang="ko-KR"/>
          </a:p>
        </c:txPr>
        <c:crossAx val="-2113994440"/>
        <c:crosses val="autoZero"/>
        <c:auto val="1"/>
        <c:lblAlgn val="ctr"/>
        <c:lblOffset val="100"/>
        <c:noMultiLvlLbl val="0"/>
      </c:catAx>
      <c:valAx>
        <c:axId val="-2113994440"/>
        <c:scaling>
          <c:orientation val="minMax"/>
          <c:max val="360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7"/>
          <c:y val="0.05"/>
          <c:w val="0.86"/>
          <c:h val="0.8"/>
        </c:manualLayout>
      </c:layout>
      <c:lineChart>
        <c:grouping val="standard"/>
        <c:varyColors val="0"/>
        <c:ser>
          <c:idx val="0"/>
          <c:order val="0"/>
          <c:tx>
            <c:strRef>
              <c:f>Sheet1!$B$1</c:f>
              <c:strCache>
                <c:ptCount val="1"/>
                <c:pt idx="0">
                  <c:v>Seats</c:v>
                </c:pt>
              </c:strCache>
            </c:strRef>
          </c:tx>
          <c:spPr>
            <a:ln w="34925">
              <a:solidFill>
                <a:srgbClr val="1F3A32"/>
              </a:solidFill>
            </a:ln>
          </c:spPr>
          <c:marker>
            <c:symbol val="none"/>
          </c:marker>
          <c:dPt>
            <c:idx val="24"/>
            <c:marker>
              <c:symbol val="circle"/>
              <c:size val="8"/>
              <c:spPr>
                <a:solidFill>
                  <a:srgbClr val="B8862F"/>
                </a:solidFill>
                <a:ln>
                  <a:solidFill>
                    <a:srgbClr val="B8862F"/>
                  </a:solidFill>
                </a:ln>
              </c:spPr>
            </c:marker>
          </c:dPt>
          <c:dPt>
            <c:idx val="28"/>
            <c:marker>
              <c:symbol val="circle"/>
              <c:size val="8"/>
              <c:spPr>
                <a:solidFill>
                  <a:srgbClr val="1F3A32"/>
                </a:solidFill>
                <a:ln>
                  <a:solidFill>
                    <a:srgbClr val="1F3A32"/>
                  </a:solidFill>
                </a:ln>
              </c:spPr>
            </c:marker>
          </c:dPt>
          <c:dPt>
            <c:idx val="0"/>
            <c:marker>
              <c:symbol val="circle"/>
              <c:size val="8"/>
              <c:spPr>
                <a:solidFill>
                  <a:srgbClr val="6F6A62"/>
                </a:solidFill>
                <a:ln>
                  <a:solidFill>
                    <a:srgbClr val="6F6A62"/>
                  </a:solidFill>
                </a:ln>
              </c:spPr>
            </c:marker>
          </c:dPt>
          <c:dLbls>
            <c:dLbl>
              <c:idx val="0"/>
              <c:tx>
                <c:rich>
                  <a:bodyPr/>
                  <a:lstStyle/>
                  <a:p>
                    <a:r>
                      <a:rPr sz="1250" b="0" i="0" lang="en-US">
                        <a:solidFill>
                          <a:srgbClr val="6F6A62"/>
                        </a:solidFill>
                        <a:latin typeface="Calibri"/>
                      </a:rPr>
                      <a:t>1996: 54</a:t>
                    </a:r>
                  </a:p>
                </c:rich>
              </c:tx>
              <c:dLblPos val="t"/>
              <c:showLegendKey val="0"/>
              <c:showVal val="1"/>
              <c:showCatName val="0"/>
              <c:showSerName val="0"/>
              <c:showPercent val="0"/>
              <c:showBubbleSize val="0"/>
            </c:dLbl>
            <c:dLbl>
              <c:idx val="24"/>
              <c:tx>
                <c:rich>
                  <a:bodyPr/>
                  <a:lstStyle/>
                  <a:p>
                    <a:r>
                      <a:rPr sz="1250" b="1" i="0" lang="en-US">
                        <a:solidFill>
                          <a:srgbClr val="B8862F"/>
                        </a:solidFill>
                        <a:latin typeface="Calibri"/>
                      </a:rPr>
                      <a:t>2020: −44%</a:t>
                    </a:r>
                  </a:p>
                </c:rich>
              </c:tx>
              <c:dLblPos val="b"/>
              <c:showLegendKey val="0"/>
              <c:showVal val="1"/>
              <c:showCatName val="0"/>
              <c:showSerName val="0"/>
              <c:showPercent val="0"/>
              <c:showBubbleSize val="0"/>
            </c:dLbl>
            <c:dLbl>
              <c:idx val="28"/>
              <c:tx>
                <c:rich>
                  <a:bodyPr/>
                  <a:lstStyle/>
                  <a:p>
                    <a:r>
                      <a:rPr sz="1250" b="0" i="0" lang="en-US">
                        <a:solidFill>
                          <a:srgbClr val="1F3A32"/>
                        </a:solidFill>
                        <a:latin typeface="Calibri"/>
                      </a:rPr>
                      <a:t>2024: 98</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Sheet1!$B$2:$B$30</c:f>
              <c:numCache>
                <c:formatCode>General</c:formatCode>
                <c:ptCount val="29"/>
                <c:pt idx="0">
                  <c:v>54.0</c:v>
                </c:pt>
                <c:pt idx="1">
                  <c:v>54.3</c:v>
                </c:pt>
                <c:pt idx="2">
                  <c:v>53.9</c:v>
                </c:pt>
                <c:pt idx="3">
                  <c:v>55.0</c:v>
                </c:pt>
                <c:pt idx="4">
                  <c:v>56.8</c:v>
                </c:pt>
                <c:pt idx="5">
                  <c:v>56.4</c:v>
                </c:pt>
                <c:pt idx="6">
                  <c:v>53.9</c:v>
                </c:pt>
                <c:pt idx="7">
                  <c:v>53.4</c:v>
                </c:pt>
                <c:pt idx="8">
                  <c:v>56.9</c:v>
                </c:pt>
                <c:pt idx="9">
                  <c:v>59.4</c:v>
                </c:pt>
                <c:pt idx="10">
                  <c:v>60.4</c:v>
                </c:pt>
                <c:pt idx="11">
                  <c:v>63.8</c:v>
                </c:pt>
                <c:pt idx="12">
                  <c:v>64.8</c:v>
                </c:pt>
                <c:pt idx="13">
                  <c:v>63.7</c:v>
                </c:pt>
                <c:pt idx="14">
                  <c:v>68.1</c:v>
                </c:pt>
                <c:pt idx="15">
                  <c:v>71.8</c:v>
                </c:pt>
                <c:pt idx="16">
                  <c:v>72.9</c:v>
                </c:pt>
                <c:pt idx="17">
                  <c:v>75.9</c:v>
                </c:pt>
                <c:pt idx="18">
                  <c:v>78.8</c:v>
                </c:pt>
                <c:pt idx="19">
                  <c:v>82.9</c:v>
                </c:pt>
                <c:pt idx="20">
                  <c:v>87.1</c:v>
                </c:pt>
                <c:pt idx="21">
                  <c:v>92.7</c:v>
                </c:pt>
                <c:pt idx="22">
                  <c:v>97.8</c:v>
                </c:pt>
                <c:pt idx="23">
                  <c:v>100.0</c:v>
                </c:pt>
                <c:pt idx="24">
                  <c:v>55.9</c:v>
                </c:pt>
                <c:pt idx="25">
                  <c:v>63.1</c:v>
                </c:pt>
                <c:pt idx="26">
                  <c:v>80.7</c:v>
                </c:pt>
                <c:pt idx="27">
                  <c:v>94.1</c:v>
                </c:pt>
                <c:pt idx="28">
                  <c:v>98.5</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BDB8AE"/>
            </a:solidFill>
          </a:ln>
        </c:spPr>
        <c:txPr>
          <a:bodyPr/>
          <a:lstStyle/>
          <a:p>
            <a:pPr>
              <a:defRPr sz="1200">
                <a:solidFill>
                  <a:srgbClr val="6F6A62"/>
                </a:solidFill>
                <a:latin typeface="Calibri"/>
              </a:defRPr>
            </a:pPr>
          </a:p>
        </c:txPr>
        <c:crossAx val="2140495176"/>
        <c:crosses val="autoZero"/>
        <c:auto val="1"/>
        <c:lblAlgn val="ctr"/>
        <c:lblOffset val="100"/>
        <c:tickLblSkip val="4"/>
        <c:noMultiLvlLbl val="0"/>
      </c:catAx>
      <c:valAx>
        <c:axId val="2140495176"/>
        <c:scaling>
          <c:max val="120.0"/>
          <c:min val="0.0"/>
        </c:scaling>
        <c:delete val="0"/>
        <c:axPos val="l"/>
        <c:majorGridlines>
          <c:spPr>
            <a:ln w="7620">
              <a:solidFill>
                <a:srgbClr val="D9D5CC"/>
              </a:solidFill>
            </a:ln>
          </c:spPr>
        </c:majorGridlines>
        <c:numFmt formatCode="0" sourceLinked="0"/>
        <c:majorTickMark val="none"/>
        <c:minorTickMark val="none"/>
        <c:tickLblPos val="nextTo"/>
        <c:spPr>
          <a:ln>
            <a:noFill/>
          </a:ln>
        </c:spPr>
        <c:txPr>
          <a:bodyPr/>
          <a:lstStyle/>
          <a:p>
            <a:pPr>
              <a:defRPr sz="1200">
                <a:solidFill>
                  <a:srgbClr val="6F6A62"/>
                </a:solidFill>
                <a:latin typeface="Calibri"/>
              </a:defRPr>
            </a:pPr>
          </a:p>
        </c:txPr>
        <c:crossAx val="2118791784"/>
        <c:crosses val="autoZero"/>
        <c:majorUnit val="40.0"/>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75"/>
          <c:y val="0.03"/>
          <c:w val="0.8"/>
          <c:h val="0.86"/>
        </c:manualLayout>
      </c:layout>
      <c:lineChart>
        <c:grouping val="standard"/>
        <c:varyColors val="0"/>
        <c:ser>
          <c:idx val="0"/>
          <c:order val="0"/>
          <c:tx>
            <c:strRef>
              <c:f>Sheet1!$B$1</c:f>
              <c:strCache>
                <c:ptCount val="1"/>
                <c:pt idx="0">
                  <c:v>NRT</c:v>
                </c:pt>
              </c:strCache>
            </c:strRef>
          </c:tx>
          <c:spPr>
            <a:ln w="19050">
              <a:solidFill>
                <a:srgbClr val="BDB8AE"/>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Sheet1!$B$2:$B$30</c:f>
              <c:numCache>
                <c:formatCode>General</c:formatCode>
                <c:ptCount val="29"/>
                <c:pt idx="0">
                  <c:v>40</c:v>
                </c:pt>
                <c:pt idx="1">
                  <c:v>36</c:v>
                </c:pt>
                <c:pt idx="2">
                  <c:v>34</c:v>
                </c:pt>
                <c:pt idx="3">
                  <c:v>29</c:v>
                </c:pt>
                <c:pt idx="4">
                  <c:v>31</c:v>
                </c:pt>
                <c:pt idx="5">
                  <c:v>32</c:v>
                </c:pt>
                <c:pt idx="6">
                  <c:v>22</c:v>
                </c:pt>
                <c:pt idx="7">
                  <c:v>21</c:v>
                </c:pt>
                <c:pt idx="8">
                  <c:v>27</c:v>
                </c:pt>
                <c:pt idx="9">
                  <c:v>30</c:v>
                </c:pt>
                <c:pt idx="10">
                  <c:v>27</c:v>
                </c:pt>
                <c:pt idx="11">
                  <c:v>27</c:v>
                </c:pt>
                <c:pt idx="12">
                  <c:v>23</c:v>
                </c:pt>
                <c:pt idx="13">
                  <c:v>23</c:v>
                </c:pt>
                <c:pt idx="14">
                  <c:v>22</c:v>
                </c:pt>
                <c:pt idx="15">
                  <c:v>36</c:v>
                </c:pt>
                <c:pt idx="16">
                  <c:v>35</c:v>
                </c:pt>
                <c:pt idx="17">
                  <c:v>34</c:v>
                </c:pt>
                <c:pt idx="18">
                  <c:v>27</c:v>
                </c:pt>
                <c:pt idx="19">
                  <c:v>30</c:v>
                </c:pt>
                <c:pt idx="20">
                  <c:v>23</c:v>
                </c:pt>
                <c:pt idx="21">
                  <c:v>23</c:v>
                </c:pt>
                <c:pt idx="22">
                  <c:v>23</c:v>
                </c:pt>
                <c:pt idx="23">
                  <c:v>22</c:v>
                </c:pt>
                <c:pt idx="24">
                  <c:v>40</c:v>
                </c:pt>
                <c:pt idx="25">
                  <c:v>47</c:v>
                </c:pt>
                <c:pt idx="26">
                  <c:v>44</c:v>
                </c:pt>
                <c:pt idx="27">
                  <c:v>32</c:v>
                </c:pt>
                <c:pt idx="28">
                  <c:v>33</c:v>
                </c:pt>
              </c:numCache>
            </c:numRef>
          </c:val>
          <c:smooth val="0"/>
        </c:ser>
        <c:ser>
          <c:idx val="1"/>
          <c:order val="1"/>
          <c:tx>
            <c:strRef>
              <c:f>Sheet1!$C$1</c:f>
              <c:strCache>
                <c:ptCount val="1"/>
                <c:pt idx="0">
                  <c:v>KIX</c:v>
                </c:pt>
              </c:strCache>
            </c:strRef>
          </c:tx>
          <c:spPr>
            <a:ln w="19050">
              <a:solidFill>
                <a:srgbClr val="BDB8AE"/>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Sheet1!$C$2:$C$30</c:f>
              <c:numCache>
                <c:formatCode>General</c:formatCode>
                <c:ptCount val="29"/>
                <c:pt idx="0">
                  <c:v>41</c:v>
                </c:pt>
                <c:pt idx="1">
                  <c:v>35</c:v>
                </c:pt>
                <c:pt idx="2">
                  <c:v>37</c:v>
                </c:pt>
                <c:pt idx="3">
                  <c:v>36</c:v>
                </c:pt>
                <c:pt idx="4">
                  <c:v>36</c:v>
                </c:pt>
                <c:pt idx="5">
                  <c:v>41</c:v>
                </c:pt>
                <c:pt idx="6">
                  <c:v>45</c:v>
                </c:pt>
                <c:pt idx="7">
                  <c:v>57</c:v>
                </c:pt>
                <c:pt idx="8">
                  <c:v>57</c:v>
                </c:pt>
                <c:pt idx="9">
                  <c:v>60</c:v>
                </c:pt>
                <c:pt idx="10">
                  <c:v>53</c:v>
                </c:pt>
                <c:pt idx="11">
                  <c:v>68</c:v>
                </c:pt>
                <c:pt idx="12">
                  <c:v>56</c:v>
                </c:pt>
                <c:pt idx="13">
                  <c:v>73</c:v>
                </c:pt>
                <c:pt idx="14">
                  <c:v>91</c:v>
                </c:pt>
                <c:pt idx="15">
                  <c:v>99</c:v>
                </c:pt>
                <c:pt idx="16">
                  <c:v>104</c:v>
                </c:pt>
                <c:pt idx="17">
                  <c:v>100</c:v>
                </c:pt>
                <c:pt idx="18">
                  <c:v>96</c:v>
                </c:pt>
                <c:pt idx="19">
                  <c:v>92</c:v>
                </c:pt>
                <c:pt idx="20">
                  <c:v>68</c:v>
                </c:pt>
                <c:pt idx="21">
                  <c:v>67</c:v>
                </c:pt>
                <c:pt idx="22">
                  <c:v>88</c:v>
                </c:pt>
                <c:pt idx="23">
                  <c:v>74</c:v>
                </c:pt>
                <c:pt idx="24">
                  <c:v>122</c:v>
                </c:pt>
                <c:pt idx="25">
                  <c:v>188</c:v>
                </c:pt>
                <c:pt idx="26">
                  <c:v>168</c:v>
                </c:pt>
                <c:pt idx="27">
                  <c:v>117</c:v>
                </c:pt>
                <c:pt idx="28">
                  <c:v>88</c:v>
                </c:pt>
              </c:numCache>
            </c:numRef>
          </c:val>
          <c:smooth val="0"/>
        </c:ser>
        <c:ser>
          <c:idx val="2"/>
          <c:order val="2"/>
          <c:tx>
            <c:strRef>
              <c:f>Sheet1!$D$1</c:f>
              <c:strCache>
                <c:ptCount val="1"/>
                <c:pt idx="0">
                  <c:v>HKG</c:v>
                </c:pt>
              </c:strCache>
            </c:strRef>
          </c:tx>
          <c:spPr>
            <a:ln w="19050">
              <a:solidFill>
                <a:srgbClr val="BDB8AE"/>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Sheet1!$D$2:$D$30</c:f>
              <c:numCache>
                <c:formatCode>General</c:formatCode>
                <c:ptCount val="29"/>
                <c:pt idx="0">
                  <c:v>28</c:v>
                </c:pt>
                <c:pt idx="1">
                  <c:v>29</c:v>
                </c:pt>
                <c:pt idx="2">
                  <c:v>25</c:v>
                </c:pt>
                <c:pt idx="3">
                  <c:v>34</c:v>
                </c:pt>
                <c:pt idx="4">
                  <c:v>38</c:v>
                </c:pt>
                <c:pt idx="5">
                  <c:v>27</c:v>
                </c:pt>
                <c:pt idx="6">
                  <c:v>23</c:v>
                </c:pt>
                <c:pt idx="7">
                  <c:v>24</c:v>
                </c:pt>
                <c:pt idx="8">
                  <c:v>29</c:v>
                </c:pt>
                <c:pt idx="9">
                  <c:v>26</c:v>
                </c:pt>
                <c:pt idx="10">
                  <c:v>18</c:v>
                </c:pt>
                <c:pt idx="11">
                  <c:v>14</c:v>
                </c:pt>
                <c:pt idx="12">
                  <c:v>12</c:v>
                </c:pt>
                <c:pt idx="13">
                  <c:v>17</c:v>
                </c:pt>
                <c:pt idx="14">
                  <c:v>14</c:v>
                </c:pt>
                <c:pt idx="15">
                  <c:v>18</c:v>
                </c:pt>
                <c:pt idx="16">
                  <c:v>18</c:v>
                </c:pt>
                <c:pt idx="17">
                  <c:v>16</c:v>
                </c:pt>
                <c:pt idx="18">
                  <c:v>14</c:v>
                </c:pt>
                <c:pt idx="19">
                  <c:v>12</c:v>
                </c:pt>
                <c:pt idx="20">
                  <c:v>13</c:v>
                </c:pt>
                <c:pt idx="21">
                  <c:v>12</c:v>
                </c:pt>
                <c:pt idx="22">
                  <c:v>11</c:v>
                </c:pt>
                <c:pt idx="23">
                  <c:v>15</c:v>
                </c:pt>
                <c:pt idx="24">
                  <c:v>43</c:v>
                </c:pt>
                <c:pt idx="25">
                  <c:v>59</c:v>
                </c:pt>
                <c:pt idx="26">
                  <c:v>57</c:v>
                </c:pt>
                <c:pt idx="27">
                  <c:v>51</c:v>
                </c:pt>
                <c:pt idx="28">
                  <c:v>24</c:v>
                </c:pt>
              </c:numCache>
            </c:numRef>
          </c:val>
          <c:smooth val="0"/>
        </c:ser>
        <c:ser>
          <c:idx val="3"/>
          <c:order val="3"/>
          <c:tx>
            <c:strRef>
              <c:f>Sheet1!$E$1</c:f>
              <c:strCache>
                <c:ptCount val="1"/>
                <c:pt idx="0">
                  <c:v>TPE</c:v>
                </c:pt>
              </c:strCache>
            </c:strRef>
          </c:tx>
          <c:spPr>
            <a:ln w="19050">
              <a:solidFill>
                <a:srgbClr val="BDB8AE"/>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Sheet1!$E$2:$E$30</c:f>
              <c:numCache>
                <c:formatCode>General</c:formatCode>
                <c:ptCount val="29"/>
                <c:pt idx="0">
                  <c:v>80</c:v>
                </c:pt>
                <c:pt idx="1">
                  <c:v>81</c:v>
                </c:pt>
                <c:pt idx="2">
                  <c:v>67</c:v>
                </c:pt>
                <c:pt idx="3">
                  <c:v>74</c:v>
                </c:pt>
                <c:pt idx="4">
                  <c:v>80</c:v>
                </c:pt>
                <c:pt idx="5">
                  <c:v>76</c:v>
                </c:pt>
                <c:pt idx="6">
                  <c:v>62</c:v>
                </c:pt>
                <c:pt idx="7">
                  <c:v>72</c:v>
                </c:pt>
                <c:pt idx="8">
                  <c:v>72</c:v>
                </c:pt>
                <c:pt idx="9">
                  <c:v>76</c:v>
                </c:pt>
                <c:pt idx="10">
                  <c:v>69</c:v>
                </c:pt>
                <c:pt idx="11">
                  <c:v>74</c:v>
                </c:pt>
                <c:pt idx="12">
                  <c:v>74</c:v>
                </c:pt>
                <c:pt idx="13">
                  <c:v>61</c:v>
                </c:pt>
                <c:pt idx="14">
                  <c:v>54</c:v>
                </c:pt>
                <c:pt idx="15">
                  <c:v>61</c:v>
                </c:pt>
                <c:pt idx="16">
                  <c:v>53</c:v>
                </c:pt>
                <c:pt idx="17">
                  <c:v>53</c:v>
                </c:pt>
                <c:pt idx="18">
                  <c:v>50</c:v>
                </c:pt>
                <c:pt idx="19">
                  <c:v>48</c:v>
                </c:pt>
                <c:pt idx="20">
                  <c:v>44</c:v>
                </c:pt>
                <c:pt idx="21">
                  <c:v>40</c:v>
                </c:pt>
                <c:pt idx="22">
                  <c:v>39</c:v>
                </c:pt>
                <c:pt idx="23">
                  <c:v>45</c:v>
                </c:pt>
                <c:pt idx="24">
                  <c:v>77</c:v>
                </c:pt>
                <c:pt idx="25">
                  <c:v>117</c:v>
                </c:pt>
                <c:pt idx="26">
                  <c:v>119</c:v>
                </c:pt>
                <c:pt idx="27">
                  <c:v>71</c:v>
                </c:pt>
                <c:pt idx="28">
                  <c:v>54</c:v>
                </c:pt>
              </c:numCache>
            </c:numRef>
          </c:val>
          <c:smooth val="0"/>
        </c:ser>
        <c:ser>
          <c:idx val="4"/>
          <c:order val="4"/>
          <c:tx>
            <c:strRef>
              <c:f>Sheet1!$F$1</c:f>
              <c:strCache>
                <c:ptCount val="1"/>
                <c:pt idx="0">
                  <c:v>PEK</c:v>
                </c:pt>
              </c:strCache>
            </c:strRef>
          </c:tx>
          <c:spPr>
            <a:ln w="28575">
              <a:solidFill>
                <a:srgbClr val="1F3A32"/>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Sheet1!$F$2:$F$30</c:f>
              <c:numCache>
                <c:formatCode>General</c:formatCode>
                <c:ptCount val="29"/>
                <c:pt idx="0">
                  <c:v>47</c:v>
                </c:pt>
                <c:pt idx="1">
                  <c:v>45</c:v>
                </c:pt>
                <c:pt idx="2">
                  <c:v>40</c:v>
                </c:pt>
                <c:pt idx="3">
                  <c:v>44</c:v>
                </c:pt>
                <c:pt idx="4">
                  <c:v>43</c:v>
                </c:pt>
                <c:pt idx="5">
                  <c:v>37</c:v>
                </c:pt>
                <c:pt idx="6">
                  <c:v>29</c:v>
                </c:pt>
                <c:pt idx="7">
                  <c:v>30</c:v>
                </c:pt>
                <c:pt idx="8">
                  <c:v>30</c:v>
                </c:pt>
                <c:pt idx="9">
                  <c:v>27</c:v>
                </c:pt>
                <c:pt idx="10">
                  <c:v>19</c:v>
                </c:pt>
                <c:pt idx="11">
                  <c:v>12</c:v>
                </c:pt>
                <c:pt idx="12">
                  <c:v>7</c:v>
                </c:pt>
                <c:pt idx="13">
                  <c:v>7</c:v>
                </c:pt>
                <c:pt idx="14">
                  <c:v>5</c:v>
                </c:pt>
                <c:pt idx="15">
                  <c:v>6</c:v>
                </c:pt>
                <c:pt idx="16">
                  <c:v>4</c:v>
                </c:pt>
                <c:pt idx="17">
                  <c:v>3</c:v>
                </c:pt>
                <c:pt idx="18">
                  <c:v>4</c:v>
                </c:pt>
                <c:pt idx="19">
                  <c:v>1</c:v>
                </c:pt>
                <c:pt idx="20">
                  <c:v>1</c:v>
                </c:pt>
                <c:pt idx="21">
                  <c:v>1</c:v>
                </c:pt>
                <c:pt idx="22">
                  <c:v>1</c:v>
                </c:pt>
                <c:pt idx="23">
                  <c:v>1</c:v>
                </c:pt>
                <c:pt idx="24">
                  <c:v>1</c:v>
                </c:pt>
                <c:pt idx="25">
                  <c:v>2</c:v>
                </c:pt>
                <c:pt idx="26">
                  <c:v>46</c:v>
                </c:pt>
                <c:pt idx="27">
                  <c:v>22</c:v>
                </c:pt>
                <c:pt idx="28">
                  <c:v>9</c:v>
                </c:pt>
              </c:numCache>
            </c:numRef>
          </c:val>
          <c:smooth val="0"/>
        </c:ser>
        <c:ser>
          <c:idx val="5"/>
          <c:order val="5"/>
          <c:tx>
            <c:strRef>
              <c:f>Sheet1!$G$1</c:f>
              <c:strCache>
                <c:ptCount val="1"/>
                <c:pt idx="0">
                  <c:v>CAN</c:v>
                </c:pt>
              </c:strCache>
            </c:strRef>
          </c:tx>
          <c:spPr>
            <a:ln w="28575">
              <a:solidFill>
                <a:srgbClr val="1F3A32"/>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Sheet1!$G$2:$G$30</c:f>
              <c:numCache>
                <c:formatCode>General</c:formatCode>
                <c:ptCount val="29"/>
                <c:pt idx="0">
                  <c:v>155</c:v>
                </c:pt>
                <c:pt idx="1">
                  <c:v>122</c:v>
                </c:pt>
                <c:pt idx="2">
                  <c:v>118</c:v>
                </c:pt>
                <c:pt idx="3">
                  <c:v>115</c:v>
                </c:pt>
                <c:pt idx="4">
                  <c:v>118</c:v>
                </c:pt>
                <c:pt idx="5">
                  <c:v>115</c:v>
                </c:pt>
                <c:pt idx="6">
                  <c:v>115</c:v>
                </c:pt>
                <c:pt idx="7">
                  <c:v>100</c:v>
                </c:pt>
                <c:pt idx="8">
                  <c:v>85</c:v>
                </c:pt>
                <c:pt idx="9">
                  <c:v>66</c:v>
                </c:pt>
                <c:pt idx="10">
                  <c:v>61</c:v>
                </c:pt>
                <c:pt idx="11">
                  <c:v>54</c:v>
                </c:pt>
                <c:pt idx="12">
                  <c:v>49</c:v>
                </c:pt>
                <c:pt idx="13">
                  <c:v>40</c:v>
                </c:pt>
                <c:pt idx="14">
                  <c:v>38</c:v>
                </c:pt>
                <c:pt idx="15">
                  <c:v>35</c:v>
                </c:pt>
                <c:pt idx="16">
                  <c:v>39</c:v>
                </c:pt>
                <c:pt idx="17">
                  <c:v>30</c:v>
                </c:pt>
                <c:pt idx="18">
                  <c:v>22</c:v>
                </c:pt>
                <c:pt idx="19">
                  <c:v>22</c:v>
                </c:pt>
                <c:pt idx="20">
                  <c:v>18</c:v>
                </c:pt>
                <c:pt idx="21">
                  <c:v>16</c:v>
                </c:pt>
                <c:pt idx="22">
                  <c:v>16</c:v>
                </c:pt>
                <c:pt idx="23">
                  <c:v>13</c:v>
                </c:pt>
                <c:pt idx="24">
                  <c:v>2</c:v>
                </c:pt>
                <c:pt idx="25">
                  <c:v>1</c:v>
                </c:pt>
                <c:pt idx="26">
                  <c:v>20</c:v>
                </c:pt>
                <c:pt idx="27">
                  <c:v>20</c:v>
                </c:pt>
                <c:pt idx="28">
                  <c:v>10</c:v>
                </c:pt>
              </c:numCache>
            </c:numRef>
          </c:val>
          <c:smooth val="0"/>
        </c:ser>
        <c:ser>
          <c:idx val="6"/>
          <c:order val="6"/>
          <c:tx>
            <c:strRef>
              <c:f>Sheet1!$H$1</c:f>
              <c:strCache>
                <c:ptCount val="1"/>
                <c:pt idx="0">
                  <c:v>PVG</c:v>
                </c:pt>
              </c:strCache>
            </c:strRef>
          </c:tx>
          <c:spPr>
            <a:ln w="28575">
              <a:solidFill>
                <a:srgbClr val="1F3A32"/>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Sheet1!$H$2:$H$30</c:f>
              <c:numCache>
                <c:formatCode>General</c:formatCode>
                <c:ptCount val="29"/>
                <c:pt idx="3">
                  <c:v>341</c:v>
                </c:pt>
                <c:pt idx="4">
                  <c:v>108</c:v>
                </c:pt>
                <c:pt idx="5">
                  <c:v>102</c:v>
                </c:pt>
                <c:pt idx="6">
                  <c:v>68</c:v>
                </c:pt>
                <c:pt idx="7">
                  <c:v>61</c:v>
                </c:pt>
                <c:pt idx="8">
                  <c:v>55</c:v>
                </c:pt>
                <c:pt idx="9">
                  <c:v>49</c:v>
                </c:pt>
                <c:pt idx="10">
                  <c:v>46</c:v>
                </c:pt>
                <c:pt idx="11">
                  <c:v>43</c:v>
                </c:pt>
                <c:pt idx="12">
                  <c:v>38</c:v>
                </c:pt>
                <c:pt idx="13">
                  <c:v>35</c:v>
                </c:pt>
                <c:pt idx="14">
                  <c:v>28</c:v>
                </c:pt>
                <c:pt idx="15">
                  <c:v>23</c:v>
                </c:pt>
                <c:pt idx="16">
                  <c:v>21</c:v>
                </c:pt>
                <c:pt idx="17">
                  <c:v>22</c:v>
                </c:pt>
                <c:pt idx="18">
                  <c:v>12</c:v>
                </c:pt>
                <c:pt idx="19">
                  <c:v>9</c:v>
                </c:pt>
                <c:pt idx="20">
                  <c:v>8</c:v>
                </c:pt>
                <c:pt idx="21">
                  <c:v>7</c:v>
                </c:pt>
                <c:pt idx="22">
                  <c:v>5</c:v>
                </c:pt>
                <c:pt idx="23">
                  <c:v>6</c:v>
                </c:pt>
                <c:pt idx="24">
                  <c:v>3</c:v>
                </c:pt>
                <c:pt idx="25">
                  <c:v>9</c:v>
                </c:pt>
                <c:pt idx="26">
                  <c:v>33</c:v>
                </c:pt>
                <c:pt idx="27">
                  <c:v>14</c:v>
                </c:pt>
                <c:pt idx="28">
                  <c:v>5</c:v>
                </c:pt>
              </c:numCache>
            </c:numRef>
          </c:val>
          <c:smooth val="0"/>
        </c:ser>
        <c:ser>
          <c:idx val="7"/>
          <c:order val="7"/>
          <c:tx>
            <c:strRef>
              <c:f>Sheet1!$I$1</c:f>
              <c:strCache>
                <c:ptCount val="1"/>
                <c:pt idx="0">
                  <c:v>HND</c:v>
                </c:pt>
              </c:strCache>
            </c:strRef>
          </c:tx>
          <c:spPr>
            <a:ln w="34925">
              <a:solidFill>
                <a:srgbClr val="B8862F"/>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Sheet1!$I$2:$I$30</c:f>
              <c:numCache>
                <c:formatCode>General</c:formatCode>
                <c:ptCount val="29"/>
                <c:pt idx="0">
                  <c:v>151</c:v>
                </c:pt>
                <c:pt idx="1">
                  <c:v>156</c:v>
                </c:pt>
                <c:pt idx="2">
                  <c:v>138</c:v>
                </c:pt>
                <c:pt idx="3">
                  <c:v>127</c:v>
                </c:pt>
                <c:pt idx="4">
                  <c:v>115</c:v>
                </c:pt>
                <c:pt idx="5">
                  <c:v>119</c:v>
                </c:pt>
                <c:pt idx="6">
                  <c:v>112</c:v>
                </c:pt>
                <c:pt idx="7">
                  <c:v>129</c:v>
                </c:pt>
                <c:pt idx="8">
                  <c:v>132</c:v>
                </c:pt>
                <c:pt idx="9">
                  <c:v>126</c:v>
                </c:pt>
                <c:pt idx="10">
                  <c:v>113</c:v>
                </c:pt>
                <c:pt idx="11">
                  <c:v>127</c:v>
                </c:pt>
                <c:pt idx="12">
                  <c:v>103</c:v>
                </c:pt>
                <c:pt idx="13">
                  <c:v>100</c:v>
                </c:pt>
                <c:pt idx="14">
                  <c:v>80</c:v>
                </c:pt>
                <c:pt idx="15">
                  <c:v>58</c:v>
                </c:pt>
                <c:pt idx="16">
                  <c:v>62</c:v>
                </c:pt>
                <c:pt idx="17">
                  <c:v>52</c:v>
                </c:pt>
                <c:pt idx="18">
                  <c:v>53</c:v>
                </c:pt>
                <c:pt idx="19">
                  <c:v>53</c:v>
                </c:pt>
                <c:pt idx="20">
                  <c:v>47</c:v>
                </c:pt>
                <c:pt idx="21">
                  <c:v>52</c:v>
                </c:pt>
                <c:pt idx="22">
                  <c:v>58</c:v>
                </c:pt>
                <c:pt idx="23">
                  <c:v>53</c:v>
                </c:pt>
                <c:pt idx="24">
                  <c:v>59</c:v>
                </c:pt>
                <c:pt idx="25">
                  <c:v>41</c:v>
                </c:pt>
                <c:pt idx="26">
                  <c:v>29</c:v>
                </c:pt>
                <c:pt idx="27">
                  <c:v>29</c:v>
                </c:pt>
                <c:pt idx="28">
                  <c:v>31</c:v>
                </c:pt>
              </c:numCache>
            </c:numRef>
          </c:val>
          <c:smooth val="0"/>
        </c:ser>
        <c:ser>
          <c:idx val="8"/>
          <c:order val="8"/>
          <c:tx>
            <c:strRef>
              <c:f>Sheet1!$J$1</c:f>
              <c:strCache>
                <c:ptCount val="1"/>
                <c:pt idx="0">
                  <c:v>ICN</c:v>
                </c:pt>
              </c:strCache>
            </c:strRef>
          </c:tx>
          <c:spPr>
            <a:ln w="34925">
              <a:solidFill>
                <a:srgbClr val="B8862F"/>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Sheet1!$J$2:$J$30</c:f>
              <c:numCache>
                <c:formatCode>General</c:formatCode>
                <c:ptCount val="29"/>
                <c:pt idx="5">
                  <c:v>42</c:v>
                </c:pt>
                <c:pt idx="6">
                  <c:v>35</c:v>
                </c:pt>
                <c:pt idx="7">
                  <c:v>27</c:v>
                </c:pt>
                <c:pt idx="8">
                  <c:v>25</c:v>
                </c:pt>
                <c:pt idx="9">
                  <c:v>31</c:v>
                </c:pt>
                <c:pt idx="10">
                  <c:v>24</c:v>
                </c:pt>
                <c:pt idx="11">
                  <c:v>26</c:v>
                </c:pt>
                <c:pt idx="12">
                  <c:v>19</c:v>
                </c:pt>
                <c:pt idx="13">
                  <c:v>21</c:v>
                </c:pt>
                <c:pt idx="14">
                  <c:v>21</c:v>
                </c:pt>
                <c:pt idx="15">
                  <c:v>25</c:v>
                </c:pt>
                <c:pt idx="16">
                  <c:v>19</c:v>
                </c:pt>
                <c:pt idx="17">
                  <c:v>18</c:v>
                </c:pt>
                <c:pt idx="18">
                  <c:v>17</c:v>
                </c:pt>
                <c:pt idx="19">
                  <c:v>19</c:v>
                </c:pt>
                <c:pt idx="20">
                  <c:v>17</c:v>
                </c:pt>
                <c:pt idx="21">
                  <c:v>21</c:v>
                </c:pt>
                <c:pt idx="22">
                  <c:v>17</c:v>
                </c:pt>
                <c:pt idx="23">
                  <c:v>18</c:v>
                </c:pt>
                <c:pt idx="24">
                  <c:v>30</c:v>
                </c:pt>
                <c:pt idx="25">
                  <c:v>42</c:v>
                </c:pt>
                <c:pt idx="26">
                  <c:v>54</c:v>
                </c:pt>
                <c:pt idx="27">
                  <c:v>24</c:v>
                </c:pt>
                <c:pt idx="28">
                  <c:v>15</c:v>
                </c:pt>
              </c:numCache>
            </c:numRef>
          </c:val>
          <c:smooth val="0"/>
        </c:ser>
        <c:marker val="1"/>
        <c:smooth val="0"/>
        <c:axId val="2118791784"/>
        <c:axId val="2140495176"/>
      </c:lineChart>
      <c:catAx>
        <c:axId val="2118791784"/>
        <c:scaling>
          <c:orientation val="minMax"/>
        </c:scaling>
        <c:delete val="0"/>
        <c:axPos val="b"/>
        <c:majorTickMark val="none"/>
        <c:minorTickMark val="none"/>
        <c:tickLblPos val="high"/>
        <c:spPr>
          <a:ln w="9525">
            <a:solidFill>
              <a:srgbClr val="BDB8AE"/>
            </a:solidFill>
          </a:ln>
        </c:spPr>
        <c:txPr>
          <a:bodyPr/>
          <a:lstStyle/>
          <a:p>
            <a:pPr>
              <a:defRPr sz="1200">
                <a:solidFill>
                  <a:srgbClr val="22211F"/>
                </a:solidFill>
                <a:latin typeface="Calibri"/>
              </a:defRPr>
            </a:pPr>
          </a:p>
        </c:txPr>
        <c:crossAx val="2140495176"/>
        <c:crosses val="max"/>
        <c:auto val="1"/>
        <c:lblAlgn val="ctr"/>
        <c:lblOffset val="100"/>
        <c:tickLblSkip val="4"/>
        <c:noMultiLvlLbl val="0"/>
      </c:catAx>
      <c:valAx>
        <c:axId val="2140495176"/>
        <c:scaling>
          <c:logBase val="10"/>
          <c:orientation val="maxMin"/>
          <c:max val="400.0"/>
          <c:min val="1.0"/>
        </c:scaling>
        <c:delete val="0"/>
        <c:axPos val="l"/>
        <c:majorGridlines>
          <c:spPr>
            <a:ln w="7620">
              <a:solidFill>
                <a:srgbClr val="D9D5CC"/>
              </a:solidFill>
            </a:ln>
          </c:spPr>
        </c:majorGridlines>
        <c:majorTickMark val="out"/>
        <c:minorTickMark val="none"/>
        <c:tickLblPos val="none"/>
        <c:spPr>
          <a:ln>
            <a:noFill/>
          </a:ln>
        </c:spPr>
        <c:crossAx val="2118791784"/>
        <c:crosses val="autoZero"/>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
          <c:y val="0.06"/>
          <c:w val="0.8"/>
          <c:h val="0.72"/>
        </c:manualLayout>
      </c:layout>
      <c:lineChart>
        <c:grouping val="standard"/>
        <c:varyColors val="0"/>
        <c:ser>
          <c:idx val="0"/>
          <c:order val="0"/>
          <c:tx>
            <c:strRef>
              <c:f>Sheet1!$B$1</c:f>
              <c:strCache>
                <c:ptCount val="1"/>
                <c:pt idx="0">
                  <c:v>KR</c:v>
                </c:pt>
              </c:strCache>
            </c:strRef>
          </c:tx>
          <c:spPr>
            <a:ln w="31750">
              <a:solidFill>
                <a:srgbClr val="B8862F"/>
              </a:solidFill>
            </a:ln>
          </c:spPr>
          <c:marker>
            <c:symbol val="none"/>
          </c:marker>
          <c:dPt>
            <c:idx val="5"/>
            <c:marker>
              <c:symbol val="circle"/>
              <c:size val="6"/>
              <c:spPr>
                <a:solidFill>
                  <a:srgbClr val="1F3A32"/>
                </a:solidFill>
                <a:ln>
                  <a:solidFill>
                    <a:srgbClr val="1F3A32"/>
                  </a:solidFill>
                </a:ln>
              </c:spPr>
            </c:marker>
          </c:dPt>
          <c:dLbls>
            <c:dLbl>
              <c:idx val="28"/>
              <c:tx>
                <c:rich>
                  <a:bodyPr/>
                  <a:lstStyle/>
                  <a:p>
                    <a:r>
                      <a:rPr sz="1100" b="1" i="0" lang="en-US">
                        <a:solidFill>
                          <a:srgbClr val="B8862F"/>
                        </a:solidFill>
                        <a:latin typeface="Calibri"/>
                      </a:rPr>
                      <a:t>12th</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Sheet1!$B$2:$B$30</c:f>
              <c:numCache>
                <c:formatCode>General</c:formatCode>
                <c:ptCount val="29"/>
                <c:pt idx="0">
                  <c:v>108</c:v>
                </c:pt>
                <c:pt idx="1">
                  <c:v>101</c:v>
                </c:pt>
                <c:pt idx="2">
                  <c:v>108</c:v>
                </c:pt>
                <c:pt idx="3">
                  <c:v>115</c:v>
                </c:pt>
                <c:pt idx="4">
                  <c:v>106</c:v>
                </c:pt>
                <c:pt idx="5">
                  <c:v>42</c:v>
                </c:pt>
                <c:pt idx="6">
                  <c:v>25</c:v>
                </c:pt>
                <c:pt idx="7">
                  <c:v>21</c:v>
                </c:pt>
                <c:pt idx="8">
                  <c:v>21</c:v>
                </c:pt>
                <c:pt idx="9">
                  <c:v>20</c:v>
                </c:pt>
                <c:pt idx="10">
                  <c:v>17</c:v>
                </c:pt>
                <c:pt idx="11">
                  <c:v>19</c:v>
                </c:pt>
                <c:pt idx="12">
                  <c:v>14</c:v>
                </c:pt>
                <c:pt idx="13">
                  <c:v>18</c:v>
                </c:pt>
                <c:pt idx="14">
                  <c:v>19</c:v>
                </c:pt>
                <c:pt idx="15">
                  <c:v>17</c:v>
                </c:pt>
                <c:pt idx="16">
                  <c:v>13</c:v>
                </c:pt>
                <c:pt idx="17">
                  <c:v>14</c:v>
                </c:pt>
                <c:pt idx="18">
                  <c:v>14</c:v>
                </c:pt>
                <c:pt idx="19">
                  <c:v>16</c:v>
                </c:pt>
                <c:pt idx="20">
                  <c:v>14</c:v>
                </c:pt>
                <c:pt idx="21">
                  <c:v>15</c:v>
                </c:pt>
                <c:pt idx="22">
                  <c:v>17</c:v>
                </c:pt>
                <c:pt idx="23">
                  <c:v>19</c:v>
                </c:pt>
                <c:pt idx="24">
                  <c:v>42</c:v>
                </c:pt>
                <c:pt idx="25">
                  <c:v>58</c:v>
                </c:pt>
                <c:pt idx="26">
                  <c:v>50</c:v>
                </c:pt>
                <c:pt idx="27">
                  <c:v>20</c:v>
                </c:pt>
                <c:pt idx="28">
                  <c:v>12</c:v>
                </c:pt>
              </c:numCache>
            </c:numRef>
          </c:val>
          <c:smooth val="0"/>
        </c:ser>
        <c:marker val="1"/>
        <c:smooth val="0"/>
        <c:axId val="2118791784"/>
        <c:axId val="2140495176"/>
      </c:lineChart>
      <c:catAx>
        <c:axId val="2118791784"/>
        <c:scaling>
          <c:orientation val="minMax"/>
        </c:scaling>
        <c:delete val="0"/>
        <c:axPos val="b"/>
        <c:majorTickMark val="none"/>
        <c:minorTickMark val="none"/>
        <c:tickLblPos val="high"/>
        <c:spPr>
          <a:ln w="9525">
            <a:solidFill>
              <a:srgbClr val="BDB8AE"/>
            </a:solidFill>
          </a:ln>
        </c:spPr>
        <c:txPr>
          <a:bodyPr/>
          <a:lstStyle/>
          <a:p>
            <a:pPr>
              <a:defRPr sz="1050">
                <a:solidFill>
                  <a:srgbClr val="6F6A62"/>
                </a:solidFill>
                <a:latin typeface="Calibri"/>
              </a:defRPr>
            </a:pPr>
          </a:p>
        </c:txPr>
        <c:crossAx val="2140495176"/>
        <c:crosses val="max"/>
        <c:auto val="1"/>
        <c:lblAlgn val="ctr"/>
        <c:lblOffset val="100"/>
        <c:tickLblSkip val="7"/>
        <c:noMultiLvlLbl val="0"/>
      </c:catAx>
      <c:valAx>
        <c:axId val="2140495176"/>
        <c:scaling>
          <c:orientation val="maxMin"/>
          <c:max val="125.0"/>
          <c:min val="0.0"/>
        </c:scaling>
        <c:delete val="0"/>
        <c:axPos val="l"/>
        <c:majorGridlines>
          <c:spPr>
            <a:ln w="7620">
              <a:solidFill>
                <a:srgbClr val="D9D5CC"/>
              </a:solidFill>
            </a:ln>
          </c:spPr>
        </c:majorGridlines>
        <c:numFmt formatCode="0" sourceLinked="0"/>
        <c:majorTickMark val="none"/>
        <c:minorTickMark val="none"/>
        <c:tickLblPos val="none"/>
        <c:spPr>
          <a:ln>
            <a:noFill/>
          </a:ln>
        </c:spPr>
        <c:txPr>
          <a:bodyPr/>
          <a:lstStyle/>
          <a:p>
            <a:pPr>
              <a:defRPr sz="1050">
                <a:solidFill>
                  <a:srgbClr val="6F6A62"/>
                </a:solidFill>
                <a:latin typeface="Calibri"/>
              </a:defRPr>
            </a:pPr>
          </a:p>
        </c:txPr>
        <c:crossAx val="2118791784"/>
        <c:crosses val="autoZero"/>
        <c:majorUnit val="50.0"/>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34751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the introduction. I am Sunbin Yoo from SKKU, and this is joint work with Junya Kumagai, Longfei Zheng, Chunan Wang, Jinwoo Lee and Anming Zhang.</a:t>
            </a:r>
          </a:p>
          <a:p>
            <a:r>
              <a:t>The paper does two things. First, it builds a long panel of global air connectivity, every year from 1996 to 2024. The background map is the 2024 network: every airport with scheduled service, sized by its connectivity score. Second, it asks whether a country's position in this network causally raises its goods trade, through which goods, and for whom.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저는 연세대에서 경제학 석사, 도쿄대에서 박사를 받고 규슈대 공학부를 거쳐 성균관대에 왔습니다. 올해 9월부터는 게이오대 미디어디자인연구과에도 공동으로 적을 두고 있습니다. 주제는 오른쪽 네 갈래이고, 오늘은 그중 가장 재미있는 결과 위주로 보여드리겠습니다. (약 30초)</a:t>
            </a:r>
          </a:p>
          <a:p/>
          <a:p/>
          <a:p>
            <a:r>
              <a:t>[English] I did my M.A. in economics at Yonsei, my PhD at the University of Tokyo, then worked at Kyushu University's Faculty of Engineering before moving to SKKU. Since this September I also hold a joint appointment at Keio's Graduate School of Media Design. My work falls into the four themes on the right; today's paper belongs to the first one, transport infrastructure and decarbonization.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word on how this project started. Most of our earlier work is on railways and market access. We simply wanted to graduate from railway research. We then had the chance to meet Professor Anming Zhang, and he suggested that we look at aviation.</a:t>
            </a:r>
          </a:p>
          <a:p>
            <a:r>
              <a:t>Aviation turned out to be a good laboratory for the same network questions. A railway is a corridor inside one country. The air network is one global system, it is rewired every year as airlines add and drop routes, and, as 2020 showed, it can contract within months.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question is simple to state: does a country's position in the world air network raise its goods trade?</a:t>
            </a:r>
          </a:p>
          <a:p>
            <a:r>
              <a:t>We split it in two. First, whether and how. Is the effect causal? Does connectivity raise openness, meaning trade relative to GDP, or does it only make the economy bigger? And which goods respond?</a:t>
            </a:r>
          </a:p>
          <a:p>
            <a:r>
              <a:t>Second, who gains and when. Do richer or poorer countries, better or less connected countries, gain more? And what happens when connectivity collapses rather than grows?</a:t>
            </a:r>
          </a:p>
          <a:p>
            <a:r>
              <a:t>We look at trade because it is the most direct measure of integration and the proximate margin on which connectivity acts. Income is at the far end of a long and confounded chain.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objection we always hear is that trade travels by sea. By weight, that is right: more than 80 percent of world trade volume moves by ship.</a:t>
            </a:r>
          </a:p>
          <a:p>
            <a:r>
              <a:t>By value the picture is different. Roughly one third of world trade by value moves by air.</a:t>
            </a:r>
          </a:p>
          <a:p>
            <a:r>
              <a:t>And our measure is built from passenger networks. Those matter even for goods that are later shipped by sea, because they move the people who make trade happen: buyers meeting sellers, managers inspecting suppliers, engineers servicing production lines. Passenger connectivity lowers the cost of the transaction, whichever mode then carries the cargo.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gives three channels, each with a prediction we can test.</a:t>
            </a:r>
          </a:p>
          <a:p>
            <a:r>
              <a:t>First, transaction costs. Face-to-face contact lowers the cost of finding and trusting partners, so trade should rise relative to GDP. That is hypothesis one.</a:t>
            </a:r>
          </a:p>
          <a:p>
            <a:r>
              <a:t>Second, the belly hold. Much of air cargo flies in passenger aircraft, and for time-sensitive goods each day in transit costs roughly 0.6 to 2.1 percent of their value. So connectivity should raise the share of high value-to-weight goods. Hypothesis two.</a:t>
            </a:r>
          </a:p>
          <a:p>
            <a:r>
              <a:t>Third, value chains. Engineers, samples and urgent components move by air, so intermediate goods should rise relative to consumption goods. Hypothesis three.</a:t>
            </a:r>
          </a:p>
          <a:p>
            <a:r>
              <a:t>Two and three are about composition, and we test them with product-level data after the main results.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one: how we measure connectivity.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design point is that connectivity is not a count.</a:t>
            </a:r>
          </a:p>
          <a:p>
            <a:r>
              <a:t>Look at these two countries. Each has three international routes. Country A connects to Dubai, Frankfurt and Singapore, and through them reaches most of the world within two legs. Country B connects to three small regional fields that lead nowhere. Same count, very different access. A route to Incheon or Haneda is not the same as a route to Kitakyushu.</a:t>
            </a:r>
          </a:p>
          <a:p>
            <a:r>
              <a:t>The network is also extremely concentrated: in 2024 only 106 airports, 2.7 percent of the total, carried half of all scheduled seats. So the measure has to weight by capacity and by the importance of partners.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rebuild the network from airline schedules, OAG route-segment data, every year from 1996 to 2024.</a:t>
            </a:r>
          </a:p>
          <a:p>
            <a:r>
              <a:t>Each row is one scheduled flight segment, with its carrier, airports, seats by cabin and frequency. We aggregate segments into airport pairs and form two matrices for every year: A records which airports are connected, and W how much seat capacity links them. From these we build a link intensity, the geometric mean of capacity per connection at the two ends.</a:t>
            </a:r>
          </a:p>
          <a:p>
            <a:r>
              <a:t>Across the 29 years the network has between 3,171 and 3,863 active airports. Airports enter and leave as service starts and stops, so the network is genuinely rebuilt every year.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each annual network we compute five centrality indicators, following Cheung, Wong and Zhang in Transportation Research Part E.</a:t>
            </a:r>
          </a:p>
          <a:p>
            <a:r>
              <a:t>Take this toy network. Haneda links to every other airport directly: degree three, closeness one. Fukuoka reaches Atlanta only through Haneda, two legs, so its closeness is 0.60. Eigenvector centrality rewards links to airports that are themselves central.</a:t>
            </a:r>
          </a:p>
          <a:p>
            <a:r>
              <a:t>Those three describe position. The other two describe flow. Flow betweenness treats passengers like current in an electrical circuit and measures how much of it passes through the airport: the transfer-hub role. In the toy network nothing routes through Fukuoka, so it is zero. Regional importance is the average intensity of the airport's links within its own region.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five indicators are correlated, with rank correlations between 0.74 and 0.92 in 2024, but they are not redundant. We combine them by principal components, re-estimated every year.</a:t>
            </a:r>
          </a:p>
          <a:p>
            <a:r>
              <a:t>The first component explains between 63 and 77 percent of the variance, depending on the year. The loadings are all positive and almost the same size: about 0.49 for degree, 0.48 for regional importance, 0.43 for flow betweenness and eigenvector, and 0.39 for closeness. They barely move over 29 years; the whiskers are one standard deviation across years.</a:t>
            </a:r>
          </a:p>
          <a:p>
            <a:r>
              <a:t>Why re-estimate every year rather than once? Because the network itself changes: airports enter and exit and the scale of the indicators shifts. Re-estimating keeps the weights right for each year's network, and because the weights barely move, nothing is lost in comparability.</a:t>
            </a:r>
          </a:p>
          <a:p>
            <a:r>
              <a:t>So GACI is close to an equal-weighted summary of the five indicators, and a single pooled PCA gives almost the same index, correlation 0.98. That is what makes the index comparable over time.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then move from airports to countries, in three ways.</a:t>
            </a:r>
          </a:p>
          <a:p>
            <a:r>
              <a:t>Our headline is hub quality: the capacity-weighted mean of airport GACI. It uses the entire airport system but puts most weight on the airports that carry the seats.</a:t>
            </a:r>
          </a:p>
          <a:p>
            <a:r>
              <a:t>We also use the maximum, the quality of the single best gateway, and the sum, the total network footprint.</a:t>
            </a:r>
          </a:p>
          <a:p>
            <a:r>
              <a:t>The illustration on the right shows why hub quality is the headline. Adding ten small airfields doubles the sum, but hardly changes hub quality. We do not want to reward a country for opening many tiny airfields.</a:t>
            </a:r>
          </a:p>
          <a:p>
            <a:r>
              <a:t>All three measures give the same pattern of results, so I will show hub quality and mention the others as robustness.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what the index shows. These are the rank paths of the fifteen highest-ranked airports of 2024; the gold lines are airports that were outside the top twenty in 1996.</a:t>
            </a:r>
          </a:p>
          <a:p>
            <a:r>
              <a:t>Dubai goes from 92nd to first, Istanbul from 98th to second, Guangzhou from 155th to tenth, and Shanghai Pudong, Beijing, Singapore and Incheon climb into the top fifteen. The large American and European hubs drift down.</a:t>
            </a:r>
          </a:p>
          <a:p>
            <a:r>
              <a:t>At the country level, Singapore, the UAE, the Netherlands, Qatar and Hong Kong lead on hub quality in 2024.</a:t>
            </a:r>
          </a:p>
          <a:p>
            <a:r>
              <a:t>This is also a face-validity check: the index reproduces what anyone in the industry would recognise, the rise of the Gulf carriers, Istanbul and the Chinese hubs.</a:t>
            </a:r>
          </a:p>
          <a:p>
            <a:r>
              <a:t>Notice that most of this reshuffling happens after 2010. That timing will matter for identification.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hub quality in 2024, computed from every airport with scheduled service. The darkest shades are the Gulf states, Western European gateway countries, Turkey and the East and Southeast Asian hubs. Most of Africa and Central Asia is light.</a:t>
            </a:r>
          </a:p>
          <a:p>
            <a:r>
              <a:t>Levels differ a lot across countries, but our design does not use these differences. With country fixed effects, identification comes from changes within a country over time.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two: identification.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not simply regress trade on connectivity? Because airlines add capacity where trade and income are already growing, and both respond to common shocks such as a commodity boom or a financial crisis. OLS mixes the effect we want with demand-driven route entry.</a:t>
            </a:r>
          </a:p>
          <a:p>
            <a:r>
              <a:t>A difference-in-differences design does not fit either. Large airport openings are rare and lumpy, while a country's network position changes every year through frequencies, partners and re-routing.</a:t>
            </a:r>
          </a:p>
          <a:p>
            <a:r>
              <a:t>So we need variation in connectivity that goods-trade fundamentals did not create. That is the gold box: an instrument that moves connectivity, with no direct path to goods trade.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instrument is a shift-share design.</a:t>
            </a:r>
          </a:p>
          <a:p>
            <a:r>
              <a:t>The share is each country's stock of natural and mixed UNESCO World Heritage sites: reefs, mountain ranges, national parks. These are endowments of geography rather than of economic activity. The median country has one; the richest has nineteen.</a:t>
            </a:r>
          </a:p>
          <a:p>
            <a:r>
              <a:t>The shift is the global cycle in international tourist arrivals, scaled between zero and one. You can see the long rise and the collapse in 2020.</a:t>
            </a:r>
          </a:p>
          <a:p>
            <a:r>
              <a:t>The logic is airline route allocation. When world tourism grows, airlines put marginal aircraft where leisure demand grows most, which is in heritage-rich destinations. Country fixed effects absorb the endowment, year fixed effects absorb the cycle, so only their interaction identifies the effect.</a:t>
            </a:r>
          </a:p>
          <a:p>
            <a:r>
              <a:t>Why natural and mixed sites, and not all heritage? Cultural sites tend to sit in old urban and manufacturing centres, which could affect trade directly. I will come back to this in two slides, because the data themselves reject cultural sites as an instrument.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Does the instrument actually move connectivity? Yes. Each dot groups about 240 country-years. Where the heritage-times-tourism signal rises, hub quality rises too.</a:t>
            </a:r>
          </a:p>
          <a:p>
            <a:r>
              <a:t>The usual strength test gives 21.9, well above the rule-of-thumb threshold of 10.</a:t>
            </a:r>
          </a:p>
          <a:p>
            <a:r>
              <a:t>One caveat, stated openly. The instrument has almost no bite before 2010, and a lot from 2010 onward. That is when low-cost long-haul flights and the Gulf and Asian hubs took off. So our answers describe the recent era of aviation, and I come back to this at the end.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assumption is that heritage tourism affects goods trade only through air links. Three choices make this plausible.</a:t>
            </a:r>
          </a:p>
          <a:p>
            <a:r>
              <a:t>First, we only count goods trade. Tourist spending is counted as a services export, so it never enters our outcome.</a:t>
            </a:r>
          </a:p>
          <a:p>
            <a:r>
              <a:t>Second, we only use natural and mixed sites. Cultural sites sit in old cities and could affect trade directly. When we try them anyway, the data reject them.</a:t>
            </a:r>
          </a:p>
          <a:p>
            <a:r>
              <a:t>Third, we compare each country with itself over time, so the amount of heritage a country has, and the world tourism cycle, both cancel out.</a:t>
            </a:r>
          </a:p>
          <a:p>
            <a:r>
              <a:t>What could still go wrong? A tourism boom can strengthen the currency and hurt exports, but that would make our estimate smaller. Tourism raises income and income raises imports, but holding GDP fixed the estimate hardly moves. No test can prove the assumption; these checks make a violation hard to explain.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three: results.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main result. The first row is the simple correlation. The second row is our causal estimate, using the instrument.</a:t>
            </a:r>
          </a:p>
          <a:p>
            <a:r>
              <a:t>The easiest way to read it: if a country's air connections improve by 10 percent, its trade relative to GDP rises by about 12 percent, and its total trade by about 22 percent.</a:t>
            </a:r>
          </a:p>
          <a:p>
            <a:r>
              <a:t>The bar on the right splits the total into two parts: the country becomes more open, and the economy becomes bigger. The bigger-economy part is positive, but not statistically clear. So our headline is the first part: better-connected countries trade more for their size.</a:t>
            </a:r>
          </a:p>
          <a:p>
            <a:r>
              <a:t>The last two rows measure connectivity in other ways, using only the best airport, or summing all airports. The numbers are on different scales, but the story is the same: positive and significant.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 this result fragile? We tried two kinds of checks.</a:t>
            </a:r>
          </a:p>
          <a:p>
            <a:r>
              <a:t>On the left, we change what else we control for. The effect on trade relative to GDP stays between 1.21 and 1.54 every time. Adding GDP is a tough test, because GDP itself responds to connectivity.</a:t>
            </a:r>
          </a:p>
          <a:p>
            <a:r>
              <a:t>On the right, we check the instrument. Splitting heritage into natural and mixed sites gives the same answer. Cultural heritage, which we expect to fail, does fail, which tells us the test has teeth. A completely different instrument, built from geography, air versus sea distance, gives almost the same number: 2.30, against our 2.13 for total trade.</a:t>
            </a:r>
          </a:p>
          <a:p>
            <a:r>
              <a:t>Finally, if we allow the instrument to affect trade directly a little, the total-trade result survives unless that direct effect is more than a third of its total effect. For trade relative to GDP the margin is thinner, about 4 percent.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how does connectivity raise trade? We look inside trade using product-level data: about 5,000 products for about 200 countries.</a:t>
            </a:r>
          </a:p>
          <a:p>
            <a:r>
              <a:t>We build two simple ratios. The parts ratio: intermediate inputs relative to final consumer goods. The value ratio: high-value relative to low-value goods, measured in dollars per kilogram. These are the goods that tend to fly. Because they are ratios, anything that moves all of a country's trade up or down together cancels out.</a:t>
            </a:r>
          </a:p>
          <a:p>
            <a:r>
              <a:t>Both ratios rise with connectivity. With 10 percent better connections, the parts ratio rises by about 15 percent and the value ratio by about 19 percent. In other words, better-connected countries trade more of the goods that fly.</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does this change in the mix explain the trade gain? We run the main regression again and add the two ratios, keeping exactly the same countries and years.</a:t>
            </a:r>
          </a:p>
          <a:p>
            <a:r>
              <a:t>The connectivity effect drops from 1.18 to 0.83, about 30 percent smaller, and it is no longer statistically clear. Meanwhile the mix of goods itself strongly predicts how open a country is.</a:t>
            </a:r>
          </a:p>
          <a:p>
            <a:r>
              <a:t>If connectivity simply made all trade a bit cheaper, the mix would not change, and adding the ratios would change nothing. That is not what we see. The trade gain comes with, and runs through, a shift toward goods that fly.</a:t>
            </a:r>
          </a:p>
          <a:p>
            <a:r>
              <a:t>One caution: the mix is itself an outcome, so this supports the channel but does not prove it.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Who gains most? We split countries by how rich and how well connected they were in 1996.</a:t>
            </a:r>
          </a:p>
          <a:p>
            <a:r>
              <a:t>The pattern is the same in both panels: the gain shrinks as we move to richer and better-connected countries. With 10 percent better connections, trade relative to GDP rises about 16 percent in the poorest quarter of countries, and about 7 percent in the richest. By connectivity, it is about 26 percent for the least connected quarter and 15 percent for the best connected.</a:t>
            </a:r>
          </a:p>
          <a:p>
            <a:r>
              <a:t>These estimates are less precise, so the downward slope matters more than each number. A simpler check that avoids this weakness shows the same slope.</a:t>
            </a:r>
          </a:p>
          <a:p>
            <a:r>
              <a:t>The message: an extra air link is worth most where links are scarce.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much does this add up to? For each country we take its own improvement in connectivity since 1996 and ask how much of its 2024 trade that improvement accounts for, keeping everything else fixed.</a:t>
            </a:r>
          </a:p>
          <a:p>
            <a:r>
              <a:t>Added up, it comes to about 10 trillion dollars: about a fifth of world goods trade, or about 9 percent of world GDP.</a:t>
            </a:r>
          </a:p>
          <a:p>
            <a:r>
              <a:t>Please treat this as a rough number. The plausible range is wide, from half a trillion to 16 trillion. It holds other countries and prices fixed. And it applies an effect we measure after 2010 back to 1996.</a:t>
            </a:r>
          </a:p>
          <a:p>
            <a:r>
              <a:t>The chart on the left shows where the gains go: mostly to Asia and the Middle East, which pull away from the rest after 2005.</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Country by country, China gains the most, about 2.7 trillion dollars, followed by Korea, Japan, the United States, Hong Kong and Singapore.</a:t>
            </a:r>
          </a:p>
          <a:p>
            <a:r>
              <a:t>Not everyone gained. In 18 countries connectivity fell, and the biggest implied loss is Germany, about 200 billion dollars, then Ukraine and Belgium.</a:t>
            </a:r>
          </a:p>
          <a:p>
            <a:r>
              <a:t>One data note: countries without 2024 trade data, including the UAE and Qatar, are grey and count as zero.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logic should work in reverse. In 2020, connections fell in 154 of 175 countries.</a:t>
            </a:r>
          </a:p>
          <a:p>
            <a:r>
              <a:t>Running the same calculation backwards gives a one-year trade loss of about 7 trillion dollars on our main measure, and less on the others, down to 1.7 trillion.</a:t>
            </a:r>
          </a:p>
          <a:p>
            <a:r>
              <a:t>Please read this as an upper range. Our effect is a long-run effect, and in 2020 the pandemic cut trade and flights at the same time, so not all of this loss is due to fewer flights.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sum up in four points.</a:t>
            </a:r>
          </a:p>
          <a:p>
            <a:r>
              <a:t>One: better air links cause more trade. Ten percent better connections mean about 12 percent more trade relative to GDP.</a:t>
            </a:r>
          </a:p>
          <a:p>
            <a:r>
              <a:t>Two: they work through what is traded, more parts and more high-value goods, the goods that fly.</a:t>
            </a:r>
          </a:p>
          <a:p>
            <a:r>
              <a:t>Three: poorer and less-connected countries gain the most.</a:t>
            </a:r>
          </a:p>
          <a:p>
            <a:r>
              <a:t>Four: the total is large, roughly 10 trillion dollars of 2024 trade since 1996.</a:t>
            </a:r>
          </a:p>
          <a:p>
            <a:r>
              <a:t>For policy, investing in airports and routes, and opening air markets, are practical ways to raise trade, especially where connections are poor.</a:t>
            </a:r>
          </a:p>
          <a:p>
            <a:r>
              <a:t>The limits: the totals are rough, the evidence comes mainly from 2010 onward, and the rich-versus-poor comparison is less precise. Next, we want to look at trade between country pairs, and at a full model where prices and partners adjust. Thank you.</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I look forward to your comments and questions.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aviation? For an economist the air network is an unusually good laboratory, for one main reason: it is a single global network, it is rebuilt every year, and every scheduled seat is on record.</a:t>
            </a:r>
          </a:p>
          <a:p>
            <a:r>
              <a:t>On the left are world scheduled seats, with 2019 set to 100. Seats grew steadily for two decades, then fell by 44 percent in a single year, 2020, and by 2024 were back to 98. A shock like that hits every country at the same time, and we can see it airport by airport.</a:t>
            </a:r>
          </a:p>
          <a:p>
            <a:r>
              <a:t>On the right, airports come and go. 5,428 airports had scheduled flights in at least one year since 1996, but only 2,253 had them in every one of the 29 years.</a:t>
            </a:r>
          </a:p>
          <a:p>
            <a:r>
              <a:t>At the bottom, the top spot changes hands. Los Angeles and Frankfurt traded first place until 2013, Beijing held it from 2015 to 2020, and in 2024 Dubai is number one. Six different airports in 29 years.</a:t>
            </a:r>
          </a:p>
          <a:p>
            <a:r>
              <a:t>Railways and roads change slowly and inside one country. Here the whole world network moves every year. That movement is the variation we use.</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closer look at our own neighbourhood. These are the world ranks of nine Northeast Asian airports, out of roughly 3,800 airports, on a log scale.</a:t>
            </a:r>
          </a:p>
          <a:p>
            <a:r>
              <a:t>The Chinese hubs rose fastest. Guangzhou was 155th in 1996 and Beijing 47th. Beijing was number one in the world from 2015 to 2020. In 2020 Beijing, Guangzhou and Shanghai Pudong were first, second and third, as China's large domestic network restarted early while most international routes were shut.</a:t>
            </a:r>
          </a:p>
          <a:p>
            <a:r>
              <a:t>Incheon entered at 42nd when it opened in 2001 and is 15th in 2024. Haneda climbed from 151st to 31st, most of it after it reopened to regular international flights around 2010. Narita and Kansai moved the other way; Kansai fell from 41st to 88th.</a:t>
            </a:r>
          </a:p>
          <a:p>
            <a:r>
              <a:t>Keep Korea in mind. It comes back on the next slide, and again in the results.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index at the country level. The map shows how hub quality changed between 1996 and 2024. It rose in three of every four economies, and the darkest areas are the Gulf, Ethiopia, Türkiye and South Korea.</a:t>
            </a:r>
          </a:p>
          <a:p>
            <a:r>
              <a:t>The largest gains are Qatar, up 159 percent, South Korea, up 139 percent, and the UAE, up 121 percent. Ethiopia, Türkiye and Saudi Arabia follow.</a:t>
            </a:r>
          </a:p>
          <a:p>
            <a:r>
              <a:t>South Korea also climbed further in rank than any other economy, from 108th to 12th. Much of that happened in a single year: in 2001, when Incheon opened, Korea went from 106th to 42nd. It dipped during the pandemic and was back to 12th by 2024.</a:t>
            </a:r>
          </a:p>
          <a:p>
            <a:r>
              <a:t>Falls are few. The largest are Ukraine and Syria.</a:t>
            </a:r>
          </a:p>
          <a:p>
            <a:r>
              <a:t>Remember Korea: in the results it has the second-largest trade gain from better connectivity, after China.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89394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chart" Target="../charts/char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chart" Target="../charts/char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chart" Target="../charts/char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chart" Target="../charts/chart9.xml"/><Relationship Id="rId4" Type="http://schemas.openxmlformats.org/officeDocument/2006/relationships/chart" Target="../charts/char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chart" Target="../charts/char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chart" Target="../charts/char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chart" Target="../charts/chart15.xml"/><Relationship Id="rId4"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A32"/>
        </a:solidFill>
        <a:effectLst/>
      </p:bgPr>
    </p:bg>
    <p:spTree>
      <p:nvGrpSpPr>
        <p:cNvPr id="1" name=""/>
        <p:cNvGrpSpPr/>
        <p:nvPr/>
      </p:nvGrpSpPr>
      <p:grpSpPr>
        <a:xfrm>
          <a:off x="0" y="0"/>
          <a:ext cx="0" cy="0"/>
          <a:chOff x="0" y="0"/>
          <a:chExt cx="0" cy="0"/>
        </a:xfrm>
      </p:grpSpPr>
      <p:pic>
        <p:nvPicPr>
          <p:cNvPr id="2" name="Picture 1" descr="title_airports_2024.pn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0"/>
            <a:ext cx="8778240" cy="6858000"/>
          </a:xfrm>
          <a:prstGeom prst="rect">
            <a:avLst/>
          </a:prstGeom>
          <a:gradFill rotWithShape="1">
            <a:gsLst>
              <a:gs pos="0">
                <a:srgbClr val="1F3A32">
                  <a:alpha val="92000"/>
                </a:srgbClr>
              </a:gs>
              <a:gs pos="60000">
                <a:srgbClr val="1F3A32">
                  <a:alpha val="78000"/>
                </a:srgbClr>
              </a:gs>
              <a:gs pos="100000">
                <a:srgbClr val="1F3A32">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1234440"/>
            <a:ext cx="5669280" cy="320040"/>
          </a:xfrm>
          <a:prstGeom prst="rect">
            <a:avLst/>
          </a:prstGeom>
          <a:noFill/>
        </p:spPr>
        <p:txBody>
          <a:bodyPr wrap="square" lIns="0" tIns="0" rIns="0" bIns="0" anchor="t">
            <a:spAutoFit/>
          </a:bodyPr>
          <a:lstStyle/>
          <a:p>
            <a:pPr algn="l">
              <a:spcAft>
                <a:spcPts val="600"/>
              </a:spcAft>
            </a:pPr>
            <a:r>
              <a:rPr lang="en-US" sz="1100" b="1" i="0" spc="100">
                <a:solidFill>
                  <a:srgbClr val="B8862F"/>
                </a:solidFill>
                <a:latin typeface="Calibri"/>
              </a:rPr>
              <a:t>1996–2024   ·   185 COUNTRIES   ·   3,863 AIRPORTS</a:t>
            </a:r>
          </a:p>
        </p:txBody>
      </p:sp>
      <p:sp>
        <p:nvSpPr>
          <p:cNvPr id="5" name="TextBox 4"/>
          <p:cNvSpPr txBox="1"/>
          <p:nvPr/>
        </p:nvSpPr>
        <p:spPr>
          <a:xfrm>
            <a:off x="777240" y="1691640"/>
            <a:ext cx="5394960" cy="2103120"/>
          </a:xfrm>
          <a:prstGeom prst="rect">
            <a:avLst/>
          </a:prstGeom>
          <a:noFill/>
        </p:spPr>
        <p:txBody>
          <a:bodyPr wrap="square" lIns="0" tIns="0" rIns="0" bIns="0" anchor="t">
            <a:spAutoFit/>
          </a:bodyPr>
          <a:lstStyle/>
          <a:p>
            <a:pPr algn="l">
              <a:lnSpc>
                <a:spcPct val="95000"/>
              </a:lnSpc>
              <a:spcAft>
                <a:spcPts val="600"/>
              </a:spcAft>
            </a:pPr>
            <a:r>
              <a:rPr lang="en-US" sz="3800" b="0" i="0">
                <a:solidFill>
                  <a:srgbClr val="FFFFFF"/>
                </a:solidFill>
                <a:latin typeface="Georgia"/>
              </a:rPr>
              <a:t>Global Air Connectivity and Trade Openness, 1996–2024</a:t>
            </a:r>
          </a:p>
        </p:txBody>
      </p:sp>
      <p:sp>
        <p:nvSpPr>
          <p:cNvPr id="6" name="TextBox 5"/>
          <p:cNvSpPr txBox="1"/>
          <p:nvPr/>
        </p:nvSpPr>
        <p:spPr>
          <a:xfrm>
            <a:off x="777240" y="3840480"/>
            <a:ext cx="5486400" cy="822960"/>
          </a:xfrm>
          <a:prstGeom prst="rect">
            <a:avLst/>
          </a:prstGeom>
          <a:noFill/>
        </p:spPr>
        <p:txBody>
          <a:bodyPr wrap="square" lIns="0" tIns="0" rIns="0" bIns="0" anchor="t">
            <a:spAutoFit/>
          </a:bodyPr>
          <a:lstStyle/>
          <a:p>
            <a:pPr algn="l">
              <a:lnSpc>
                <a:spcPct val="105000"/>
              </a:lnSpc>
              <a:spcAft>
                <a:spcPts val="600"/>
              </a:spcAft>
            </a:pPr>
            <a:r>
              <a:rPr lang="en-US" sz="1700" b="0" i="1">
                <a:solidFill>
                  <a:srgbClr val="C9D6CF"/>
                </a:solidFill>
                <a:latin typeface="Calibri"/>
              </a:rPr>
              <a:t>Building a 29-year index of the world air network, and estimating what it does to goods trade</a:t>
            </a:r>
          </a:p>
        </p:txBody>
      </p:sp>
      <p:sp>
        <p:nvSpPr>
          <p:cNvPr id="7" name="TextBox 6"/>
          <p:cNvSpPr txBox="1"/>
          <p:nvPr/>
        </p:nvSpPr>
        <p:spPr>
          <a:xfrm>
            <a:off x="777240" y="4983480"/>
            <a:ext cx="5669280" cy="731520"/>
          </a:xfrm>
          <a:prstGeom prst="rect">
            <a:avLst/>
          </a:prstGeom>
          <a:noFill/>
        </p:spPr>
        <p:txBody>
          <a:bodyPr wrap="square" lIns="0" tIns="0" rIns="0" bIns="0" anchor="t">
            <a:spAutoFit/>
          </a:bodyPr>
          <a:lstStyle/>
          <a:p>
            <a:pPr algn="l">
              <a:lnSpc>
                <a:spcPct val="110000"/>
              </a:lnSpc>
              <a:spcAft>
                <a:spcPts val="600"/>
              </a:spcAft>
            </a:pPr>
            <a:r>
              <a:rPr lang="en-US" sz="1400" b="1" i="0">
                <a:solidFill>
                  <a:srgbClr val="FFFFFF"/>
                </a:solidFill>
                <a:latin typeface="Calibri"/>
              </a:rPr>
              <a:t>Sunbin YOO</a:t>
            </a:r>
            <a:r>
              <a:rPr lang="en-US" sz="1400" b="0" i="0">
                <a:solidFill>
                  <a:srgbClr val="FFFFFF"/>
                </a:solidFill>
                <a:latin typeface="Calibri"/>
              </a:rPr>
              <a:t>, Junya KUMAGAI, Longfei ZHENG, Chunan WANG, Jinwoo LEE, Anming ZHANG</a:t>
            </a:r>
          </a:p>
        </p:txBody>
      </p:sp>
      <p:sp>
        <p:nvSpPr>
          <p:cNvPr id="8" name="TextBox 7"/>
          <p:cNvSpPr txBox="1"/>
          <p:nvPr/>
        </p:nvSpPr>
        <p:spPr>
          <a:xfrm>
            <a:off x="777240" y="6263640"/>
            <a:ext cx="6858000" cy="274320"/>
          </a:xfrm>
          <a:prstGeom prst="rect">
            <a:avLst/>
          </a:prstGeom>
          <a:noFill/>
        </p:spPr>
        <p:txBody>
          <a:bodyPr wrap="square" lIns="0" tIns="0" rIns="0" bIns="0" anchor="t">
            <a:spAutoFit/>
          </a:bodyPr>
          <a:lstStyle/>
          <a:p>
            <a:pPr algn="l">
              <a:spcAft>
                <a:spcPts val="600"/>
              </a:spcAft>
            </a:pPr>
            <a:r>
              <a:rPr lang="en-US" sz="1000" b="0" i="0">
                <a:solidFill>
                  <a:srgbClr val="C9D6CF"/>
                </a:solidFill>
                <a:latin typeface="Calibri"/>
              </a:rPr>
              <a:t>Background: every airport with scheduled service in 2024, dot size proportional to its GACI score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434840" cy="6858000"/>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457200"/>
            <a:ext cx="3657600" cy="274320"/>
          </a:xfrm>
          <a:prstGeom prst="rect">
            <a:avLst/>
          </a:prstGeom>
          <a:noFill/>
        </p:spPr>
        <p:txBody>
          <a:bodyPr wrap="square" lIns="0" rIns="0" tIns="0" bIns="0" anchor="t">
            <a:spAutoFit/>
          </a:bodyPr>
          <a:lstStyle/>
          <a:p>
            <a:pPr algn="l">
              <a:spcAft>
                <a:spcPts val="600"/>
              </a:spcAft>
            </a:pPr>
            <a:r>
              <a:rPr sz="1050" b="1" i="0" spc="120" lang="en-US">
                <a:solidFill>
                  <a:srgbClr val="B8862F"/>
                </a:solidFill>
                <a:latin typeface="Calibri"/>
              </a:rPr>
              <a:t>ABOUT ME</a:t>
            </a:r>
          </a:p>
        </p:txBody>
      </p:sp>
      <p:sp>
        <p:nvSpPr>
          <p:cNvPr id="4" name="TextBox 3"/>
          <p:cNvSpPr txBox="1"/>
          <p:nvPr/>
        </p:nvSpPr>
        <p:spPr>
          <a:xfrm>
            <a:off x="502920" y="658368"/>
            <a:ext cx="3840480" cy="640080"/>
          </a:xfrm>
          <a:prstGeom prst="rect">
            <a:avLst/>
          </a:prstGeom>
          <a:noFill/>
        </p:spPr>
        <p:txBody>
          <a:bodyPr wrap="square" lIns="0" rIns="0" tIns="0" bIns="0" anchor="t">
            <a:spAutoFit/>
          </a:bodyPr>
          <a:lstStyle/>
          <a:p>
            <a:pPr algn="l">
              <a:spcAft>
                <a:spcPts val="600"/>
              </a:spcAft>
            </a:pPr>
            <a:r>
              <a:rPr sz="3400" b="0" i="0" lang="en-US">
                <a:solidFill>
                  <a:srgbClr val="FFFFFF"/>
                </a:solidFill>
                <a:latin typeface="Georgia"/>
              </a:rPr>
              <a:t>Sunbin YOO</a:t>
            </a:r>
          </a:p>
        </p:txBody>
      </p:sp>
      <p:sp>
        <p:nvSpPr>
          <p:cNvPr id="5" name="TextBox 4"/>
          <p:cNvSpPr txBox="1"/>
          <p:nvPr/>
        </p:nvSpPr>
        <p:spPr>
          <a:xfrm>
            <a:off x="521207" y="1243584"/>
            <a:ext cx="2743200" cy="365760"/>
          </a:xfrm>
          <a:prstGeom prst="rect">
            <a:avLst/>
          </a:prstGeom>
          <a:noFill/>
        </p:spPr>
        <p:txBody>
          <a:bodyPr wrap="square" lIns="0" rIns="0" tIns="0" bIns="0" anchor="t">
            <a:spAutoFit/>
          </a:bodyPr>
          <a:lstStyle/>
          <a:p>
            <a:pPr algn="l">
              <a:spcAft>
                <a:spcPts val="600"/>
              </a:spcAft>
            </a:pPr>
            <a:r>
              <a:rPr sz="1700" b="0" i="0" lang="ko-KR" altLang="en-US">
                <a:solidFill>
                  <a:srgbClr val="C9D6CF"/>
                </a:solidFill>
                <a:latin typeface="Calibri"/>
                <a:ea typeface="Malgun Gothic"/>
              </a:rPr>
              <a:t>유선빈</a:t>
            </a:r>
          </a:p>
        </p:txBody>
      </p:sp>
      <p:cxnSp>
        <p:nvCxnSpPr>
          <p:cNvPr id="6" name="Connector 5"/>
          <p:cNvCxnSpPr/>
          <p:nvPr/>
        </p:nvCxnSpPr>
        <p:spPr>
          <a:xfrm>
            <a:off x="521207" y="1719072"/>
            <a:ext cx="548641" cy="0"/>
          </a:xfrm>
          <a:prstGeom prst="line">
            <a:avLst/>
          </a:prstGeom>
          <a:ln w="19050">
            <a:solidFill>
              <a:srgbClr val="B8862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47088"/>
            <a:ext cx="3657600" cy="274320"/>
          </a:xfrm>
          <a:prstGeom prst="rect">
            <a:avLst/>
          </a:prstGeom>
          <a:noFill/>
        </p:spPr>
        <p:txBody>
          <a:bodyPr wrap="square" lIns="0" rIns="0" tIns="0" bIns="0" anchor="t">
            <a:spAutoFit/>
          </a:bodyPr>
          <a:lstStyle/>
          <a:p>
            <a:pPr algn="l">
              <a:spcAft>
                <a:spcPts val="600"/>
              </a:spcAft>
            </a:pPr>
            <a:r>
              <a:rPr sz="1050" b="1" i="0" spc="100" lang="en-US">
                <a:solidFill>
                  <a:srgbClr val="B8862F"/>
                </a:solidFill>
                <a:latin typeface="Calibri"/>
              </a:rPr>
              <a:t>CURRENT</a:t>
            </a:r>
          </a:p>
        </p:txBody>
      </p:sp>
      <p:sp>
        <p:nvSpPr>
          <p:cNvPr id="8" name="TextBox 7"/>
          <p:cNvSpPr txBox="1"/>
          <p:nvPr/>
        </p:nvSpPr>
        <p:spPr>
          <a:xfrm>
            <a:off x="502920" y="2084831"/>
            <a:ext cx="3749039" cy="1188720"/>
          </a:xfrm>
          <a:prstGeom prst="rect">
            <a:avLst/>
          </a:prstGeom>
          <a:noFill/>
        </p:spPr>
        <p:txBody>
          <a:bodyPr wrap="square" lIns="0" rIns="0" tIns="0" bIns="0" anchor="t">
            <a:spAutoFit/>
          </a:bodyPr>
          <a:lstStyle/>
          <a:p>
            <a:pPr algn="l">
              <a:lnSpc>
                <a:spcPct val="100000"/>
              </a:lnSpc>
              <a:spcAft>
                <a:spcPts val="0"/>
              </a:spcAft>
            </a:pPr>
            <a:r>
              <a:rPr sz="1400" b="1" i="0" lang="en-US">
                <a:solidFill>
                  <a:srgbClr val="FFFFFF"/>
                </a:solidFill>
                <a:latin typeface="Calibri"/>
              </a:rPr>
              <a:t>Associate Professor, Department of Energy</a:t>
            </a:r>
          </a:p>
          <a:p>
            <a:pPr algn="l">
              <a:lnSpc>
                <a:spcPct val="100000"/>
              </a:lnSpc>
              <a:spcAft>
                <a:spcPts val="700"/>
              </a:spcAft>
            </a:pPr>
            <a:r>
              <a:rPr sz="1300" b="0" i="0" lang="en-US">
                <a:solidFill>
                  <a:srgbClr val="C9D6CF"/>
                </a:solidFill>
                <a:latin typeface="Calibri"/>
              </a:rPr>
              <a:t>Sungkyunkwan University (SKKU), Korea</a:t>
            </a:r>
          </a:p>
          <a:p>
            <a:pPr algn="l">
              <a:lnSpc>
                <a:spcPct val="100000"/>
              </a:lnSpc>
              <a:spcAft>
                <a:spcPts val="0"/>
              </a:spcAft>
            </a:pPr>
            <a:r>
              <a:rPr sz="1300" b="1" i="0" lang="en-US">
                <a:solidFill>
                  <a:srgbClr val="FFFFFF"/>
                </a:solidFill>
                <a:latin typeface="Calibri"/>
              </a:rPr>
              <a:t>Project Associate Professor (joint appointment)</a:t>
            </a:r>
          </a:p>
          <a:p>
            <a:pPr algn="l">
              <a:lnSpc>
                <a:spcPct val="100000"/>
              </a:lnSpc>
              <a:spcAft>
                <a:spcPts val="0"/>
              </a:spcAft>
            </a:pPr>
            <a:r>
              <a:rPr sz="1250" b="0" i="0" lang="en-US">
                <a:solidFill>
                  <a:srgbClr val="C9D6CF"/>
                </a:solidFill>
                <a:latin typeface="Calibri"/>
              </a:rPr>
              <a:t>Keio University, Graduate School of Media Design</a:t>
            </a:r>
          </a:p>
        </p:txBody>
      </p:sp>
      <p:sp>
        <p:nvSpPr>
          <p:cNvPr id="9" name="TextBox 8"/>
          <p:cNvSpPr txBox="1"/>
          <p:nvPr/>
        </p:nvSpPr>
        <p:spPr>
          <a:xfrm>
            <a:off x="502920" y="3310128"/>
            <a:ext cx="3657600" cy="274320"/>
          </a:xfrm>
          <a:prstGeom prst="rect">
            <a:avLst/>
          </a:prstGeom>
          <a:noFill/>
        </p:spPr>
        <p:txBody>
          <a:bodyPr wrap="square" lIns="0" rIns="0" tIns="0" bIns="0" anchor="t">
            <a:spAutoFit/>
          </a:bodyPr>
          <a:lstStyle/>
          <a:p>
            <a:pPr algn="l">
              <a:spcAft>
                <a:spcPts val="600"/>
              </a:spcAft>
            </a:pPr>
            <a:r>
              <a:rPr sz="1050" b="1" i="0" spc="100" lang="en-US">
                <a:solidFill>
                  <a:srgbClr val="B8862F"/>
                </a:solidFill>
                <a:latin typeface="Calibri"/>
              </a:rPr>
              <a:t>PREVIOUSLY</a:t>
            </a:r>
          </a:p>
        </p:txBody>
      </p:sp>
      <p:sp>
        <p:nvSpPr>
          <p:cNvPr id="10" name="TextBox 9"/>
          <p:cNvSpPr txBox="1"/>
          <p:nvPr/>
        </p:nvSpPr>
        <p:spPr>
          <a:xfrm>
            <a:off x="502920" y="3547872"/>
            <a:ext cx="3749039" cy="822960"/>
          </a:xfrm>
          <a:prstGeom prst="rect">
            <a:avLst/>
          </a:prstGeom>
          <a:noFill/>
        </p:spPr>
        <p:txBody>
          <a:bodyPr wrap="square" lIns="0" rIns="0" tIns="0" bIns="0" anchor="t">
            <a:spAutoFit/>
          </a:bodyPr>
          <a:lstStyle/>
          <a:p>
            <a:pPr algn="l">
              <a:lnSpc>
                <a:spcPct val="100000"/>
              </a:lnSpc>
              <a:spcAft>
                <a:spcPts val="100"/>
              </a:spcAft>
            </a:pPr>
            <a:r>
              <a:rPr sz="1300" b="0" i="0" lang="en-US">
                <a:solidFill>
                  <a:srgbClr val="FFFFFF"/>
                </a:solidFill>
                <a:latin typeface="Calibri"/>
              </a:rPr>
              <a:t>Kyushu University, </a:t>
            </a:r>
            <a:r>
              <a:rPr sz="1300" b="0" i="0" lang="en-US">
                <a:solidFill>
                  <a:srgbClr val="C9D6CF"/>
                </a:solidFill>
                <a:latin typeface="Calibri"/>
              </a:rPr>
              <a:t>Faculty of Engineering</a:t>
            </a:r>
          </a:p>
          <a:p>
            <a:pPr algn="l">
              <a:lnSpc>
                <a:spcPct val="100000"/>
              </a:lnSpc>
              <a:spcAft>
                <a:spcPts val="100"/>
              </a:spcAft>
            </a:pPr>
            <a:r>
              <a:rPr sz="1300" b="0" i="0" lang="en-US">
                <a:solidFill>
                  <a:srgbClr val="FFFFFF"/>
                </a:solidFill>
                <a:latin typeface="Calibri"/>
              </a:rPr>
              <a:t>The University of Tokyo, </a:t>
            </a:r>
            <a:r>
              <a:rPr sz="1300" b="0" i="0" lang="en-US">
                <a:solidFill>
                  <a:srgbClr val="C9D6CF"/>
                </a:solidFill>
                <a:latin typeface="Calibri"/>
              </a:rPr>
              <a:t>PhD</a:t>
            </a:r>
          </a:p>
          <a:p>
            <a:pPr algn="l">
              <a:lnSpc>
                <a:spcPct val="100000"/>
              </a:lnSpc>
              <a:spcAft>
                <a:spcPts val="0"/>
              </a:spcAft>
            </a:pPr>
            <a:r>
              <a:rPr sz="1300" b="0" i="0" lang="en-US">
                <a:solidFill>
                  <a:srgbClr val="FFFFFF"/>
                </a:solidFill>
                <a:latin typeface="Calibri"/>
              </a:rPr>
              <a:t>Yonsei University, </a:t>
            </a:r>
            <a:r>
              <a:rPr sz="1300" b="0" i="0" lang="en-US">
                <a:solidFill>
                  <a:srgbClr val="C9D6CF"/>
                </a:solidFill>
                <a:latin typeface="Calibri"/>
              </a:rPr>
              <a:t>M.A. in Economics</a:t>
            </a:r>
          </a:p>
        </p:txBody>
      </p:sp>
      <p:pic>
        <p:nvPicPr>
          <p:cNvPr id="11" name="Picture 10" descr="map_krjp_about.png"/>
          <p:cNvPicPr>
            <a:picLocks noChangeAspect="1"/>
          </p:cNvPicPr>
          <p:nvPr/>
        </p:nvPicPr>
        <p:blipFill>
          <a:blip r:embed="rId3"/>
          <a:stretch>
            <a:fillRect/>
          </a:stretch>
        </p:blipFill>
        <p:spPr>
          <a:xfrm>
            <a:off x="411480" y="4370832"/>
            <a:ext cx="3657600" cy="2371634"/>
          </a:xfrm>
          <a:prstGeom prst="rect">
            <a:avLst/>
          </a:prstGeom>
        </p:spPr>
      </p:pic>
      <p:sp>
        <p:nvSpPr>
          <p:cNvPr id="12" name="TextBox 11"/>
          <p:cNvSpPr txBox="1"/>
          <p:nvPr/>
        </p:nvSpPr>
        <p:spPr>
          <a:xfrm>
            <a:off x="515112" y="4750675"/>
            <a:ext cx="1463040" cy="411480"/>
          </a:xfrm>
          <a:prstGeom prst="rect">
            <a:avLst/>
          </a:prstGeom>
          <a:noFill/>
        </p:spPr>
        <p:txBody>
          <a:bodyPr wrap="square" lIns="0" rIns="0" tIns="0" bIns="0" anchor="t">
            <a:spAutoFit/>
          </a:bodyPr>
          <a:lstStyle/>
          <a:p>
            <a:pPr algn="l">
              <a:lnSpc>
                <a:spcPct val="95000"/>
              </a:lnSpc>
              <a:spcAft>
                <a:spcPts val="0"/>
              </a:spcAft>
            </a:pPr>
            <a:r>
              <a:rPr sz="1100" b="1" i="0" lang="en-US">
                <a:solidFill>
                  <a:srgbClr val="FFFFFF"/>
                </a:solidFill>
                <a:latin typeface="Calibri"/>
              </a:rPr>
              <a:t>Seoul</a:t>
            </a:r>
          </a:p>
          <a:p>
            <a:pPr algn="l">
              <a:lnSpc>
                <a:spcPct val="95000"/>
              </a:lnSpc>
              <a:spcAft>
                <a:spcPts val="600"/>
              </a:spcAft>
            </a:pPr>
            <a:r>
              <a:rPr sz="1000" b="0" i="0" lang="en-US">
                <a:solidFill>
                  <a:srgbClr val="C9D6CF"/>
                </a:solidFill>
                <a:latin typeface="Calibri"/>
              </a:rPr>
              <a:t>SKKU · Yonsei</a:t>
            </a:r>
          </a:p>
        </p:txBody>
      </p:sp>
      <p:sp>
        <p:nvSpPr>
          <p:cNvPr id="13" name="TextBox 12"/>
          <p:cNvSpPr txBox="1"/>
          <p:nvPr/>
        </p:nvSpPr>
        <p:spPr>
          <a:xfrm>
            <a:off x="2973324" y="5799482"/>
            <a:ext cx="1143000" cy="411480"/>
          </a:xfrm>
          <a:prstGeom prst="rect">
            <a:avLst/>
          </a:prstGeom>
          <a:noFill/>
        </p:spPr>
        <p:txBody>
          <a:bodyPr wrap="square" lIns="0" rIns="0" tIns="0" bIns="0" anchor="t">
            <a:spAutoFit/>
          </a:bodyPr>
          <a:lstStyle/>
          <a:p>
            <a:pPr algn="l">
              <a:lnSpc>
                <a:spcPct val="95000"/>
              </a:lnSpc>
              <a:spcAft>
                <a:spcPts val="0"/>
              </a:spcAft>
            </a:pPr>
            <a:r>
              <a:rPr sz="1100" b="1" i="0" lang="en-US">
                <a:solidFill>
                  <a:srgbClr val="FFFFFF"/>
                </a:solidFill>
                <a:latin typeface="Calibri"/>
              </a:rPr>
              <a:t>Tokyo</a:t>
            </a:r>
          </a:p>
          <a:p>
            <a:pPr algn="l">
              <a:lnSpc>
                <a:spcPct val="95000"/>
              </a:lnSpc>
              <a:spcAft>
                <a:spcPts val="600"/>
              </a:spcAft>
            </a:pPr>
            <a:r>
              <a:rPr sz="1000" b="0" i="0" lang="en-US">
                <a:solidFill>
                  <a:srgbClr val="C9D6CF"/>
                </a:solidFill>
                <a:latin typeface="Calibri"/>
              </a:rPr>
              <a:t>UTokyo · Keio</a:t>
            </a:r>
          </a:p>
        </p:txBody>
      </p:sp>
      <p:sp>
        <p:nvSpPr>
          <p:cNvPr id="14" name="TextBox 13"/>
          <p:cNvSpPr txBox="1"/>
          <p:nvPr/>
        </p:nvSpPr>
        <p:spPr>
          <a:xfrm>
            <a:off x="332232" y="6085026"/>
            <a:ext cx="1097280" cy="411480"/>
          </a:xfrm>
          <a:prstGeom prst="rect">
            <a:avLst/>
          </a:prstGeom>
          <a:noFill/>
        </p:spPr>
        <p:txBody>
          <a:bodyPr wrap="square" lIns="0" rIns="0" tIns="0" bIns="0" anchor="t">
            <a:spAutoFit/>
          </a:bodyPr>
          <a:lstStyle/>
          <a:p>
            <a:pPr algn="r">
              <a:lnSpc>
                <a:spcPct val="95000"/>
              </a:lnSpc>
              <a:spcAft>
                <a:spcPts val="0"/>
              </a:spcAft>
            </a:pPr>
            <a:r>
              <a:rPr sz="1100" b="1" i="0" lang="en-US">
                <a:solidFill>
                  <a:srgbClr val="FFFFFF"/>
                </a:solidFill>
                <a:latin typeface="Calibri"/>
              </a:rPr>
              <a:t>Fukuoka</a:t>
            </a:r>
          </a:p>
          <a:p>
            <a:pPr algn="r">
              <a:lnSpc>
                <a:spcPct val="95000"/>
              </a:lnSpc>
              <a:spcAft>
                <a:spcPts val="600"/>
              </a:spcAft>
            </a:pPr>
            <a:r>
              <a:rPr sz="1000" b="0" i="0" lang="en-US">
                <a:solidFill>
                  <a:srgbClr val="C9D6CF"/>
                </a:solidFill>
                <a:latin typeface="Calibri"/>
              </a:rPr>
              <a:t>Kyushu Univ.</a:t>
            </a:r>
          </a:p>
        </p:txBody>
      </p:sp>
      <p:sp>
        <p:nvSpPr>
          <p:cNvPr id="15" name="TextBox 14"/>
          <p:cNvSpPr txBox="1"/>
          <p:nvPr/>
        </p:nvSpPr>
        <p:spPr>
          <a:xfrm>
            <a:off x="4800600" y="512064"/>
            <a:ext cx="6842455" cy="548640"/>
          </a:xfrm>
          <a:prstGeom prst="rect">
            <a:avLst/>
          </a:prstGeom>
          <a:noFill/>
        </p:spPr>
        <p:txBody>
          <a:bodyPr wrap="square" lIns="0" rIns="0" tIns="0" bIns="0" anchor="t">
            <a:spAutoFit/>
          </a:bodyPr>
          <a:lstStyle/>
          <a:p>
            <a:pPr algn="l">
              <a:spcAft>
                <a:spcPts val="600"/>
              </a:spcAft>
            </a:pPr>
            <a:r>
              <a:rPr sz="2800" b="0" i="0" lang="en-US">
                <a:solidFill>
                  <a:srgbClr val="22211F"/>
                </a:solidFill>
                <a:latin typeface="Georgia"/>
              </a:rPr>
              <a:t>Research themes</a:t>
            </a:r>
          </a:p>
        </p:txBody>
      </p:sp>
      <p:sp>
        <p:nvSpPr>
          <p:cNvPr id="16" name="TextBox 15"/>
          <p:cNvSpPr txBox="1"/>
          <p:nvPr/>
        </p:nvSpPr>
        <p:spPr>
          <a:xfrm>
            <a:off x="4800600" y="1115568"/>
            <a:ext cx="6842455" cy="566928"/>
          </a:xfrm>
          <a:prstGeom prst="rect">
            <a:avLst/>
          </a:prstGeom>
          <a:noFill/>
        </p:spPr>
        <p:txBody>
          <a:bodyPr wrap="square" lIns="0" rIns="0" tIns="0" bIns="0" anchor="t">
            <a:spAutoFit/>
          </a:bodyPr>
          <a:lstStyle/>
          <a:p>
            <a:pPr algn="l">
              <a:lnSpc>
                <a:spcPct val="105000"/>
              </a:lnSpc>
              <a:spcAft>
                <a:spcPts val="0"/>
              </a:spcAft>
            </a:pPr>
            <a:r>
              <a:rPr sz="1200" b="0" i="0" lang="en-US">
                <a:solidFill>
                  <a:srgbClr val="6F6A62"/>
                </a:solidFill>
                <a:latin typeface="Calibri"/>
              </a:rPr>
              <a:t>Energy &amp; environmental economics · Energy policy evaluation · Behavioral economics &amp; choice modeling</a:t>
            </a:r>
          </a:p>
          <a:p>
            <a:pPr algn="l">
              <a:lnSpc>
                <a:spcPct val="105000"/>
              </a:lnSpc>
              <a:spcAft>
                <a:spcPts val="0"/>
              </a:spcAft>
            </a:pPr>
            <a:r>
              <a:rPr sz="1200" b="0" i="0" lang="en-US">
                <a:solidFill>
                  <a:srgbClr val="6F6A62"/>
                </a:solidFill>
                <a:latin typeface="Calibri"/>
              </a:rPr>
              <a:t>Low-carbon transport &amp; infrastructure · AI data centers &amp; clean power systems</a:t>
            </a:r>
          </a:p>
        </p:txBody>
      </p:sp>
      <p:cxnSp>
        <p:nvCxnSpPr>
          <p:cNvPr id="17" name="Connector 16"/>
          <p:cNvCxnSpPr/>
          <p:nvPr/>
        </p:nvCxnSpPr>
        <p:spPr>
          <a:xfrm>
            <a:off x="4800600" y="1737360"/>
            <a:ext cx="6842455" cy="0"/>
          </a:xfrm>
          <a:prstGeom prst="line">
            <a:avLst/>
          </a:prstGeom>
          <a:ln w="12700">
            <a:solidFill>
              <a:srgbClr val="22211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800600" y="1792224"/>
            <a:ext cx="411480" cy="411480"/>
          </a:xfrm>
          <a:prstGeom prst="rect">
            <a:avLst/>
          </a:prstGeom>
          <a:noFill/>
        </p:spPr>
        <p:txBody>
          <a:bodyPr wrap="square" lIns="0" rIns="0" tIns="0" bIns="0" anchor="t">
            <a:spAutoFit/>
          </a:bodyPr>
          <a:lstStyle/>
          <a:p>
            <a:pPr algn="l">
              <a:spcAft>
                <a:spcPts val="600"/>
              </a:spcAft>
            </a:pPr>
            <a:r>
              <a:rPr sz="2100" b="0" i="0" lang="en-US">
                <a:solidFill>
                  <a:srgbClr val="B8862F"/>
                </a:solidFill>
                <a:latin typeface="Georgia"/>
              </a:rPr>
              <a:t>1</a:t>
            </a:r>
          </a:p>
        </p:txBody>
      </p:sp>
      <p:sp>
        <p:nvSpPr>
          <p:cNvPr id="19" name="TextBox 18"/>
          <p:cNvSpPr txBox="1"/>
          <p:nvPr/>
        </p:nvSpPr>
        <p:spPr>
          <a:xfrm>
            <a:off x="5212080" y="1828800"/>
            <a:ext cx="4572000" cy="347472"/>
          </a:xfrm>
          <a:prstGeom prst="rect">
            <a:avLst/>
          </a:prstGeom>
          <a:noFill/>
        </p:spPr>
        <p:txBody>
          <a:bodyPr wrap="square" lIns="0" rIns="0" tIns="0" bIns="0" anchor="t">
            <a:spAutoFit/>
          </a:bodyPr>
          <a:lstStyle/>
          <a:p>
            <a:pPr algn="l">
              <a:spcAft>
                <a:spcPts val="600"/>
              </a:spcAft>
            </a:pPr>
            <a:r>
              <a:rPr sz="1600" b="0" i="0" lang="en-US">
                <a:solidFill>
                  <a:srgbClr val="1F3A32"/>
                </a:solidFill>
                <a:latin typeface="Georgia"/>
              </a:rPr>
              <a:t>Transport infrastructure &amp; decarbonization</a:t>
            </a:r>
          </a:p>
        </p:txBody>
      </p:sp>
      <p:sp>
        <p:nvSpPr>
          <p:cNvPr id="20" name="TextBox 19"/>
          <p:cNvSpPr txBox="1"/>
          <p:nvPr/>
        </p:nvSpPr>
        <p:spPr>
          <a:xfrm>
            <a:off x="10180015" y="1883664"/>
            <a:ext cx="1463040" cy="274320"/>
          </a:xfrm>
          <a:prstGeom prst="rect">
            <a:avLst/>
          </a:prstGeom>
          <a:noFill/>
        </p:spPr>
        <p:txBody>
          <a:bodyPr wrap="square" lIns="0" rIns="0" tIns="0" bIns="0" anchor="t">
            <a:spAutoFit/>
          </a:bodyPr>
          <a:lstStyle/>
          <a:p>
            <a:pPr algn="r">
              <a:spcAft>
                <a:spcPts val="600"/>
              </a:spcAft>
            </a:pPr>
            <a:r>
              <a:rPr sz="1150" b="0" i="1" lang="en-US">
                <a:solidFill>
                  <a:srgbClr val="B8862F"/>
                </a:solidFill>
                <a:latin typeface="Calibri"/>
              </a:rPr>
              <a:t>today’s talk</a:t>
            </a:r>
          </a:p>
        </p:txBody>
      </p:sp>
      <p:sp>
        <p:nvSpPr>
          <p:cNvPr id="21" name="TextBox 20"/>
          <p:cNvSpPr txBox="1"/>
          <p:nvPr/>
        </p:nvSpPr>
        <p:spPr>
          <a:xfrm>
            <a:off x="5212080" y="2167128"/>
            <a:ext cx="4023359" cy="256032"/>
          </a:xfrm>
          <a:prstGeom prst="rect">
            <a:avLst/>
          </a:prstGeom>
          <a:noFill/>
        </p:spPr>
        <p:txBody>
          <a:bodyPr wrap="square" lIns="0" rIns="0" tIns="0" bIns="0" anchor="t">
            <a:spAutoFit/>
          </a:bodyPr>
          <a:lstStyle/>
          <a:p>
            <a:pPr algn="l">
              <a:spcAft>
                <a:spcPts val="600"/>
              </a:spcAft>
            </a:pPr>
            <a:r>
              <a:rPr sz="1200" b="0" i="0" lang="en-US">
                <a:solidFill>
                  <a:srgbClr val="22211F"/>
                </a:solidFill>
                <a:latin typeface="Calibri"/>
              </a:rPr>
              <a:t>HSR, expressways &amp; energy infra revitalization</a:t>
            </a:r>
          </a:p>
        </p:txBody>
      </p:sp>
      <p:sp>
        <p:nvSpPr>
          <p:cNvPr id="22" name="TextBox 21"/>
          <p:cNvSpPr txBox="1"/>
          <p:nvPr/>
        </p:nvSpPr>
        <p:spPr>
          <a:xfrm>
            <a:off x="9326880" y="2167128"/>
            <a:ext cx="2316175" cy="256032"/>
          </a:xfrm>
          <a:prstGeom prst="rect">
            <a:avLst/>
          </a:prstGeom>
          <a:noFill/>
        </p:spPr>
        <p:txBody>
          <a:bodyPr wrap="square" lIns="0" rIns="0" tIns="0" bIns="0" anchor="t">
            <a:spAutoFit/>
          </a:bodyPr>
          <a:lstStyle/>
          <a:p>
            <a:pPr algn="l">
              <a:spcAft>
                <a:spcPts val="600"/>
              </a:spcAft>
            </a:pPr>
            <a:r>
              <a:rPr sz="1100" b="0" i="1" lang="en-US">
                <a:solidFill>
                  <a:srgbClr val="6F6A62"/>
                </a:solidFill>
                <a:latin typeface="Calibri"/>
              </a:rPr>
              <a:t>Transportation Research Part A, 2026</a:t>
            </a:r>
          </a:p>
        </p:txBody>
      </p:sp>
      <p:sp>
        <p:nvSpPr>
          <p:cNvPr id="23" name="TextBox 22"/>
          <p:cNvSpPr txBox="1"/>
          <p:nvPr/>
        </p:nvSpPr>
        <p:spPr>
          <a:xfrm>
            <a:off x="5212080" y="2414016"/>
            <a:ext cx="4023359" cy="256032"/>
          </a:xfrm>
          <a:prstGeom prst="rect">
            <a:avLst/>
          </a:prstGeom>
          <a:noFill/>
        </p:spPr>
        <p:txBody>
          <a:bodyPr wrap="square" lIns="0" rIns="0" tIns="0" bIns="0" anchor="t">
            <a:spAutoFit/>
          </a:bodyPr>
          <a:lstStyle/>
          <a:p>
            <a:pPr algn="l">
              <a:spcAft>
                <a:spcPts val="600"/>
              </a:spcAft>
            </a:pPr>
            <a:r>
              <a:rPr sz="1200" b="0" i="0" lang="en-US">
                <a:solidFill>
                  <a:srgbClr val="22211F"/>
                </a:solidFill>
                <a:latin typeface="Calibri"/>
              </a:rPr>
              <a:t>Sectoral decarbonization and HSR</a:t>
            </a:r>
          </a:p>
        </p:txBody>
      </p:sp>
      <p:sp>
        <p:nvSpPr>
          <p:cNvPr id="24" name="TextBox 23"/>
          <p:cNvSpPr txBox="1"/>
          <p:nvPr/>
        </p:nvSpPr>
        <p:spPr>
          <a:xfrm>
            <a:off x="9326880" y="2414016"/>
            <a:ext cx="2316175" cy="256032"/>
          </a:xfrm>
          <a:prstGeom prst="rect">
            <a:avLst/>
          </a:prstGeom>
          <a:noFill/>
        </p:spPr>
        <p:txBody>
          <a:bodyPr wrap="square" lIns="0" rIns="0" tIns="0" bIns="0" anchor="t">
            <a:spAutoFit/>
          </a:bodyPr>
          <a:lstStyle/>
          <a:p>
            <a:pPr algn="l">
              <a:spcAft>
                <a:spcPts val="600"/>
              </a:spcAft>
            </a:pPr>
            <a:r>
              <a:rPr sz="1100" b="0" i="1" lang="en-US">
                <a:solidFill>
                  <a:srgbClr val="6F6A62"/>
                </a:solidFill>
                <a:latin typeface="Calibri"/>
              </a:rPr>
              <a:t>Energy Economics, 2026</a:t>
            </a:r>
          </a:p>
        </p:txBody>
      </p:sp>
      <p:sp>
        <p:nvSpPr>
          <p:cNvPr id="25" name="TextBox 24"/>
          <p:cNvSpPr txBox="1"/>
          <p:nvPr/>
        </p:nvSpPr>
        <p:spPr>
          <a:xfrm>
            <a:off x="5212080" y="2660904"/>
            <a:ext cx="4023359" cy="256032"/>
          </a:xfrm>
          <a:prstGeom prst="rect">
            <a:avLst/>
          </a:prstGeom>
          <a:noFill/>
        </p:spPr>
        <p:txBody>
          <a:bodyPr wrap="square" lIns="0" rIns="0" tIns="0" bIns="0" anchor="t">
            <a:spAutoFit/>
          </a:bodyPr>
          <a:lstStyle/>
          <a:p>
            <a:pPr algn="l">
              <a:spcAft>
                <a:spcPts val="600"/>
              </a:spcAft>
            </a:pPr>
            <a:r>
              <a:rPr sz="1200" b="0" i="0" lang="en-US">
                <a:solidFill>
                  <a:srgbClr val="22211F"/>
                </a:solidFill>
                <a:latin typeface="Calibri"/>
              </a:rPr>
              <a:t>Air connectivity and aviation CO₂</a:t>
            </a:r>
          </a:p>
        </p:txBody>
      </p:sp>
      <p:sp>
        <p:nvSpPr>
          <p:cNvPr id="26" name="TextBox 25"/>
          <p:cNvSpPr txBox="1"/>
          <p:nvPr/>
        </p:nvSpPr>
        <p:spPr>
          <a:xfrm>
            <a:off x="9326880" y="2660904"/>
            <a:ext cx="2316175" cy="256032"/>
          </a:xfrm>
          <a:prstGeom prst="rect">
            <a:avLst/>
          </a:prstGeom>
          <a:noFill/>
        </p:spPr>
        <p:txBody>
          <a:bodyPr wrap="square" lIns="0" rIns="0" tIns="0" bIns="0" anchor="t">
            <a:spAutoFit/>
          </a:bodyPr>
          <a:lstStyle/>
          <a:p>
            <a:pPr algn="l">
              <a:spcAft>
                <a:spcPts val="600"/>
              </a:spcAft>
            </a:pPr>
            <a:r>
              <a:rPr sz="1100" b="0" i="1" lang="en-US">
                <a:solidFill>
                  <a:srgbClr val="6F6A62"/>
                </a:solidFill>
                <a:latin typeface="Calibri"/>
              </a:rPr>
              <a:t>Under review</a:t>
            </a:r>
          </a:p>
        </p:txBody>
      </p:sp>
      <p:cxnSp>
        <p:nvCxnSpPr>
          <p:cNvPr id="27" name="Connector 26"/>
          <p:cNvCxnSpPr/>
          <p:nvPr/>
        </p:nvCxnSpPr>
        <p:spPr>
          <a:xfrm>
            <a:off x="4800600" y="2962656"/>
            <a:ext cx="6842455" cy="0"/>
          </a:xfrm>
          <a:prstGeom prst="line">
            <a:avLst/>
          </a:prstGeom>
          <a:ln w="9525">
            <a:solidFill>
              <a:srgbClr val="D9D5C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800600" y="3054096"/>
            <a:ext cx="411480" cy="411480"/>
          </a:xfrm>
          <a:prstGeom prst="rect">
            <a:avLst/>
          </a:prstGeom>
          <a:noFill/>
        </p:spPr>
        <p:txBody>
          <a:bodyPr wrap="square" lIns="0" rIns="0" tIns="0" bIns="0" anchor="t">
            <a:spAutoFit/>
          </a:bodyPr>
          <a:lstStyle/>
          <a:p>
            <a:pPr algn="l">
              <a:spcAft>
                <a:spcPts val="600"/>
              </a:spcAft>
            </a:pPr>
            <a:r>
              <a:rPr sz="2100" b="0" i="0" lang="en-US">
                <a:solidFill>
                  <a:srgbClr val="B8862F"/>
                </a:solidFill>
                <a:latin typeface="Georgia"/>
              </a:rPr>
              <a:t>2</a:t>
            </a:r>
          </a:p>
        </p:txBody>
      </p:sp>
      <p:sp>
        <p:nvSpPr>
          <p:cNvPr id="29" name="TextBox 28"/>
          <p:cNvSpPr txBox="1"/>
          <p:nvPr/>
        </p:nvSpPr>
        <p:spPr>
          <a:xfrm>
            <a:off x="5212080" y="3090672"/>
            <a:ext cx="4572000" cy="347472"/>
          </a:xfrm>
          <a:prstGeom prst="rect">
            <a:avLst/>
          </a:prstGeom>
          <a:noFill/>
        </p:spPr>
        <p:txBody>
          <a:bodyPr wrap="square" lIns="0" rIns="0" tIns="0" bIns="0" anchor="t">
            <a:spAutoFit/>
          </a:bodyPr>
          <a:lstStyle/>
          <a:p>
            <a:pPr algn="l">
              <a:spcAft>
                <a:spcPts val="600"/>
              </a:spcAft>
            </a:pPr>
            <a:r>
              <a:rPr sz="1600" b="0" i="0" lang="en-US">
                <a:solidFill>
                  <a:srgbClr val="1F3A32"/>
                </a:solidFill>
                <a:latin typeface="Georgia"/>
              </a:rPr>
              <a:t>AI data centers &amp; power systems</a:t>
            </a:r>
          </a:p>
        </p:txBody>
      </p:sp>
      <p:sp>
        <p:nvSpPr>
          <p:cNvPr id="30" name="TextBox 29"/>
          <p:cNvSpPr txBox="1"/>
          <p:nvPr/>
        </p:nvSpPr>
        <p:spPr>
          <a:xfrm>
            <a:off x="5212080" y="3429000"/>
            <a:ext cx="4023359" cy="256032"/>
          </a:xfrm>
          <a:prstGeom prst="rect">
            <a:avLst/>
          </a:prstGeom>
          <a:noFill/>
        </p:spPr>
        <p:txBody>
          <a:bodyPr wrap="square" lIns="0" rIns="0" tIns="0" bIns="0" anchor="t">
            <a:spAutoFit/>
          </a:bodyPr>
          <a:lstStyle/>
          <a:p>
            <a:pPr algn="l">
              <a:spcAft>
                <a:spcPts val="600"/>
              </a:spcAft>
            </a:pPr>
            <a:r>
              <a:rPr sz="1200" b="0" i="0" lang="en-US">
                <a:solidFill>
                  <a:srgbClr val="22211F"/>
                </a:solidFill>
                <a:latin typeface="Calibri"/>
              </a:rPr>
              <a:t>Can renewables meet AI power demand? A systematic review</a:t>
            </a:r>
          </a:p>
        </p:txBody>
      </p:sp>
      <p:sp>
        <p:nvSpPr>
          <p:cNvPr id="31" name="TextBox 30"/>
          <p:cNvSpPr txBox="1"/>
          <p:nvPr/>
        </p:nvSpPr>
        <p:spPr>
          <a:xfrm>
            <a:off x="9326880" y="3429000"/>
            <a:ext cx="2316175" cy="256032"/>
          </a:xfrm>
          <a:prstGeom prst="rect">
            <a:avLst/>
          </a:prstGeom>
          <a:noFill/>
        </p:spPr>
        <p:txBody>
          <a:bodyPr wrap="square" lIns="0" rIns="0" tIns="0" bIns="0" anchor="t">
            <a:spAutoFit/>
          </a:bodyPr>
          <a:lstStyle/>
          <a:p>
            <a:pPr algn="l">
              <a:spcAft>
                <a:spcPts val="600"/>
              </a:spcAft>
            </a:pPr>
            <a:r>
              <a:rPr sz="1100" b="0" i="1" lang="en-US">
                <a:solidFill>
                  <a:srgbClr val="6F6A62"/>
                </a:solidFill>
                <a:latin typeface="Calibri"/>
              </a:rPr>
              <a:t>RSER, 2026</a:t>
            </a:r>
          </a:p>
        </p:txBody>
      </p:sp>
      <p:sp>
        <p:nvSpPr>
          <p:cNvPr id="32" name="TextBox 31"/>
          <p:cNvSpPr txBox="1"/>
          <p:nvPr/>
        </p:nvSpPr>
        <p:spPr>
          <a:xfrm>
            <a:off x="5212080" y="3675887"/>
            <a:ext cx="4023359" cy="256032"/>
          </a:xfrm>
          <a:prstGeom prst="rect">
            <a:avLst/>
          </a:prstGeom>
          <a:noFill/>
        </p:spPr>
        <p:txBody>
          <a:bodyPr wrap="square" lIns="0" rIns="0" tIns="0" bIns="0" anchor="t">
            <a:spAutoFit/>
          </a:bodyPr>
          <a:lstStyle/>
          <a:p>
            <a:pPr algn="l">
              <a:spcAft>
                <a:spcPts val="600"/>
              </a:spcAft>
            </a:pPr>
            <a:r>
              <a:rPr sz="1200" b="0" i="0" lang="en-US">
                <a:solidFill>
                  <a:srgbClr val="22211F"/>
                </a:solidFill>
                <a:latin typeface="Calibri"/>
              </a:rPr>
              <a:t>Clean power buildout for AI data centers (Minnesota &amp; Korea)</a:t>
            </a:r>
          </a:p>
        </p:txBody>
      </p:sp>
      <p:sp>
        <p:nvSpPr>
          <p:cNvPr id="33" name="TextBox 32"/>
          <p:cNvSpPr txBox="1"/>
          <p:nvPr/>
        </p:nvSpPr>
        <p:spPr>
          <a:xfrm>
            <a:off x="9326880" y="3675887"/>
            <a:ext cx="2316175" cy="256032"/>
          </a:xfrm>
          <a:prstGeom prst="rect">
            <a:avLst/>
          </a:prstGeom>
          <a:noFill/>
        </p:spPr>
        <p:txBody>
          <a:bodyPr wrap="square" lIns="0" rIns="0" tIns="0" bIns="0" anchor="t">
            <a:spAutoFit/>
          </a:bodyPr>
          <a:lstStyle/>
          <a:p>
            <a:pPr algn="l">
              <a:spcAft>
                <a:spcPts val="600"/>
              </a:spcAft>
            </a:pPr>
            <a:r>
              <a:rPr sz="1100" b="0" i="1" lang="en-US">
                <a:solidFill>
                  <a:srgbClr val="6F6A62"/>
                </a:solidFill>
                <a:latin typeface="Calibri"/>
              </a:rPr>
              <a:t>Applied Energy (in prep.)</a:t>
            </a:r>
          </a:p>
        </p:txBody>
      </p:sp>
      <p:cxnSp>
        <p:nvCxnSpPr>
          <p:cNvPr id="34" name="Connector 33"/>
          <p:cNvCxnSpPr/>
          <p:nvPr/>
        </p:nvCxnSpPr>
        <p:spPr>
          <a:xfrm>
            <a:off x="4800600" y="3977639"/>
            <a:ext cx="6842455" cy="0"/>
          </a:xfrm>
          <a:prstGeom prst="line">
            <a:avLst/>
          </a:prstGeom>
          <a:ln w="9525">
            <a:solidFill>
              <a:srgbClr val="D9D5CC"/>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800600" y="4069079"/>
            <a:ext cx="411480" cy="411480"/>
          </a:xfrm>
          <a:prstGeom prst="rect">
            <a:avLst/>
          </a:prstGeom>
          <a:noFill/>
        </p:spPr>
        <p:txBody>
          <a:bodyPr wrap="square" lIns="0" rIns="0" tIns="0" bIns="0" anchor="t">
            <a:spAutoFit/>
          </a:bodyPr>
          <a:lstStyle/>
          <a:p>
            <a:pPr algn="l">
              <a:spcAft>
                <a:spcPts val="600"/>
              </a:spcAft>
            </a:pPr>
            <a:r>
              <a:rPr sz="2100" b="0" i="0" lang="en-US">
                <a:solidFill>
                  <a:srgbClr val="B8862F"/>
                </a:solidFill>
                <a:latin typeface="Georgia"/>
              </a:rPr>
              <a:t>3</a:t>
            </a:r>
          </a:p>
        </p:txBody>
      </p:sp>
      <p:sp>
        <p:nvSpPr>
          <p:cNvPr id="36" name="TextBox 35"/>
          <p:cNvSpPr txBox="1"/>
          <p:nvPr/>
        </p:nvSpPr>
        <p:spPr>
          <a:xfrm>
            <a:off x="5212080" y="4105655"/>
            <a:ext cx="4572000" cy="347472"/>
          </a:xfrm>
          <a:prstGeom prst="rect">
            <a:avLst/>
          </a:prstGeom>
          <a:noFill/>
        </p:spPr>
        <p:txBody>
          <a:bodyPr wrap="square" lIns="0" rIns="0" tIns="0" bIns="0" anchor="t">
            <a:spAutoFit/>
          </a:bodyPr>
          <a:lstStyle/>
          <a:p>
            <a:pPr algn="l">
              <a:spcAft>
                <a:spcPts val="600"/>
              </a:spcAft>
            </a:pPr>
            <a:r>
              <a:rPr sz="1600" b="0" i="0" lang="en-US">
                <a:solidFill>
                  <a:srgbClr val="1F3A32"/>
                </a:solidFill>
                <a:latin typeface="Georgia"/>
              </a:rPr>
              <a:t>Energy &amp; mobility behavior</a:t>
            </a:r>
          </a:p>
        </p:txBody>
      </p:sp>
      <p:sp>
        <p:nvSpPr>
          <p:cNvPr id="37" name="TextBox 36"/>
          <p:cNvSpPr txBox="1"/>
          <p:nvPr/>
        </p:nvSpPr>
        <p:spPr>
          <a:xfrm>
            <a:off x="5212080" y="4443983"/>
            <a:ext cx="4023359" cy="256032"/>
          </a:xfrm>
          <a:prstGeom prst="rect">
            <a:avLst/>
          </a:prstGeom>
          <a:noFill/>
        </p:spPr>
        <p:txBody>
          <a:bodyPr wrap="square" lIns="0" rIns="0" tIns="0" bIns="0" anchor="t">
            <a:spAutoFit/>
          </a:bodyPr>
          <a:lstStyle/>
          <a:p>
            <a:pPr algn="l">
              <a:spcAft>
                <a:spcPts val="600"/>
              </a:spcAft>
            </a:pPr>
            <a:r>
              <a:rPr sz="1200" b="0" i="0" lang="en-US">
                <a:solidFill>
                  <a:srgbClr val="22211F"/>
                </a:solidFill>
                <a:latin typeface="Calibri"/>
              </a:rPr>
              <a:t>Diesel policy abandonment and consumer behavior</a:t>
            </a:r>
          </a:p>
        </p:txBody>
      </p:sp>
      <p:sp>
        <p:nvSpPr>
          <p:cNvPr id="38" name="TextBox 37"/>
          <p:cNvSpPr txBox="1"/>
          <p:nvPr/>
        </p:nvSpPr>
        <p:spPr>
          <a:xfrm>
            <a:off x="9326880" y="4443983"/>
            <a:ext cx="2316175" cy="256032"/>
          </a:xfrm>
          <a:prstGeom prst="rect">
            <a:avLst/>
          </a:prstGeom>
          <a:noFill/>
        </p:spPr>
        <p:txBody>
          <a:bodyPr wrap="square" lIns="0" rIns="0" tIns="0" bIns="0" anchor="t">
            <a:spAutoFit/>
          </a:bodyPr>
          <a:lstStyle/>
          <a:p>
            <a:pPr algn="l">
              <a:spcAft>
                <a:spcPts val="600"/>
              </a:spcAft>
            </a:pPr>
            <a:r>
              <a:rPr sz="1100" b="0" i="1" lang="en-US">
                <a:solidFill>
                  <a:srgbClr val="6F6A62"/>
                </a:solidFill>
                <a:latin typeface="Calibri"/>
              </a:rPr>
              <a:t>Energy Economics, 2020</a:t>
            </a:r>
          </a:p>
        </p:txBody>
      </p:sp>
      <p:sp>
        <p:nvSpPr>
          <p:cNvPr id="39" name="TextBox 38"/>
          <p:cNvSpPr txBox="1"/>
          <p:nvPr/>
        </p:nvSpPr>
        <p:spPr>
          <a:xfrm>
            <a:off x="5212080" y="4690871"/>
            <a:ext cx="4023359" cy="256032"/>
          </a:xfrm>
          <a:prstGeom prst="rect">
            <a:avLst/>
          </a:prstGeom>
          <a:noFill/>
        </p:spPr>
        <p:txBody>
          <a:bodyPr wrap="square" lIns="0" rIns="0" tIns="0" bIns="0" anchor="t">
            <a:spAutoFit/>
          </a:bodyPr>
          <a:lstStyle/>
          <a:p>
            <a:pPr algn="l">
              <a:spcAft>
                <a:spcPts val="600"/>
              </a:spcAft>
            </a:pPr>
            <a:r>
              <a:rPr sz="1200" b="0" i="0" lang="en-US">
                <a:solidFill>
                  <a:srgbClr val="22211F"/>
                </a:solidFill>
                <a:latin typeface="Calibri"/>
              </a:rPr>
              <a:t>Drone vs truck: choice &amp; WTP for last-mile delivery</a:t>
            </a:r>
          </a:p>
        </p:txBody>
      </p:sp>
      <p:sp>
        <p:nvSpPr>
          <p:cNvPr id="40" name="TextBox 39"/>
          <p:cNvSpPr txBox="1"/>
          <p:nvPr/>
        </p:nvSpPr>
        <p:spPr>
          <a:xfrm>
            <a:off x="9326880" y="4690871"/>
            <a:ext cx="2316175" cy="256032"/>
          </a:xfrm>
          <a:prstGeom prst="rect">
            <a:avLst/>
          </a:prstGeom>
          <a:noFill/>
        </p:spPr>
        <p:txBody>
          <a:bodyPr wrap="square" lIns="0" rIns="0" tIns="0" bIns="0" anchor="t">
            <a:spAutoFit/>
          </a:bodyPr>
          <a:lstStyle/>
          <a:p>
            <a:pPr algn="l">
              <a:spcAft>
                <a:spcPts val="600"/>
              </a:spcAft>
            </a:pPr>
            <a:r>
              <a:rPr sz="1100" b="0" i="1" lang="en-US">
                <a:solidFill>
                  <a:srgbClr val="6F6A62"/>
                </a:solidFill>
                <a:latin typeface="Calibri"/>
              </a:rPr>
              <a:t>Transportation Research Part E, 2026</a:t>
            </a:r>
          </a:p>
        </p:txBody>
      </p:sp>
      <p:sp>
        <p:nvSpPr>
          <p:cNvPr id="41" name="TextBox 40"/>
          <p:cNvSpPr txBox="1"/>
          <p:nvPr/>
        </p:nvSpPr>
        <p:spPr>
          <a:xfrm>
            <a:off x="5212080" y="4937759"/>
            <a:ext cx="4023359" cy="256032"/>
          </a:xfrm>
          <a:prstGeom prst="rect">
            <a:avLst/>
          </a:prstGeom>
          <a:noFill/>
        </p:spPr>
        <p:txBody>
          <a:bodyPr wrap="square" lIns="0" rIns="0" tIns="0" bIns="0" anchor="t">
            <a:spAutoFit/>
          </a:bodyPr>
          <a:lstStyle/>
          <a:p>
            <a:pPr algn="l">
              <a:spcAft>
                <a:spcPts val="600"/>
              </a:spcAft>
            </a:pPr>
            <a:r>
              <a:rPr sz="1200" b="0" i="0" lang="en-US">
                <a:solidFill>
                  <a:srgbClr val="22211F"/>
                </a:solidFill>
                <a:latin typeface="Calibri"/>
              </a:rPr>
              <a:t>Ethical dilemma of autonomous vehicles</a:t>
            </a:r>
          </a:p>
        </p:txBody>
      </p:sp>
      <p:sp>
        <p:nvSpPr>
          <p:cNvPr id="42" name="TextBox 41"/>
          <p:cNvSpPr txBox="1"/>
          <p:nvPr/>
        </p:nvSpPr>
        <p:spPr>
          <a:xfrm>
            <a:off x="9326880" y="4937759"/>
            <a:ext cx="2316175" cy="256032"/>
          </a:xfrm>
          <a:prstGeom prst="rect">
            <a:avLst/>
          </a:prstGeom>
          <a:noFill/>
        </p:spPr>
        <p:txBody>
          <a:bodyPr wrap="square" lIns="0" rIns="0" tIns="0" bIns="0" anchor="t">
            <a:spAutoFit/>
          </a:bodyPr>
          <a:lstStyle/>
          <a:p>
            <a:pPr algn="l">
              <a:spcAft>
                <a:spcPts val="600"/>
              </a:spcAft>
            </a:pPr>
            <a:r>
              <a:rPr sz="1100" b="0" i="1" lang="en-US">
                <a:solidFill>
                  <a:srgbClr val="6F6A62"/>
                </a:solidFill>
                <a:latin typeface="Calibri"/>
              </a:rPr>
              <a:t>Transportation Research Part A, 2023</a:t>
            </a:r>
          </a:p>
        </p:txBody>
      </p:sp>
      <p:cxnSp>
        <p:nvCxnSpPr>
          <p:cNvPr id="43" name="Connector 42"/>
          <p:cNvCxnSpPr/>
          <p:nvPr/>
        </p:nvCxnSpPr>
        <p:spPr>
          <a:xfrm>
            <a:off x="4800600" y="5239511"/>
            <a:ext cx="6842455" cy="0"/>
          </a:xfrm>
          <a:prstGeom prst="line">
            <a:avLst/>
          </a:prstGeom>
          <a:ln w="9525">
            <a:solidFill>
              <a:srgbClr val="D9D5CC"/>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4800600" y="5330951"/>
            <a:ext cx="411480" cy="411480"/>
          </a:xfrm>
          <a:prstGeom prst="rect">
            <a:avLst/>
          </a:prstGeom>
          <a:noFill/>
        </p:spPr>
        <p:txBody>
          <a:bodyPr wrap="square" lIns="0" rIns="0" tIns="0" bIns="0" anchor="t">
            <a:spAutoFit/>
          </a:bodyPr>
          <a:lstStyle/>
          <a:p>
            <a:pPr algn="l">
              <a:spcAft>
                <a:spcPts val="600"/>
              </a:spcAft>
            </a:pPr>
            <a:r>
              <a:rPr sz="2100" b="0" i="0" lang="en-US">
                <a:solidFill>
                  <a:srgbClr val="B8862F"/>
                </a:solidFill>
                <a:latin typeface="Georgia"/>
              </a:rPr>
              <a:t>4</a:t>
            </a:r>
          </a:p>
        </p:txBody>
      </p:sp>
      <p:sp>
        <p:nvSpPr>
          <p:cNvPr id="45" name="TextBox 44"/>
          <p:cNvSpPr txBox="1"/>
          <p:nvPr/>
        </p:nvSpPr>
        <p:spPr>
          <a:xfrm>
            <a:off x="5212080" y="5367527"/>
            <a:ext cx="4572000" cy="347472"/>
          </a:xfrm>
          <a:prstGeom prst="rect">
            <a:avLst/>
          </a:prstGeom>
          <a:noFill/>
        </p:spPr>
        <p:txBody>
          <a:bodyPr wrap="square" lIns="0" rIns="0" tIns="0" bIns="0" anchor="t">
            <a:spAutoFit/>
          </a:bodyPr>
          <a:lstStyle/>
          <a:p>
            <a:pPr algn="l">
              <a:spcAft>
                <a:spcPts val="600"/>
              </a:spcAft>
            </a:pPr>
            <a:r>
              <a:rPr sz="1600" b="0" i="0" lang="en-US">
                <a:solidFill>
                  <a:srgbClr val="1F3A32"/>
                </a:solidFill>
                <a:latin typeface="Georgia"/>
              </a:rPr>
              <a:t>Low-carbon cities &amp; solar land use</a:t>
            </a:r>
          </a:p>
        </p:txBody>
      </p:sp>
      <p:sp>
        <p:nvSpPr>
          <p:cNvPr id="46" name="TextBox 45"/>
          <p:cNvSpPr txBox="1"/>
          <p:nvPr/>
        </p:nvSpPr>
        <p:spPr>
          <a:xfrm>
            <a:off x="5212080" y="5705855"/>
            <a:ext cx="4023359" cy="256032"/>
          </a:xfrm>
          <a:prstGeom prst="rect">
            <a:avLst/>
          </a:prstGeom>
          <a:noFill/>
        </p:spPr>
        <p:txBody>
          <a:bodyPr wrap="square" lIns="0" rIns="0" tIns="0" bIns="0" anchor="t">
            <a:spAutoFit/>
          </a:bodyPr>
          <a:lstStyle/>
          <a:p>
            <a:pPr algn="l">
              <a:spcAft>
                <a:spcPts val="600"/>
              </a:spcAft>
            </a:pPr>
            <a:r>
              <a:rPr sz="1200" b="0" i="0" lang="en-US">
                <a:solidFill>
                  <a:srgbClr val="22211F"/>
                </a:solidFill>
                <a:latin typeface="Calibri"/>
              </a:rPr>
              <a:t>Railway expansion and air pollution in Tokyo over 25 years</a:t>
            </a:r>
          </a:p>
        </p:txBody>
      </p:sp>
      <p:sp>
        <p:nvSpPr>
          <p:cNvPr id="47" name="TextBox 46"/>
          <p:cNvSpPr txBox="1"/>
          <p:nvPr/>
        </p:nvSpPr>
        <p:spPr>
          <a:xfrm>
            <a:off x="9326880" y="5705855"/>
            <a:ext cx="2316175" cy="256032"/>
          </a:xfrm>
          <a:prstGeom prst="rect">
            <a:avLst/>
          </a:prstGeom>
          <a:noFill/>
        </p:spPr>
        <p:txBody>
          <a:bodyPr wrap="square" lIns="0" rIns="0" tIns="0" bIns="0" anchor="t">
            <a:spAutoFit/>
          </a:bodyPr>
          <a:lstStyle/>
          <a:p>
            <a:pPr algn="l">
              <a:spcAft>
                <a:spcPts val="600"/>
              </a:spcAft>
            </a:pPr>
            <a:r>
              <a:rPr sz="1100" b="0" i="1" lang="en-US">
                <a:solidFill>
                  <a:srgbClr val="6F6A62"/>
                </a:solidFill>
                <a:latin typeface="Calibri"/>
              </a:rPr>
              <a:t>Sustainable Cities and Society, 2025</a:t>
            </a:r>
          </a:p>
        </p:txBody>
      </p:sp>
      <p:sp>
        <p:nvSpPr>
          <p:cNvPr id="48" name="TextBox 47"/>
          <p:cNvSpPr txBox="1"/>
          <p:nvPr/>
        </p:nvSpPr>
        <p:spPr>
          <a:xfrm>
            <a:off x="5212080" y="5952743"/>
            <a:ext cx="4023359" cy="256032"/>
          </a:xfrm>
          <a:prstGeom prst="rect">
            <a:avLst/>
          </a:prstGeom>
          <a:noFill/>
        </p:spPr>
        <p:txBody>
          <a:bodyPr wrap="square" lIns="0" rIns="0" tIns="0" bIns="0" anchor="t">
            <a:spAutoFit/>
          </a:bodyPr>
          <a:lstStyle/>
          <a:p>
            <a:pPr algn="l">
              <a:spcAft>
                <a:spcPts val="600"/>
              </a:spcAft>
            </a:pPr>
            <a:r>
              <a:rPr sz="1200" b="0" i="0" lang="en-US">
                <a:solidFill>
                  <a:srgbClr val="22211F"/>
                </a:solidFill>
                <a:latin typeface="Calibri"/>
              </a:rPr>
              <a:t>How much solar can a land-constrained country fit?</a:t>
            </a:r>
          </a:p>
        </p:txBody>
      </p:sp>
      <p:sp>
        <p:nvSpPr>
          <p:cNvPr id="49" name="TextBox 48"/>
          <p:cNvSpPr txBox="1"/>
          <p:nvPr/>
        </p:nvSpPr>
        <p:spPr>
          <a:xfrm>
            <a:off x="9326880" y="5952743"/>
            <a:ext cx="2316175" cy="256032"/>
          </a:xfrm>
          <a:prstGeom prst="rect">
            <a:avLst/>
          </a:prstGeom>
          <a:noFill/>
        </p:spPr>
        <p:txBody>
          <a:bodyPr wrap="square" lIns="0" rIns="0" tIns="0" bIns="0" anchor="t">
            <a:spAutoFit/>
          </a:bodyPr>
          <a:lstStyle/>
          <a:p>
            <a:pPr algn="l">
              <a:spcAft>
                <a:spcPts val="600"/>
              </a:spcAft>
            </a:pPr>
            <a:r>
              <a:rPr sz="1100" b="0" i="1" lang="en-US">
                <a:solidFill>
                  <a:srgbClr val="6F6A62"/>
                </a:solidFill>
                <a:latin typeface="Calibri"/>
              </a:rPr>
              <a:t>RSER, under review</a:t>
            </a:r>
          </a:p>
        </p:txBody>
      </p:sp>
      <p:cxnSp>
        <p:nvCxnSpPr>
          <p:cNvPr id="50" name="Connector 49"/>
          <p:cNvCxnSpPr/>
          <p:nvPr/>
        </p:nvCxnSpPr>
        <p:spPr>
          <a:xfrm>
            <a:off x="4800600" y="6254495"/>
            <a:ext cx="6842455" cy="0"/>
          </a:xfrm>
          <a:prstGeom prst="line">
            <a:avLst/>
          </a:prstGeom>
          <a:ln w="12700">
            <a:solidFill>
              <a:srgbClr val="22211F"/>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1094415" y="6446520"/>
            <a:ext cx="548640" cy="274320"/>
          </a:xfrm>
          <a:prstGeom prst="rect">
            <a:avLst/>
          </a:prstGeom>
          <a:noFill/>
        </p:spPr>
        <p:txBody>
          <a:bodyPr wrap="square" lIns="0" rIns="0" tIns="0" bIns="0" anchor="t">
            <a:spAutoFit/>
          </a:bodyPr>
          <a:lstStyle/>
          <a:p>
            <a:pPr algn="r">
              <a:spcAft>
                <a:spcPts val="600"/>
              </a:spcAft>
            </a:pPr>
            <a:r>
              <a:rPr sz="1000" b="0" i="0" lang="en-US">
                <a:solidFill>
                  <a:srgbClr val="6F6A62"/>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HOW THIS PROJECT STARTED</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From railway networks to the world air network</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3</a:t>
            </a:r>
          </a:p>
        </p:txBody>
      </p:sp>
      <p:sp>
        <p:nvSpPr>
          <p:cNvPr id="5" name="TextBox 4"/>
          <p:cNvSpPr txBox="1"/>
          <p:nvPr/>
        </p:nvSpPr>
        <p:spPr>
          <a:xfrm>
            <a:off x="640080" y="1856231"/>
            <a:ext cx="640080" cy="731520"/>
          </a:xfrm>
          <a:prstGeom prst="rect">
            <a:avLst/>
          </a:prstGeom>
          <a:noFill/>
        </p:spPr>
        <p:txBody>
          <a:bodyPr wrap="square" lIns="0" tIns="0" rIns="0" bIns="0" anchor="t">
            <a:spAutoFit/>
          </a:bodyPr>
          <a:lstStyle/>
          <a:p>
            <a:pPr algn="l">
              <a:spcAft>
                <a:spcPts val="600"/>
              </a:spcAft>
            </a:pPr>
            <a:r>
              <a:rPr lang="en-US" sz="4000" b="0" i="0">
                <a:solidFill>
                  <a:srgbClr val="B8862F"/>
                </a:solidFill>
                <a:latin typeface="Georgia"/>
              </a:rPr>
              <a:t>1</a:t>
            </a:r>
          </a:p>
        </p:txBody>
      </p:sp>
      <p:sp>
        <p:nvSpPr>
          <p:cNvPr id="6" name="TextBox 5"/>
          <p:cNvSpPr txBox="1"/>
          <p:nvPr/>
        </p:nvSpPr>
        <p:spPr>
          <a:xfrm>
            <a:off x="1371600" y="1965960"/>
            <a:ext cx="4937760" cy="914400"/>
          </a:xfrm>
          <a:prstGeom prst="rect">
            <a:avLst/>
          </a:prstGeom>
          <a:noFill/>
        </p:spPr>
        <p:txBody>
          <a:bodyPr wrap="square" lIns="0" tIns="0" rIns="0" bIns="0" anchor="t">
            <a:spAutoFit/>
          </a:bodyPr>
          <a:lstStyle/>
          <a:p>
            <a:pPr algn="l">
              <a:lnSpc>
                <a:spcPct val="105000"/>
              </a:lnSpc>
              <a:spcAft>
                <a:spcPts val="600"/>
              </a:spcAft>
            </a:pPr>
            <a:r>
              <a:rPr lang="en-US" sz="1900" b="0" i="0">
                <a:solidFill>
                  <a:srgbClr val="22211F"/>
                </a:solidFill>
                <a:latin typeface="Calibri"/>
              </a:rPr>
              <a:t>We simply wanted to graduate from railway research.</a:t>
            </a:r>
          </a:p>
        </p:txBody>
      </p:sp>
      <p:sp>
        <p:nvSpPr>
          <p:cNvPr id="7" name="TextBox 6"/>
          <p:cNvSpPr txBox="1"/>
          <p:nvPr/>
        </p:nvSpPr>
        <p:spPr>
          <a:xfrm>
            <a:off x="640080" y="3090672"/>
            <a:ext cx="640080" cy="731520"/>
          </a:xfrm>
          <a:prstGeom prst="rect">
            <a:avLst/>
          </a:prstGeom>
          <a:noFill/>
        </p:spPr>
        <p:txBody>
          <a:bodyPr wrap="square" lIns="0" tIns="0" rIns="0" bIns="0" anchor="t">
            <a:spAutoFit/>
          </a:bodyPr>
          <a:lstStyle/>
          <a:p>
            <a:pPr algn="l">
              <a:spcAft>
                <a:spcPts val="600"/>
              </a:spcAft>
            </a:pPr>
            <a:r>
              <a:rPr lang="en-US" sz="4000" b="0" i="0">
                <a:solidFill>
                  <a:srgbClr val="B8862F"/>
                </a:solidFill>
                <a:latin typeface="Georgia"/>
              </a:rPr>
              <a:t>2</a:t>
            </a:r>
          </a:p>
        </p:txBody>
      </p:sp>
      <p:sp>
        <p:nvSpPr>
          <p:cNvPr id="8" name="TextBox 7"/>
          <p:cNvSpPr txBox="1"/>
          <p:nvPr/>
        </p:nvSpPr>
        <p:spPr>
          <a:xfrm>
            <a:off x="1371600" y="3200400"/>
            <a:ext cx="4937760" cy="914400"/>
          </a:xfrm>
          <a:prstGeom prst="rect">
            <a:avLst/>
          </a:prstGeom>
          <a:noFill/>
        </p:spPr>
        <p:txBody>
          <a:bodyPr wrap="square" lIns="0" tIns="0" rIns="0" bIns="0" anchor="t">
            <a:spAutoFit/>
          </a:bodyPr>
          <a:lstStyle/>
          <a:p>
            <a:pPr algn="l">
              <a:lnSpc>
                <a:spcPct val="105000"/>
              </a:lnSpc>
              <a:spcAft>
                <a:spcPts val="600"/>
              </a:spcAft>
            </a:pPr>
            <a:r>
              <a:rPr lang="en-US" sz="1900" b="0" i="0" dirty="0">
                <a:solidFill>
                  <a:srgbClr val="22211F"/>
                </a:solidFill>
                <a:latin typeface="Calibri"/>
              </a:rPr>
              <a:t>We had the chance to meet Professor </a:t>
            </a:r>
            <a:r>
              <a:rPr lang="en-US" sz="1900" b="0" i="0" dirty="0" err="1">
                <a:solidFill>
                  <a:srgbClr val="22211F"/>
                </a:solidFill>
                <a:latin typeface="Calibri"/>
              </a:rPr>
              <a:t>Anming</a:t>
            </a:r>
            <a:r>
              <a:rPr lang="en-US" sz="1900" b="0" i="0" dirty="0">
                <a:solidFill>
                  <a:srgbClr val="22211F"/>
                </a:solidFill>
                <a:latin typeface="Calibri"/>
              </a:rPr>
              <a:t> Zhang (UBC; Co-Editor-in-Chief, Transportation Research Part A).</a:t>
            </a:r>
          </a:p>
        </p:txBody>
      </p:sp>
      <p:sp>
        <p:nvSpPr>
          <p:cNvPr id="9" name="TextBox 8"/>
          <p:cNvSpPr txBox="1"/>
          <p:nvPr/>
        </p:nvSpPr>
        <p:spPr>
          <a:xfrm>
            <a:off x="640080" y="4325112"/>
            <a:ext cx="640080" cy="731520"/>
          </a:xfrm>
          <a:prstGeom prst="rect">
            <a:avLst/>
          </a:prstGeom>
          <a:noFill/>
        </p:spPr>
        <p:txBody>
          <a:bodyPr wrap="square" lIns="0" tIns="0" rIns="0" bIns="0" anchor="t">
            <a:spAutoFit/>
          </a:bodyPr>
          <a:lstStyle/>
          <a:p>
            <a:pPr algn="l">
              <a:spcAft>
                <a:spcPts val="600"/>
              </a:spcAft>
            </a:pPr>
            <a:r>
              <a:rPr lang="en-US" sz="4000" b="0" i="0">
                <a:solidFill>
                  <a:srgbClr val="B8862F"/>
                </a:solidFill>
                <a:latin typeface="Georgia"/>
              </a:rPr>
              <a:t>3</a:t>
            </a:r>
          </a:p>
        </p:txBody>
      </p:sp>
      <p:sp>
        <p:nvSpPr>
          <p:cNvPr id="10" name="TextBox 9"/>
          <p:cNvSpPr txBox="1"/>
          <p:nvPr/>
        </p:nvSpPr>
        <p:spPr>
          <a:xfrm>
            <a:off x="1371600" y="4434840"/>
            <a:ext cx="4937760" cy="914400"/>
          </a:xfrm>
          <a:prstGeom prst="rect">
            <a:avLst/>
          </a:prstGeom>
          <a:noFill/>
        </p:spPr>
        <p:txBody>
          <a:bodyPr wrap="square" lIns="0" tIns="0" rIns="0" bIns="0" anchor="t">
            <a:spAutoFit/>
          </a:bodyPr>
          <a:lstStyle/>
          <a:p>
            <a:pPr algn="l">
              <a:lnSpc>
                <a:spcPct val="105000"/>
              </a:lnSpc>
              <a:spcAft>
                <a:spcPts val="600"/>
              </a:spcAft>
            </a:pPr>
            <a:r>
              <a:rPr lang="en-US" sz="1900" b="0" i="0">
                <a:solidFill>
                  <a:srgbClr val="22211F"/>
                </a:solidFill>
                <a:latin typeface="Calibri"/>
              </a:rPr>
              <a:t>He suggested that we look at aviation.</a:t>
            </a:r>
          </a:p>
        </p:txBody>
      </p:sp>
      <p:sp>
        <p:nvSpPr>
          <p:cNvPr id="11" name="TextBox 10"/>
          <p:cNvSpPr txBox="1"/>
          <p:nvPr/>
        </p:nvSpPr>
        <p:spPr>
          <a:xfrm>
            <a:off x="6949440" y="1783080"/>
            <a:ext cx="4389120" cy="274320"/>
          </a:xfrm>
          <a:prstGeom prst="rect">
            <a:avLst/>
          </a:prstGeom>
          <a:noFill/>
        </p:spPr>
        <p:txBody>
          <a:bodyPr wrap="square" lIns="0" tIns="0" rIns="0" bIns="0" anchor="t">
            <a:spAutoFit/>
          </a:bodyPr>
          <a:lstStyle/>
          <a:p>
            <a:pPr algn="l">
              <a:spcAft>
                <a:spcPts val="600"/>
              </a:spcAft>
            </a:pPr>
            <a:r>
              <a:rPr lang="en-US" sz="1050" b="1" i="0" spc="120">
                <a:solidFill>
                  <a:srgbClr val="6F6A62"/>
                </a:solidFill>
                <a:latin typeface="Calibri"/>
              </a:rPr>
              <a:t>RAIL</a:t>
            </a:r>
          </a:p>
        </p:txBody>
      </p:sp>
      <p:cxnSp>
        <p:nvCxnSpPr>
          <p:cNvPr id="12" name="Connector 11"/>
          <p:cNvCxnSpPr/>
          <p:nvPr/>
        </p:nvCxnSpPr>
        <p:spPr>
          <a:xfrm>
            <a:off x="7040879" y="2514600"/>
            <a:ext cx="4114801" cy="0"/>
          </a:xfrm>
          <a:prstGeom prst="line">
            <a:avLst/>
          </a:prstGeom>
          <a:ln w="38100">
            <a:solidFill>
              <a:srgbClr val="BDB8AE"/>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949440" y="2423160"/>
            <a:ext cx="182880" cy="182880"/>
          </a:xfrm>
          <a:prstGeom prst="ellipse">
            <a:avLst/>
          </a:prstGeom>
          <a:solidFill>
            <a:srgbClr val="FFFFFF"/>
          </a:solidFill>
          <a:ln w="12700">
            <a:solidFill>
              <a:srgbClr val="6F6A6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Oval 13"/>
          <p:cNvSpPr/>
          <p:nvPr/>
        </p:nvSpPr>
        <p:spPr>
          <a:xfrm>
            <a:off x="7772400" y="2423160"/>
            <a:ext cx="182880" cy="182880"/>
          </a:xfrm>
          <a:prstGeom prst="ellipse">
            <a:avLst/>
          </a:prstGeom>
          <a:solidFill>
            <a:srgbClr val="FFFFFF"/>
          </a:solidFill>
          <a:ln w="12700">
            <a:solidFill>
              <a:srgbClr val="6F6A6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Oval 14"/>
          <p:cNvSpPr/>
          <p:nvPr/>
        </p:nvSpPr>
        <p:spPr>
          <a:xfrm>
            <a:off x="8595360" y="2423160"/>
            <a:ext cx="182880" cy="182880"/>
          </a:xfrm>
          <a:prstGeom prst="ellipse">
            <a:avLst/>
          </a:prstGeom>
          <a:solidFill>
            <a:srgbClr val="FFFFFF"/>
          </a:solidFill>
          <a:ln w="12700">
            <a:solidFill>
              <a:srgbClr val="6F6A6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Oval 15"/>
          <p:cNvSpPr/>
          <p:nvPr/>
        </p:nvSpPr>
        <p:spPr>
          <a:xfrm>
            <a:off x="9418319" y="2423160"/>
            <a:ext cx="182880" cy="182880"/>
          </a:xfrm>
          <a:prstGeom prst="ellipse">
            <a:avLst/>
          </a:prstGeom>
          <a:solidFill>
            <a:srgbClr val="FFFFFF"/>
          </a:solidFill>
          <a:ln w="12700">
            <a:solidFill>
              <a:srgbClr val="6F6A6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Oval 16"/>
          <p:cNvSpPr/>
          <p:nvPr/>
        </p:nvSpPr>
        <p:spPr>
          <a:xfrm>
            <a:off x="10241280" y="2423160"/>
            <a:ext cx="182880" cy="182880"/>
          </a:xfrm>
          <a:prstGeom prst="ellipse">
            <a:avLst/>
          </a:prstGeom>
          <a:solidFill>
            <a:srgbClr val="FFFFFF"/>
          </a:solidFill>
          <a:ln w="12700">
            <a:solidFill>
              <a:srgbClr val="6F6A6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Oval 17"/>
          <p:cNvSpPr/>
          <p:nvPr/>
        </p:nvSpPr>
        <p:spPr>
          <a:xfrm>
            <a:off x="11064240" y="2423160"/>
            <a:ext cx="182880" cy="182880"/>
          </a:xfrm>
          <a:prstGeom prst="ellipse">
            <a:avLst/>
          </a:prstGeom>
          <a:solidFill>
            <a:srgbClr val="FFFFFF"/>
          </a:solidFill>
          <a:ln w="12700">
            <a:solidFill>
              <a:srgbClr val="6F6A6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TextBox 18"/>
          <p:cNvSpPr txBox="1"/>
          <p:nvPr/>
        </p:nvSpPr>
        <p:spPr>
          <a:xfrm>
            <a:off x="6949440" y="2743200"/>
            <a:ext cx="4389120" cy="365760"/>
          </a:xfrm>
          <a:prstGeom prst="rect">
            <a:avLst/>
          </a:prstGeom>
          <a:noFill/>
        </p:spPr>
        <p:txBody>
          <a:bodyPr wrap="square" lIns="0" tIns="0" rIns="0" bIns="0" anchor="t">
            <a:spAutoFit/>
          </a:bodyPr>
          <a:lstStyle/>
          <a:p>
            <a:pPr algn="l">
              <a:spcAft>
                <a:spcPts val="600"/>
              </a:spcAft>
            </a:pPr>
            <a:r>
              <a:rPr lang="en-US" sz="1300" b="0" i="0">
                <a:solidFill>
                  <a:srgbClr val="6F6A62"/>
                </a:solidFill>
                <a:latin typeface="Calibri"/>
              </a:rPr>
              <a:t>Stations along a corridor, within one country</a:t>
            </a:r>
          </a:p>
        </p:txBody>
      </p:sp>
      <p:sp>
        <p:nvSpPr>
          <p:cNvPr id="20" name="TextBox 19"/>
          <p:cNvSpPr txBox="1"/>
          <p:nvPr/>
        </p:nvSpPr>
        <p:spPr>
          <a:xfrm>
            <a:off x="6949440" y="3429000"/>
            <a:ext cx="438912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AIR</a:t>
            </a:r>
          </a:p>
        </p:txBody>
      </p:sp>
      <p:cxnSp>
        <p:nvCxnSpPr>
          <p:cNvPr id="21" name="Connector 20"/>
          <p:cNvCxnSpPr/>
          <p:nvPr/>
        </p:nvCxnSpPr>
        <p:spPr>
          <a:xfrm flipV="1">
            <a:off x="7406640" y="3886200"/>
            <a:ext cx="1097279" cy="32004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19" y="3886200"/>
            <a:ext cx="1097281" cy="22860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9601200" y="3931920"/>
            <a:ext cx="1280159" cy="18288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06640" y="4206240"/>
            <a:ext cx="1645919" cy="77724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03919" y="3886200"/>
            <a:ext cx="548640" cy="109728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9052559" y="4114800"/>
            <a:ext cx="548641" cy="86868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052559" y="4983480"/>
            <a:ext cx="1188721" cy="22860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01200" y="4114800"/>
            <a:ext cx="640080" cy="109728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881359" y="3931920"/>
            <a:ext cx="182881" cy="82296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0241280" y="4754880"/>
            <a:ext cx="822960" cy="45720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863840" y="4983480"/>
            <a:ext cx="1188719" cy="13716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406640" y="4206240"/>
            <a:ext cx="457200" cy="91440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503919" y="3886200"/>
            <a:ext cx="2377440" cy="4572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9052559" y="4754880"/>
            <a:ext cx="2011681" cy="22860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315200" y="4114800"/>
            <a:ext cx="182880" cy="18288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Oval 35"/>
          <p:cNvSpPr/>
          <p:nvPr/>
        </p:nvSpPr>
        <p:spPr>
          <a:xfrm>
            <a:off x="8412480" y="3794760"/>
            <a:ext cx="182880" cy="18288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Oval 36"/>
          <p:cNvSpPr/>
          <p:nvPr/>
        </p:nvSpPr>
        <p:spPr>
          <a:xfrm>
            <a:off x="9454896" y="3968496"/>
            <a:ext cx="292608" cy="292608"/>
          </a:xfrm>
          <a:prstGeom prst="ellipse">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Oval 37"/>
          <p:cNvSpPr/>
          <p:nvPr/>
        </p:nvSpPr>
        <p:spPr>
          <a:xfrm>
            <a:off x="10789919" y="3840480"/>
            <a:ext cx="182880" cy="18288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Oval 38"/>
          <p:cNvSpPr/>
          <p:nvPr/>
        </p:nvSpPr>
        <p:spPr>
          <a:xfrm>
            <a:off x="7772400" y="5029200"/>
            <a:ext cx="182880" cy="18288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0" name="Oval 39"/>
          <p:cNvSpPr/>
          <p:nvPr/>
        </p:nvSpPr>
        <p:spPr>
          <a:xfrm>
            <a:off x="8906255" y="4837176"/>
            <a:ext cx="292608" cy="292608"/>
          </a:xfrm>
          <a:prstGeom prst="ellipse">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1" name="Oval 40"/>
          <p:cNvSpPr/>
          <p:nvPr/>
        </p:nvSpPr>
        <p:spPr>
          <a:xfrm>
            <a:off x="10149840" y="5120640"/>
            <a:ext cx="182880" cy="18288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Oval 41"/>
          <p:cNvSpPr/>
          <p:nvPr/>
        </p:nvSpPr>
        <p:spPr>
          <a:xfrm>
            <a:off x="10972800" y="4663440"/>
            <a:ext cx="182880" cy="18288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TextBox 42"/>
          <p:cNvSpPr txBox="1"/>
          <p:nvPr/>
        </p:nvSpPr>
        <p:spPr>
          <a:xfrm>
            <a:off x="6949440" y="5486400"/>
            <a:ext cx="4389120" cy="365760"/>
          </a:xfrm>
          <a:prstGeom prst="rect">
            <a:avLst/>
          </a:prstGeom>
          <a:noFill/>
        </p:spPr>
        <p:txBody>
          <a:bodyPr wrap="square" lIns="0" tIns="0" rIns="0" bIns="0" anchor="t">
            <a:spAutoFit/>
          </a:bodyPr>
          <a:lstStyle/>
          <a:p>
            <a:pPr algn="l">
              <a:spcAft>
                <a:spcPts val="600"/>
              </a:spcAft>
            </a:pPr>
            <a:r>
              <a:rPr lang="en-US" sz="1300" b="0" i="0">
                <a:solidFill>
                  <a:srgbClr val="6F6A62"/>
                </a:solidFill>
                <a:latin typeface="Calibri"/>
              </a:rPr>
              <a:t>One global network, rewired every year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MOTIVATION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Does a country’s place in the air network raise its goods trade?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5</a:t>
            </a:r>
          </a:p>
        </p:txBody>
      </p:sp>
      <p:sp>
        <p:nvSpPr>
          <p:cNvPr id="5" name="TextBox 4"/>
          <p:cNvSpPr txBox="1"/>
          <p:nvPr/>
        </p:nvSpPr>
        <p:spPr>
          <a:xfrm>
            <a:off x="640080" y="1828800"/>
            <a:ext cx="822960" cy="1005840"/>
          </a:xfrm>
          <a:prstGeom prst="rect">
            <a:avLst/>
          </a:prstGeom>
          <a:noFill/>
        </p:spPr>
        <p:txBody>
          <a:bodyPr wrap="square" lIns="0" tIns="0" rIns="0" bIns="0" anchor="t">
            <a:spAutoFit/>
          </a:bodyPr>
          <a:lstStyle/>
          <a:p>
            <a:pPr algn="l">
              <a:spcAft>
                <a:spcPts val="600"/>
              </a:spcAft>
            </a:pPr>
            <a:r>
              <a:rPr lang="en-US" sz="5400" b="0" i="0">
                <a:solidFill>
                  <a:srgbClr val="B8862F"/>
                </a:solidFill>
                <a:latin typeface="Georgia"/>
              </a:rPr>
              <a:t>1</a:t>
            </a:r>
          </a:p>
        </p:txBody>
      </p:sp>
      <p:sp>
        <p:nvSpPr>
          <p:cNvPr id="6" name="TextBox 5"/>
          <p:cNvSpPr txBox="1"/>
          <p:nvPr/>
        </p:nvSpPr>
        <p:spPr>
          <a:xfrm>
            <a:off x="1508760" y="2011680"/>
            <a:ext cx="4480560" cy="457200"/>
          </a:xfrm>
          <a:prstGeom prst="rect">
            <a:avLst/>
          </a:prstGeom>
          <a:noFill/>
        </p:spPr>
        <p:txBody>
          <a:bodyPr wrap="square" lIns="0" tIns="0" rIns="0" bIns="0" anchor="t">
            <a:spAutoFit/>
          </a:bodyPr>
          <a:lstStyle/>
          <a:p>
            <a:pPr algn="l">
              <a:spcAft>
                <a:spcPts val="600"/>
              </a:spcAft>
            </a:pPr>
            <a:r>
              <a:rPr lang="en-US" sz="2200" b="0" i="0">
                <a:solidFill>
                  <a:srgbClr val="1F3A32"/>
                </a:solidFill>
                <a:latin typeface="Georgia"/>
              </a:rPr>
              <a:t>Whether, and how</a:t>
            </a:r>
          </a:p>
        </p:txBody>
      </p:sp>
      <p:sp>
        <p:nvSpPr>
          <p:cNvPr id="7" name="TextBox 6"/>
          <p:cNvSpPr txBox="1"/>
          <p:nvPr/>
        </p:nvSpPr>
        <p:spPr>
          <a:xfrm>
            <a:off x="1508760" y="2606040"/>
            <a:ext cx="4480560" cy="2194560"/>
          </a:xfrm>
          <a:prstGeom prst="rect">
            <a:avLst/>
          </a:prstGeom>
          <a:noFill/>
        </p:spPr>
        <p:txBody>
          <a:bodyPr wrap="square" lIns="0" tIns="0" rIns="0" bIns="0" anchor="t">
            <a:spAutoFit/>
          </a:bodyPr>
          <a:lstStyle/>
          <a:p>
            <a:pPr marL="201168" indent="-201168" algn="l">
              <a:lnSpc>
                <a:spcPct val="105000"/>
              </a:lnSpc>
              <a:spcAft>
                <a:spcPts val="800"/>
              </a:spcAft>
              <a:buClr>
                <a:srgbClr val="B8862F"/>
              </a:buClr>
              <a:buFont typeface="Arial"/>
              <a:buChar char="•"/>
            </a:pPr>
            <a:r>
              <a:rPr lang="en-US" sz="1700" b="0" i="0">
                <a:solidFill>
                  <a:srgbClr val="22211F"/>
                </a:solidFill>
                <a:latin typeface="Calibri"/>
              </a:rPr>
              <a:t>Is the effect causal?</a:t>
            </a:r>
          </a:p>
          <a:p>
            <a:pPr marL="201168" indent="-201168" algn="l">
              <a:lnSpc>
                <a:spcPct val="105000"/>
              </a:lnSpc>
              <a:spcAft>
                <a:spcPts val="800"/>
              </a:spcAft>
              <a:buClr>
                <a:srgbClr val="B8862F"/>
              </a:buClr>
              <a:buFont typeface="Arial"/>
              <a:buChar char="•"/>
            </a:pPr>
            <a:r>
              <a:rPr lang="en-US" sz="1700" b="0" i="0">
                <a:solidFill>
                  <a:srgbClr val="22211F"/>
                </a:solidFill>
                <a:latin typeface="Calibri"/>
              </a:rPr>
              <a:t>Does it raise openness (trade relative to GDP), or only the size of the economy?</a:t>
            </a:r>
          </a:p>
          <a:p>
            <a:pPr marL="201168" indent="-201168" algn="l">
              <a:lnSpc>
                <a:spcPct val="105000"/>
              </a:lnSpc>
              <a:spcAft>
                <a:spcPts val="800"/>
              </a:spcAft>
              <a:buClr>
                <a:srgbClr val="B8862F"/>
              </a:buClr>
              <a:buFont typeface="Arial"/>
              <a:buChar char="•"/>
            </a:pPr>
            <a:r>
              <a:rPr lang="en-US" sz="1700" b="0" i="0">
                <a:solidFill>
                  <a:srgbClr val="22211F"/>
                </a:solidFill>
                <a:latin typeface="Calibri"/>
              </a:rPr>
              <a:t>Which goods respond?</a:t>
            </a:r>
          </a:p>
        </p:txBody>
      </p:sp>
      <p:sp>
        <p:nvSpPr>
          <p:cNvPr id="8" name="TextBox 7"/>
          <p:cNvSpPr txBox="1"/>
          <p:nvPr/>
        </p:nvSpPr>
        <p:spPr>
          <a:xfrm>
            <a:off x="6217920" y="1828800"/>
            <a:ext cx="822960" cy="1005840"/>
          </a:xfrm>
          <a:prstGeom prst="rect">
            <a:avLst/>
          </a:prstGeom>
          <a:noFill/>
        </p:spPr>
        <p:txBody>
          <a:bodyPr wrap="square" lIns="0" tIns="0" rIns="0" bIns="0" anchor="t">
            <a:spAutoFit/>
          </a:bodyPr>
          <a:lstStyle/>
          <a:p>
            <a:pPr algn="l">
              <a:spcAft>
                <a:spcPts val="600"/>
              </a:spcAft>
            </a:pPr>
            <a:r>
              <a:rPr lang="en-US" sz="5400" b="0" i="0">
                <a:solidFill>
                  <a:srgbClr val="B8862F"/>
                </a:solidFill>
                <a:latin typeface="Georgia"/>
              </a:rPr>
              <a:t>2</a:t>
            </a:r>
          </a:p>
        </p:txBody>
      </p:sp>
      <p:sp>
        <p:nvSpPr>
          <p:cNvPr id="9" name="TextBox 8"/>
          <p:cNvSpPr txBox="1"/>
          <p:nvPr/>
        </p:nvSpPr>
        <p:spPr>
          <a:xfrm>
            <a:off x="7086600" y="2011680"/>
            <a:ext cx="4480560" cy="457200"/>
          </a:xfrm>
          <a:prstGeom prst="rect">
            <a:avLst/>
          </a:prstGeom>
          <a:noFill/>
        </p:spPr>
        <p:txBody>
          <a:bodyPr wrap="square" lIns="0" tIns="0" rIns="0" bIns="0" anchor="t">
            <a:spAutoFit/>
          </a:bodyPr>
          <a:lstStyle/>
          <a:p>
            <a:pPr algn="l">
              <a:spcAft>
                <a:spcPts val="600"/>
              </a:spcAft>
            </a:pPr>
            <a:r>
              <a:rPr lang="en-US" sz="2200" b="0" i="0">
                <a:solidFill>
                  <a:srgbClr val="1F3A32"/>
                </a:solidFill>
                <a:latin typeface="Georgia"/>
              </a:rPr>
              <a:t>Who gains, and when</a:t>
            </a:r>
          </a:p>
        </p:txBody>
      </p:sp>
      <p:sp>
        <p:nvSpPr>
          <p:cNvPr id="10" name="TextBox 9"/>
          <p:cNvSpPr txBox="1"/>
          <p:nvPr/>
        </p:nvSpPr>
        <p:spPr>
          <a:xfrm>
            <a:off x="7086600" y="2606040"/>
            <a:ext cx="4480560" cy="2194560"/>
          </a:xfrm>
          <a:prstGeom prst="rect">
            <a:avLst/>
          </a:prstGeom>
          <a:noFill/>
        </p:spPr>
        <p:txBody>
          <a:bodyPr wrap="square" lIns="0" tIns="0" rIns="0" bIns="0" anchor="t">
            <a:spAutoFit/>
          </a:bodyPr>
          <a:lstStyle/>
          <a:p>
            <a:pPr marL="201168" indent="-201168" algn="l">
              <a:lnSpc>
                <a:spcPct val="105000"/>
              </a:lnSpc>
              <a:spcAft>
                <a:spcPts val="800"/>
              </a:spcAft>
              <a:buClr>
                <a:srgbClr val="B8862F"/>
              </a:buClr>
              <a:buFont typeface="Arial"/>
              <a:buChar char="•"/>
            </a:pPr>
            <a:r>
              <a:rPr lang="en-US" sz="1700" b="0" i="0">
                <a:solidFill>
                  <a:srgbClr val="22211F"/>
                </a:solidFill>
                <a:latin typeface="Calibri"/>
              </a:rPr>
              <a:t>Richer or poorer, better or less connected economies?</a:t>
            </a:r>
          </a:p>
          <a:p>
            <a:pPr marL="201168" indent="-201168" algn="l">
              <a:lnSpc>
                <a:spcPct val="105000"/>
              </a:lnSpc>
              <a:spcAft>
                <a:spcPts val="800"/>
              </a:spcAft>
              <a:buClr>
                <a:srgbClr val="B8862F"/>
              </a:buClr>
              <a:buFont typeface="Arial"/>
              <a:buChar char="•"/>
            </a:pPr>
            <a:r>
              <a:rPr lang="en-US" sz="1700" b="0" i="0">
                <a:solidFill>
                  <a:srgbClr val="22211F"/>
                </a:solidFill>
                <a:latin typeface="Calibri"/>
              </a:rPr>
              <a:t>What happens when connectivity collapses rather than grows?</a:t>
            </a:r>
          </a:p>
        </p:txBody>
      </p:sp>
      <p:sp>
        <p:nvSpPr>
          <p:cNvPr id="11" name="Rectangle 10"/>
          <p:cNvSpPr/>
          <p:nvPr/>
        </p:nvSpPr>
        <p:spPr>
          <a:xfrm>
            <a:off x="640080" y="4983480"/>
            <a:ext cx="10911535" cy="96012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14400" y="5074920"/>
            <a:ext cx="10362895" cy="777240"/>
          </a:xfrm>
          <a:prstGeom prst="rect">
            <a:avLst/>
          </a:prstGeom>
          <a:noFill/>
        </p:spPr>
        <p:txBody>
          <a:bodyPr wrap="square" lIns="0" tIns="0" rIns="0" bIns="0" anchor="ctr">
            <a:spAutoFit/>
          </a:bodyPr>
          <a:lstStyle/>
          <a:p>
            <a:pPr algn="l">
              <a:spcAft>
                <a:spcPts val="600"/>
              </a:spcAft>
            </a:pPr>
            <a:r>
              <a:rPr lang="en-US" sz="1600" b="1" i="0">
                <a:solidFill>
                  <a:srgbClr val="1F3A32"/>
                </a:solidFill>
                <a:latin typeface="Calibri"/>
              </a:rPr>
              <a:t>Why trade?  </a:t>
            </a:r>
            <a:r>
              <a:rPr lang="en-US" sz="1600" b="0" i="0">
                <a:solidFill>
                  <a:srgbClr val="22211F"/>
                </a:solidFill>
                <a:latin typeface="Calibri"/>
              </a:rPr>
              <a:t>Trade is the proximate, observable margin on which connectivity acts. Income sits at the far end of a long and confounded chain.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MOTIVATION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Most trade moves by sea, yet air carries about a third of its value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6</a:t>
            </a:r>
          </a:p>
        </p:txBody>
      </p:sp>
      <p:sp>
        <p:nvSpPr>
          <p:cNvPr id="5" name="TextBox 4"/>
          <p:cNvSpPr txBox="1"/>
          <p:nvPr/>
        </p:nvSpPr>
        <p:spPr>
          <a:xfrm>
            <a:off x="640080" y="1828800"/>
            <a:ext cx="5120640" cy="1005840"/>
          </a:xfrm>
          <a:prstGeom prst="rect">
            <a:avLst/>
          </a:prstGeom>
          <a:noFill/>
        </p:spPr>
        <p:txBody>
          <a:bodyPr wrap="square" lIns="0" tIns="0" rIns="0" bIns="0" anchor="t">
            <a:spAutoFit/>
          </a:bodyPr>
          <a:lstStyle/>
          <a:p>
            <a:pPr algn="l">
              <a:spcAft>
                <a:spcPts val="600"/>
              </a:spcAft>
            </a:pPr>
            <a:r>
              <a:rPr lang="en-US" sz="6400" b="0" i="0">
                <a:solidFill>
                  <a:srgbClr val="BDB8AE"/>
                </a:solidFill>
                <a:latin typeface="Georgia"/>
              </a:rPr>
              <a:t>&gt;80%</a:t>
            </a:r>
          </a:p>
        </p:txBody>
      </p:sp>
      <p:sp>
        <p:nvSpPr>
          <p:cNvPr id="6" name="TextBox 5"/>
          <p:cNvSpPr txBox="1"/>
          <p:nvPr/>
        </p:nvSpPr>
        <p:spPr>
          <a:xfrm>
            <a:off x="640080" y="2880360"/>
            <a:ext cx="4937760" cy="548640"/>
          </a:xfrm>
          <a:prstGeom prst="rect">
            <a:avLst/>
          </a:prstGeom>
          <a:noFill/>
        </p:spPr>
        <p:txBody>
          <a:bodyPr wrap="square" lIns="0" tIns="0" rIns="0" bIns="0" anchor="t">
            <a:spAutoFit/>
          </a:bodyPr>
          <a:lstStyle/>
          <a:p>
            <a:pPr algn="l">
              <a:spcAft>
                <a:spcPts val="600"/>
              </a:spcAft>
            </a:pPr>
            <a:r>
              <a:rPr lang="en-US" sz="1800" b="0" i="0">
                <a:solidFill>
                  <a:srgbClr val="22211F"/>
                </a:solidFill>
                <a:latin typeface="Calibri"/>
              </a:rPr>
              <a:t>of world trade volume travels by sea</a:t>
            </a:r>
          </a:p>
        </p:txBody>
      </p:sp>
      <p:cxnSp>
        <p:nvCxnSpPr>
          <p:cNvPr id="7" name="Connector 6"/>
          <p:cNvCxnSpPr/>
          <p:nvPr/>
        </p:nvCxnSpPr>
        <p:spPr>
          <a:xfrm>
            <a:off x="640080" y="3611880"/>
            <a:ext cx="4754880" cy="0"/>
          </a:xfrm>
          <a:prstGeom prst="line">
            <a:avLst/>
          </a:prstGeom>
          <a:ln w="9525">
            <a:solidFill>
              <a:srgbClr val="D9D5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3794760"/>
            <a:ext cx="5120640" cy="1005840"/>
          </a:xfrm>
          <a:prstGeom prst="rect">
            <a:avLst/>
          </a:prstGeom>
          <a:noFill/>
        </p:spPr>
        <p:txBody>
          <a:bodyPr wrap="square" lIns="0" tIns="0" rIns="0" bIns="0" anchor="t">
            <a:spAutoFit/>
          </a:bodyPr>
          <a:lstStyle/>
          <a:p>
            <a:pPr algn="l">
              <a:spcAft>
                <a:spcPts val="600"/>
              </a:spcAft>
            </a:pPr>
            <a:r>
              <a:rPr lang="en-US" sz="6400" b="0" i="0">
                <a:solidFill>
                  <a:srgbClr val="1F3A32"/>
                </a:solidFill>
                <a:latin typeface="Georgia"/>
              </a:rPr>
              <a:t>~33%</a:t>
            </a:r>
          </a:p>
        </p:txBody>
      </p:sp>
      <p:sp>
        <p:nvSpPr>
          <p:cNvPr id="9" name="TextBox 8"/>
          <p:cNvSpPr txBox="1"/>
          <p:nvPr/>
        </p:nvSpPr>
        <p:spPr>
          <a:xfrm>
            <a:off x="640080" y="4846320"/>
            <a:ext cx="4937760" cy="548640"/>
          </a:xfrm>
          <a:prstGeom prst="rect">
            <a:avLst/>
          </a:prstGeom>
          <a:noFill/>
        </p:spPr>
        <p:txBody>
          <a:bodyPr wrap="square" lIns="0" tIns="0" rIns="0" bIns="0" anchor="t">
            <a:spAutoFit/>
          </a:bodyPr>
          <a:lstStyle/>
          <a:p>
            <a:pPr algn="l">
              <a:spcAft>
                <a:spcPts val="600"/>
              </a:spcAft>
            </a:pPr>
            <a:r>
              <a:rPr lang="en-US" sz="1800" b="0" i="0">
                <a:solidFill>
                  <a:srgbClr val="22211F"/>
                </a:solidFill>
                <a:latin typeface="Calibri"/>
              </a:rPr>
              <a:t>of world trade value travels by air</a:t>
            </a:r>
          </a:p>
        </p:txBody>
      </p:sp>
      <p:sp>
        <p:nvSpPr>
          <p:cNvPr id="10" name="TextBox 9"/>
          <p:cNvSpPr txBox="1"/>
          <p:nvPr/>
        </p:nvSpPr>
        <p:spPr>
          <a:xfrm>
            <a:off x="6400800" y="1920240"/>
            <a:ext cx="5120640" cy="1280160"/>
          </a:xfrm>
          <a:prstGeom prst="rect">
            <a:avLst/>
          </a:prstGeom>
          <a:noFill/>
        </p:spPr>
        <p:txBody>
          <a:bodyPr wrap="square" lIns="0" tIns="0" rIns="0" bIns="0" anchor="t">
            <a:spAutoFit/>
          </a:bodyPr>
          <a:lstStyle/>
          <a:p>
            <a:pPr algn="l">
              <a:lnSpc>
                <a:spcPct val="108000"/>
              </a:lnSpc>
              <a:spcAft>
                <a:spcPts val="600"/>
              </a:spcAft>
            </a:pPr>
            <a:r>
              <a:rPr lang="en-US" sz="1800" b="0" i="0">
                <a:solidFill>
                  <a:srgbClr val="22211F"/>
                </a:solidFill>
                <a:latin typeface="Calibri"/>
              </a:rPr>
              <a:t>Our measure is built from passenger networks. They matter even for goods that later go by ship, because they move the people who make trade happen:</a:t>
            </a:r>
          </a:p>
        </p:txBody>
      </p:sp>
      <p:sp>
        <p:nvSpPr>
          <p:cNvPr id="11" name="TextBox 10"/>
          <p:cNvSpPr txBox="1"/>
          <p:nvPr/>
        </p:nvSpPr>
        <p:spPr>
          <a:xfrm>
            <a:off x="6400800" y="3337560"/>
            <a:ext cx="5120640" cy="1463040"/>
          </a:xfrm>
          <a:prstGeom prst="rect">
            <a:avLst/>
          </a:prstGeom>
          <a:noFill/>
        </p:spPr>
        <p:txBody>
          <a:bodyPr wrap="square" lIns="0" tIns="0" rIns="0" bIns="0" anchor="t">
            <a:spAutoFit/>
          </a:bodyPr>
          <a:lstStyle/>
          <a:p>
            <a:pPr marL="201168" indent="-201168" algn="l">
              <a:spcAft>
                <a:spcPts val="600"/>
              </a:spcAft>
              <a:buClr>
                <a:srgbClr val="B8862F"/>
              </a:buClr>
              <a:buFont typeface="Arial"/>
              <a:buChar char="•"/>
            </a:pPr>
            <a:r>
              <a:rPr lang="en-US" sz="1800" b="0" i="0">
                <a:solidFill>
                  <a:srgbClr val="22211F"/>
                </a:solidFill>
                <a:latin typeface="Calibri"/>
              </a:rPr>
              <a:t>buyers meeting sellers</a:t>
            </a:r>
          </a:p>
          <a:p>
            <a:pPr marL="201168" indent="-201168" algn="l">
              <a:spcAft>
                <a:spcPts val="600"/>
              </a:spcAft>
              <a:buClr>
                <a:srgbClr val="B8862F"/>
              </a:buClr>
              <a:buFont typeface="Arial"/>
              <a:buChar char="•"/>
            </a:pPr>
            <a:r>
              <a:rPr lang="en-US" sz="1800" b="0" i="0">
                <a:solidFill>
                  <a:srgbClr val="22211F"/>
                </a:solidFill>
                <a:latin typeface="Calibri"/>
              </a:rPr>
              <a:t>managers inspecting suppliers</a:t>
            </a:r>
          </a:p>
          <a:p>
            <a:pPr marL="201168" indent="-201168" algn="l">
              <a:spcAft>
                <a:spcPts val="600"/>
              </a:spcAft>
              <a:buClr>
                <a:srgbClr val="B8862F"/>
              </a:buClr>
              <a:buFont typeface="Arial"/>
              <a:buChar char="•"/>
            </a:pPr>
            <a:r>
              <a:rPr lang="en-US" sz="1800" b="0" i="0">
                <a:solidFill>
                  <a:srgbClr val="22211F"/>
                </a:solidFill>
                <a:latin typeface="Calibri"/>
              </a:rPr>
              <a:t>engineers servicing production lines</a:t>
            </a:r>
          </a:p>
        </p:txBody>
      </p:sp>
      <p:sp>
        <p:nvSpPr>
          <p:cNvPr id="12" name="TextBox 11"/>
          <p:cNvSpPr txBox="1"/>
          <p:nvPr/>
        </p:nvSpPr>
        <p:spPr>
          <a:xfrm>
            <a:off x="6400800" y="4709160"/>
            <a:ext cx="5120640" cy="822960"/>
          </a:xfrm>
          <a:prstGeom prst="rect">
            <a:avLst/>
          </a:prstGeom>
          <a:noFill/>
        </p:spPr>
        <p:txBody>
          <a:bodyPr wrap="square" lIns="0" tIns="0" rIns="0" bIns="0" anchor="t">
            <a:spAutoFit/>
          </a:bodyPr>
          <a:lstStyle/>
          <a:p>
            <a:pPr algn="l">
              <a:lnSpc>
                <a:spcPct val="105000"/>
              </a:lnSpc>
              <a:spcAft>
                <a:spcPts val="600"/>
              </a:spcAft>
            </a:pPr>
            <a:r>
              <a:rPr lang="en-US" sz="1700" b="0" i="1">
                <a:solidFill>
                  <a:srgbClr val="1F3A32"/>
                </a:solidFill>
                <a:latin typeface="Calibri"/>
              </a:rPr>
              <a:t>Passenger connectivity lowers the cost of the transaction, whichever mode carries the cargo.</a:t>
            </a:r>
          </a:p>
        </p:txBody>
      </p:sp>
      <p:sp>
        <p:nvSpPr>
          <p:cNvPr id="13" name="TextBox 12"/>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Sources: UNCTAD, Review of Maritime Transport 2021; IATA, The Value of Air Cargo.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MOTIVATION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Three channels, each with a prediction we can test</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7</a:t>
            </a:r>
          </a:p>
        </p:txBody>
      </p:sp>
      <p:graphicFrame>
        <p:nvGraphicFramePr>
          <p:cNvPr id="5" name="Table 4"/>
          <p:cNvGraphicFramePr>
            <a:graphicFrameLocks noGrp="1"/>
          </p:cNvGraphicFramePr>
          <p:nvPr/>
        </p:nvGraphicFramePr>
        <p:xfrm>
          <a:off x="640080" y="1828800"/>
          <a:ext cx="11064240" cy="3291840"/>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411480">
                <a:tc>
                  <a:txBody>
                    <a:bodyPr/>
                    <a:lstStyle/>
                    <a:p>
                      <a:pPr algn="l"/>
                      <a:r>
                        <a:rPr lang="en-US" sz="1500" b="1" i="0">
                          <a:solidFill>
                            <a:srgbClr val="6F6A62"/>
                          </a:solidFill>
                          <a:latin typeface="Calibri"/>
                        </a:rPr>
                        <a:t>Channel</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l"/>
                      <a:r>
                        <a:rPr lang="en-US" sz="1500" b="1" i="0">
                          <a:solidFill>
                            <a:srgbClr val="6F6A62"/>
                          </a:solidFill>
                          <a:latin typeface="Calibri"/>
                        </a:rPr>
                        <a:t>What moves by air</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l"/>
                      <a:r>
                        <a:rPr lang="en-US" sz="1500" b="1" i="0">
                          <a:solidFill>
                            <a:srgbClr val="6F6A62"/>
                          </a:solidFill>
                          <a:latin typeface="Calibri"/>
                        </a:rPr>
                        <a:t>Prediction</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l"/>
                      <a:r>
                        <a:rPr lang="en-US" sz="1500" b="1" i="0">
                          <a:solidFill>
                            <a:srgbClr val="6F6A62"/>
                          </a:solidFill>
                          <a:latin typeface="Calibri"/>
                        </a:rPr>
                        <a:t>Data</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960120">
                <a:tc>
                  <a:txBody>
                    <a:bodyPr/>
                    <a:lstStyle/>
                    <a:p>
                      <a:pPr algn="l"/>
                      <a:r>
                        <a:rPr lang="en-US" sz="1500" b="1" i="0">
                          <a:solidFill>
                            <a:srgbClr val="22211F"/>
                          </a:solidFill>
                          <a:latin typeface="Calibri"/>
                        </a:rPr>
                        <a:t>Transaction costs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500" b="0" i="0">
                          <a:solidFill>
                            <a:srgbClr val="22211F"/>
                          </a:solidFill>
                          <a:latin typeface="Calibri"/>
                        </a:rPr>
                        <a:t>Buyers, sellers and managers: face-to-face contact that matches partners and builds trust</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500" b="1" i="0">
                          <a:solidFill>
                            <a:srgbClr val="B8862F"/>
                          </a:solidFill>
                          <a:latin typeface="Calibri"/>
                        </a:rPr>
                        <a:t>H1  </a:t>
                      </a:r>
                      <a:r>
                        <a:rPr lang="en-US" sz="1500" b="0" i="0">
                          <a:solidFill>
                            <a:srgbClr val="22211F"/>
                          </a:solidFill>
                          <a:latin typeface="Calibri"/>
                        </a:rPr>
                        <a:t>Trade rises relative to GDP (openness)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500" b="0" i="0">
                          <a:solidFill>
                            <a:srgbClr val="22211F"/>
                          </a:solidFill>
                          <a:latin typeface="Calibri"/>
                        </a:rPr>
                        <a:t>WDI merchandise trade</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960120">
                <a:tc>
                  <a:txBody>
                    <a:bodyPr/>
                    <a:lstStyle/>
                    <a:p>
                      <a:pPr algn="l"/>
                      <a:r>
                        <a:rPr lang="en-US" sz="1500" b="1" i="0">
                          <a:solidFill>
                            <a:srgbClr val="22211F"/>
                          </a:solidFill>
                          <a:latin typeface="Calibri"/>
                        </a:rPr>
                        <a:t>Belly-hold cargo</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500" b="0" i="0">
                          <a:solidFill>
                            <a:srgbClr val="22211F"/>
                          </a:solidFill>
                          <a:latin typeface="Calibri"/>
                        </a:rPr>
                        <a:t>Time-sensitive, high-value goods; each day in transit costs 0.6–2.1% of value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500" b="1" i="0">
                          <a:solidFill>
                            <a:srgbClr val="B8862F"/>
                          </a:solidFill>
                          <a:latin typeface="Calibri"/>
                        </a:rPr>
                        <a:t>H2  </a:t>
                      </a:r>
                      <a:r>
                        <a:rPr lang="en-US" sz="1500" b="0" i="0">
                          <a:solidFill>
                            <a:srgbClr val="22211F"/>
                          </a:solidFill>
                          <a:latin typeface="Calibri"/>
                        </a:rPr>
                        <a:t>Higher share of high value-to-weight goods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500" b="0" i="0">
                          <a:solidFill>
                            <a:srgbClr val="22211F"/>
                          </a:solidFill>
                          <a:latin typeface="Calibri"/>
                        </a:rPr>
                        <a:t>BACI unit values ($/kg)</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960120">
                <a:tc>
                  <a:txBody>
                    <a:bodyPr/>
                    <a:lstStyle/>
                    <a:p>
                      <a:pPr algn="l"/>
                      <a:r>
                        <a:rPr lang="en-US" sz="1500" b="1" i="0">
                          <a:solidFill>
                            <a:srgbClr val="22211F"/>
                          </a:solidFill>
                          <a:latin typeface="Calibri"/>
                        </a:rPr>
                        <a:t>Value chains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500" b="0" i="0">
                          <a:solidFill>
                            <a:srgbClr val="22211F"/>
                          </a:solidFill>
                          <a:latin typeface="Calibri"/>
                        </a:rPr>
                        <a:t>Engineers, samples and urgent components that keep production networks running</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500" b="1" i="0">
                          <a:solidFill>
                            <a:srgbClr val="B8862F"/>
                          </a:solidFill>
                          <a:latin typeface="Calibri"/>
                        </a:rPr>
                        <a:t>H3  </a:t>
                      </a:r>
                      <a:r>
                        <a:rPr lang="en-US" sz="1500" b="0" i="0">
                          <a:solidFill>
                            <a:srgbClr val="22211F"/>
                          </a:solidFill>
                          <a:latin typeface="Calibri"/>
                        </a:rPr>
                        <a:t>More intermediate relative to consumption goods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500" b="0" i="0">
                          <a:solidFill>
                            <a:srgbClr val="22211F"/>
                          </a:solidFill>
                          <a:latin typeface="Calibri"/>
                        </a:rPr>
                        <a:t>BACI end use (BEC)</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3"/>
                  </a:ext>
                </a:extLst>
              </a:tr>
            </a:tbl>
          </a:graphicData>
        </a:graphic>
      </p:graphicFrame>
      <p:sp>
        <p:nvSpPr>
          <p:cNvPr id="6" name="TextBox 5"/>
          <p:cNvSpPr txBox="1"/>
          <p:nvPr/>
        </p:nvSpPr>
        <p:spPr>
          <a:xfrm>
            <a:off x="640080" y="5440680"/>
            <a:ext cx="10911535" cy="548640"/>
          </a:xfrm>
          <a:prstGeom prst="rect">
            <a:avLst/>
          </a:prstGeom>
          <a:noFill/>
        </p:spPr>
        <p:txBody>
          <a:bodyPr wrap="square" lIns="0" tIns="0" rIns="0" bIns="0" anchor="t">
            <a:spAutoFit/>
          </a:bodyPr>
          <a:lstStyle/>
          <a:p>
            <a:pPr algn="l">
              <a:spcAft>
                <a:spcPts val="600"/>
              </a:spcAft>
            </a:pPr>
            <a:r>
              <a:rPr lang="en-US" sz="1500" b="0" i="1">
                <a:solidFill>
                  <a:srgbClr val="6F6A62"/>
                </a:solidFill>
                <a:latin typeface="Calibri"/>
              </a:rPr>
              <a:t>H2 and H3 concern the composition of trade, which we test with product-level data after the main results.</a:t>
            </a:r>
          </a:p>
        </p:txBody>
      </p:sp>
      <p:sp>
        <p:nvSpPr>
          <p:cNvPr id="7" name="TextBox 6"/>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Time cost of transit: Hummels and Schaur (2013, AER).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F3A32"/>
        </a:solidFill>
        <a:effectLst/>
      </p:bgPr>
    </p:bg>
    <p:spTree>
      <p:nvGrpSpPr>
        <p:cNvPr id="1" name=""/>
        <p:cNvGrpSpPr/>
        <p:nvPr/>
      </p:nvGrpSpPr>
      <p:grpSpPr>
        <a:xfrm>
          <a:off x="0" y="0"/>
          <a:ext cx="0" cy="0"/>
          <a:chOff x="0" y="0"/>
          <a:chExt cx="0" cy="0"/>
        </a:xfrm>
      </p:grpSpPr>
      <p:pic>
        <p:nvPicPr>
          <p:cNvPr id="2" name="Picture 1" descr="title_airports_2024.png"/>
          <p:cNvPicPr>
            <a:picLocks noChangeAspect="1"/>
          </p:cNvPicPr>
          <p:nvPr/>
        </p:nvPicPr>
        <p:blipFill>
          <a:blip r:embed="rId3">
            <a:alphaModFix amt="45000"/>
          </a:blip>
          <a:stretch>
            <a:fillRect/>
          </a:stretch>
        </p:blipFill>
        <p:spPr>
          <a:xfrm>
            <a:off x="0" y="0"/>
            <a:ext cx="12191695" cy="6858000"/>
          </a:xfrm>
          <a:prstGeom prst="rect">
            <a:avLst/>
          </a:prstGeom>
        </p:spPr>
      </p:pic>
      <p:sp>
        <p:nvSpPr>
          <p:cNvPr id="3" name="TextBox 2"/>
          <p:cNvSpPr txBox="1"/>
          <p:nvPr/>
        </p:nvSpPr>
        <p:spPr>
          <a:xfrm>
            <a:off x="822960" y="1600200"/>
            <a:ext cx="3657600" cy="1463040"/>
          </a:xfrm>
          <a:prstGeom prst="rect">
            <a:avLst/>
          </a:prstGeom>
          <a:noFill/>
        </p:spPr>
        <p:txBody>
          <a:bodyPr wrap="square" lIns="0" tIns="0" rIns="0" bIns="0" anchor="t">
            <a:spAutoFit/>
          </a:bodyPr>
          <a:lstStyle/>
          <a:p>
            <a:pPr algn="l">
              <a:spcAft>
                <a:spcPts val="600"/>
              </a:spcAft>
            </a:pPr>
            <a:r>
              <a:rPr lang="en-US" sz="9600" b="0" i="0">
                <a:solidFill>
                  <a:srgbClr val="B8862F"/>
                </a:solidFill>
                <a:latin typeface="Georgia"/>
              </a:rPr>
              <a:t>01</a:t>
            </a:r>
          </a:p>
        </p:txBody>
      </p:sp>
      <p:sp>
        <p:nvSpPr>
          <p:cNvPr id="4" name="TextBox 3"/>
          <p:cNvSpPr txBox="1"/>
          <p:nvPr/>
        </p:nvSpPr>
        <p:spPr>
          <a:xfrm>
            <a:off x="822960" y="3154680"/>
            <a:ext cx="7772400" cy="822960"/>
          </a:xfrm>
          <a:prstGeom prst="rect">
            <a:avLst/>
          </a:prstGeom>
          <a:noFill/>
        </p:spPr>
        <p:txBody>
          <a:bodyPr wrap="square" lIns="0" tIns="0" rIns="0" bIns="0" anchor="t">
            <a:spAutoFit/>
          </a:bodyPr>
          <a:lstStyle/>
          <a:p>
            <a:pPr algn="l">
              <a:spcAft>
                <a:spcPts val="600"/>
              </a:spcAft>
            </a:pPr>
            <a:r>
              <a:rPr lang="en-US" sz="4200" b="0" i="0">
                <a:solidFill>
                  <a:srgbClr val="FFFFFF"/>
                </a:solidFill>
                <a:latin typeface="Georgia"/>
              </a:rPr>
              <a:t>Building the index</a:t>
            </a:r>
          </a:p>
        </p:txBody>
      </p:sp>
      <p:sp>
        <p:nvSpPr>
          <p:cNvPr id="5" name="TextBox 4"/>
          <p:cNvSpPr txBox="1"/>
          <p:nvPr/>
        </p:nvSpPr>
        <p:spPr>
          <a:xfrm>
            <a:off x="822960" y="4069080"/>
            <a:ext cx="6583680" cy="914400"/>
          </a:xfrm>
          <a:prstGeom prst="rect">
            <a:avLst/>
          </a:prstGeom>
          <a:noFill/>
        </p:spPr>
        <p:txBody>
          <a:bodyPr wrap="square" lIns="0" tIns="0" rIns="0" bIns="0" anchor="t">
            <a:spAutoFit/>
          </a:bodyPr>
          <a:lstStyle/>
          <a:p>
            <a:pPr algn="l">
              <a:lnSpc>
                <a:spcPct val="105000"/>
              </a:lnSpc>
              <a:spcAft>
                <a:spcPts val="600"/>
              </a:spcAft>
            </a:pPr>
            <a:r>
              <a:rPr lang="en-US" sz="1900" b="0" i="1">
                <a:solidFill>
                  <a:srgbClr val="C9D6CF"/>
                </a:solidFill>
                <a:latin typeface="Calibri"/>
              </a:rPr>
              <a:t>How do we measure a country’s position in the world air network?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Connectivity is a position in the network, not a count of routes</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9</a:t>
            </a:r>
          </a:p>
        </p:txBody>
      </p:sp>
      <p:cxnSp>
        <p:nvCxnSpPr>
          <p:cNvPr id="5" name="Connector 4"/>
          <p:cNvCxnSpPr/>
          <p:nvPr/>
        </p:nvCxnSpPr>
        <p:spPr>
          <a:xfrm flipH="1" flipV="1">
            <a:off x="796008" y="3510389"/>
            <a:ext cx="464400" cy="325177"/>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736572" y="3450953"/>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7" name="Connector 6"/>
          <p:cNvCxnSpPr/>
          <p:nvPr/>
        </p:nvCxnSpPr>
        <p:spPr>
          <a:xfrm flipH="1">
            <a:off x="693825" y="3835566"/>
            <a:ext cx="566583" cy="19785"/>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634389" y="3795915"/>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9" name="Connector 8"/>
          <p:cNvCxnSpPr/>
          <p:nvPr/>
        </p:nvCxnSpPr>
        <p:spPr>
          <a:xfrm flipH="1">
            <a:off x="819822" y="3835566"/>
            <a:ext cx="440586" cy="356779"/>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60386" y="4132909"/>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11" name="Connector 10"/>
          <p:cNvCxnSpPr/>
          <p:nvPr/>
        </p:nvCxnSpPr>
        <p:spPr>
          <a:xfrm flipH="1">
            <a:off x="1123256" y="3835566"/>
            <a:ext cx="137152" cy="550088"/>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63820" y="4326218"/>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13" name="Connector 12"/>
          <p:cNvCxnSpPr/>
          <p:nvPr/>
        </p:nvCxnSpPr>
        <p:spPr>
          <a:xfrm flipH="1">
            <a:off x="1260408" y="3429000"/>
            <a:ext cx="1117032" cy="406566"/>
          </a:xfrm>
          <a:prstGeom prst="line">
            <a:avLst/>
          </a:prstGeom>
          <a:ln w="38100">
            <a:solidFill>
              <a:srgbClr val="1F3A32"/>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76944" y="3552102"/>
            <a:ext cx="566928" cy="566928"/>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100" b="1" i="0">
                <a:solidFill>
                  <a:srgbClr val="FFFFFF"/>
                </a:solidFill>
                <a:latin typeface="Calibri"/>
              </a:rPr>
              <a:t>DXB</a:t>
            </a:r>
          </a:p>
        </p:txBody>
      </p:sp>
      <p:cxnSp>
        <p:nvCxnSpPr>
          <p:cNvPr id="15" name="Connector 14"/>
          <p:cNvCxnSpPr/>
          <p:nvPr/>
        </p:nvCxnSpPr>
        <p:spPr>
          <a:xfrm>
            <a:off x="3406901" y="4023360"/>
            <a:ext cx="49411" cy="564770"/>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396876" y="4528694"/>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17" name="Connector 16"/>
          <p:cNvCxnSpPr/>
          <p:nvPr/>
        </p:nvCxnSpPr>
        <p:spPr>
          <a:xfrm>
            <a:off x="3406901" y="4023360"/>
            <a:ext cx="379349" cy="421309"/>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3726814" y="4385233"/>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19" name="Connector 18"/>
          <p:cNvCxnSpPr/>
          <p:nvPr/>
        </p:nvCxnSpPr>
        <p:spPr>
          <a:xfrm>
            <a:off x="3406901" y="4023360"/>
            <a:ext cx="556512" cy="108174"/>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903977" y="4072098"/>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21" name="Connector 20"/>
          <p:cNvCxnSpPr/>
          <p:nvPr/>
        </p:nvCxnSpPr>
        <p:spPr>
          <a:xfrm flipV="1">
            <a:off x="3406901" y="3774835"/>
            <a:ext cx="509552" cy="248525"/>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857017" y="3715399"/>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23" name="Connector 22"/>
          <p:cNvCxnSpPr/>
          <p:nvPr/>
        </p:nvCxnSpPr>
        <p:spPr>
          <a:xfrm>
            <a:off x="2377440" y="3429000"/>
            <a:ext cx="1029461" cy="594360"/>
          </a:xfrm>
          <a:prstGeom prst="line">
            <a:avLst/>
          </a:prstGeom>
          <a:ln w="38100">
            <a:solidFill>
              <a:srgbClr val="1F3A32"/>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123437" y="3739896"/>
            <a:ext cx="566928" cy="566928"/>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100" b="1" i="0">
                <a:solidFill>
                  <a:srgbClr val="FFFFFF"/>
                </a:solidFill>
                <a:latin typeface="Calibri"/>
              </a:rPr>
              <a:t>FRA</a:t>
            </a:r>
          </a:p>
        </p:txBody>
      </p:sp>
      <p:cxnSp>
        <p:nvCxnSpPr>
          <p:cNvPr id="25" name="Connector 24"/>
          <p:cNvCxnSpPr/>
          <p:nvPr/>
        </p:nvCxnSpPr>
        <p:spPr>
          <a:xfrm flipV="1">
            <a:off x="2377440" y="1915103"/>
            <a:ext cx="464400" cy="325177"/>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2782404" y="1855667"/>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27" name="Connector 26"/>
          <p:cNvCxnSpPr/>
          <p:nvPr/>
        </p:nvCxnSpPr>
        <p:spPr>
          <a:xfrm flipV="1">
            <a:off x="2377440" y="1701099"/>
            <a:ext cx="175190" cy="539181"/>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2493194" y="1641663"/>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29" name="Connector 28"/>
          <p:cNvCxnSpPr/>
          <p:nvPr/>
        </p:nvCxnSpPr>
        <p:spPr>
          <a:xfrm flipH="1" flipV="1">
            <a:off x="2192866" y="1704239"/>
            <a:ext cx="184574" cy="536041"/>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2133430" y="1644803"/>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31" name="Connector 30"/>
          <p:cNvCxnSpPr/>
          <p:nvPr/>
        </p:nvCxnSpPr>
        <p:spPr>
          <a:xfrm flipH="1" flipV="1">
            <a:off x="1907435" y="1923257"/>
            <a:ext cx="470005" cy="317023"/>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1847999" y="1863821"/>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33" name="Connector 32"/>
          <p:cNvCxnSpPr/>
          <p:nvPr/>
        </p:nvCxnSpPr>
        <p:spPr>
          <a:xfrm flipV="1">
            <a:off x="2377440" y="2240280"/>
            <a:ext cx="0" cy="1188720"/>
          </a:xfrm>
          <a:prstGeom prst="line">
            <a:avLst/>
          </a:prstGeom>
          <a:ln w="38100">
            <a:solidFill>
              <a:srgbClr val="1F3A32"/>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2093976" y="1956816"/>
            <a:ext cx="566928" cy="566928"/>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100" b="1" i="0">
                <a:solidFill>
                  <a:srgbClr val="FFFFFF"/>
                </a:solidFill>
                <a:latin typeface="Calibri"/>
              </a:rPr>
              <a:t>SIN</a:t>
            </a:r>
          </a:p>
        </p:txBody>
      </p:sp>
      <p:sp>
        <p:nvSpPr>
          <p:cNvPr id="35" name="Oval 34"/>
          <p:cNvSpPr/>
          <p:nvPr/>
        </p:nvSpPr>
        <p:spPr>
          <a:xfrm>
            <a:off x="2167128" y="3218688"/>
            <a:ext cx="420624" cy="420624"/>
          </a:xfrm>
          <a:prstGeom prst="ellipse">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400" b="1" i="0">
                <a:solidFill>
                  <a:srgbClr val="FFFFFF"/>
                </a:solidFill>
                <a:latin typeface="Calibri"/>
              </a:rPr>
              <a:t>A</a:t>
            </a:r>
          </a:p>
        </p:txBody>
      </p:sp>
      <p:cxnSp>
        <p:nvCxnSpPr>
          <p:cNvPr id="36" name="Connector 35"/>
          <p:cNvCxnSpPr/>
          <p:nvPr/>
        </p:nvCxnSpPr>
        <p:spPr>
          <a:xfrm flipH="1">
            <a:off x="5192328" y="3429000"/>
            <a:ext cx="1117032" cy="406566"/>
          </a:xfrm>
          <a:prstGeom prst="line">
            <a:avLst/>
          </a:prstGeom>
          <a:ln w="19050">
            <a:solidFill>
              <a:srgbClr val="BDB8AE"/>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5073456" y="3716694"/>
            <a:ext cx="237744" cy="237744"/>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38" name="Connector 37"/>
          <p:cNvCxnSpPr/>
          <p:nvPr/>
        </p:nvCxnSpPr>
        <p:spPr>
          <a:xfrm>
            <a:off x="6309360" y="3429000"/>
            <a:ext cx="1029461" cy="594360"/>
          </a:xfrm>
          <a:prstGeom prst="line">
            <a:avLst/>
          </a:prstGeom>
          <a:ln w="19050">
            <a:solidFill>
              <a:srgbClr val="BDB8AE"/>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219949" y="3904488"/>
            <a:ext cx="237744" cy="237744"/>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40" name="Connector 39"/>
          <p:cNvCxnSpPr/>
          <p:nvPr/>
        </p:nvCxnSpPr>
        <p:spPr>
          <a:xfrm flipV="1">
            <a:off x="6309360" y="2240280"/>
            <a:ext cx="0" cy="1188720"/>
          </a:xfrm>
          <a:prstGeom prst="line">
            <a:avLst/>
          </a:prstGeom>
          <a:ln w="19050">
            <a:solidFill>
              <a:srgbClr val="BDB8AE"/>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6190488" y="2121408"/>
            <a:ext cx="237744" cy="237744"/>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Oval 41"/>
          <p:cNvSpPr/>
          <p:nvPr/>
        </p:nvSpPr>
        <p:spPr>
          <a:xfrm>
            <a:off x="6099048" y="3218688"/>
            <a:ext cx="420624" cy="420624"/>
          </a:xfrm>
          <a:prstGeom prst="ellipse">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400" b="1" i="0">
                <a:solidFill>
                  <a:srgbClr val="FFFFFF"/>
                </a:solidFill>
                <a:latin typeface="Calibri"/>
              </a:rPr>
              <a:t>B</a:t>
            </a:r>
          </a:p>
        </p:txBody>
      </p:sp>
      <p:sp>
        <p:nvSpPr>
          <p:cNvPr id="43" name="TextBox 42"/>
          <p:cNvSpPr txBox="1"/>
          <p:nvPr/>
        </p:nvSpPr>
        <p:spPr>
          <a:xfrm>
            <a:off x="914400" y="5120640"/>
            <a:ext cx="3017520" cy="822960"/>
          </a:xfrm>
          <a:prstGeom prst="rect">
            <a:avLst/>
          </a:prstGeom>
          <a:noFill/>
        </p:spPr>
        <p:txBody>
          <a:bodyPr wrap="square" lIns="0" tIns="0" rIns="0" bIns="0" anchor="t">
            <a:spAutoFit/>
          </a:bodyPr>
          <a:lstStyle/>
          <a:p>
            <a:pPr algn="ctr">
              <a:spcAft>
                <a:spcPts val="200"/>
              </a:spcAft>
            </a:pPr>
            <a:r>
              <a:rPr lang="en-US" sz="1300" b="1" i="0">
                <a:solidFill>
                  <a:srgbClr val="1F3A32"/>
                </a:solidFill>
                <a:latin typeface="Calibri"/>
              </a:rPr>
              <a:t>Country A</a:t>
            </a:r>
          </a:p>
          <a:p>
            <a:pPr algn="ctr">
              <a:spcAft>
                <a:spcPts val="200"/>
              </a:spcAft>
            </a:pPr>
            <a:r>
              <a:rPr lang="en-US" sz="1300" b="0" i="0">
                <a:solidFill>
                  <a:srgbClr val="6F6A62"/>
                </a:solidFill>
                <a:latin typeface="Calibri"/>
              </a:rPr>
              <a:t>Three routes to global hubs: most of the world within two legs</a:t>
            </a:r>
          </a:p>
        </p:txBody>
      </p:sp>
      <p:sp>
        <p:nvSpPr>
          <p:cNvPr id="44" name="TextBox 43"/>
          <p:cNvSpPr txBox="1"/>
          <p:nvPr/>
        </p:nvSpPr>
        <p:spPr>
          <a:xfrm>
            <a:off x="4846320" y="5120640"/>
            <a:ext cx="3017520" cy="822960"/>
          </a:xfrm>
          <a:prstGeom prst="rect">
            <a:avLst/>
          </a:prstGeom>
          <a:noFill/>
        </p:spPr>
        <p:txBody>
          <a:bodyPr wrap="square" lIns="0" tIns="0" rIns="0" bIns="0" anchor="t">
            <a:spAutoFit/>
          </a:bodyPr>
          <a:lstStyle/>
          <a:p>
            <a:pPr algn="ctr">
              <a:spcAft>
                <a:spcPts val="200"/>
              </a:spcAft>
            </a:pPr>
            <a:r>
              <a:rPr lang="en-US" sz="1300" b="1" i="0">
                <a:solidFill>
                  <a:srgbClr val="1F3A32"/>
                </a:solidFill>
                <a:latin typeface="Calibri"/>
              </a:rPr>
              <a:t>Country B</a:t>
            </a:r>
          </a:p>
          <a:p>
            <a:pPr algn="ctr">
              <a:spcAft>
                <a:spcPts val="200"/>
              </a:spcAft>
            </a:pPr>
            <a:r>
              <a:rPr lang="en-US" sz="1300" b="0" i="0">
                <a:solidFill>
                  <a:srgbClr val="6F6A62"/>
                </a:solidFill>
                <a:latin typeface="Calibri"/>
              </a:rPr>
              <a:t>Three routes to small regional fields: same count, far less reach</a:t>
            </a:r>
          </a:p>
        </p:txBody>
      </p:sp>
      <p:sp>
        <p:nvSpPr>
          <p:cNvPr id="45" name="TextBox 44"/>
          <p:cNvSpPr txBox="1"/>
          <p:nvPr/>
        </p:nvSpPr>
        <p:spPr>
          <a:xfrm>
            <a:off x="8549640" y="1828800"/>
            <a:ext cx="3017520" cy="914400"/>
          </a:xfrm>
          <a:prstGeom prst="rect">
            <a:avLst/>
          </a:prstGeom>
          <a:noFill/>
        </p:spPr>
        <p:txBody>
          <a:bodyPr wrap="square" lIns="0" tIns="0" rIns="0" bIns="0" anchor="t">
            <a:spAutoFit/>
          </a:bodyPr>
          <a:lstStyle/>
          <a:p>
            <a:pPr algn="l">
              <a:spcAft>
                <a:spcPts val="600"/>
              </a:spcAft>
            </a:pPr>
            <a:r>
              <a:rPr lang="en-US" sz="5400" b="0" i="0">
                <a:solidFill>
                  <a:srgbClr val="1F3A32"/>
                </a:solidFill>
                <a:latin typeface="Georgia"/>
              </a:rPr>
              <a:t>106</a:t>
            </a:r>
          </a:p>
        </p:txBody>
      </p:sp>
      <p:sp>
        <p:nvSpPr>
          <p:cNvPr id="46" name="TextBox 45"/>
          <p:cNvSpPr txBox="1"/>
          <p:nvPr/>
        </p:nvSpPr>
        <p:spPr>
          <a:xfrm>
            <a:off x="8549640" y="2788920"/>
            <a:ext cx="3017520" cy="1005840"/>
          </a:xfrm>
          <a:prstGeom prst="rect">
            <a:avLst/>
          </a:prstGeom>
          <a:noFill/>
        </p:spPr>
        <p:txBody>
          <a:bodyPr wrap="square" lIns="0" tIns="0" rIns="0" bIns="0" anchor="t">
            <a:spAutoFit/>
          </a:bodyPr>
          <a:lstStyle/>
          <a:p>
            <a:pPr algn="l">
              <a:lnSpc>
                <a:spcPct val="105000"/>
              </a:lnSpc>
              <a:spcAft>
                <a:spcPts val="600"/>
              </a:spcAft>
            </a:pPr>
            <a:r>
              <a:rPr lang="en-US" sz="1600" b="0" i="0">
                <a:solidFill>
                  <a:srgbClr val="22211F"/>
                </a:solidFill>
                <a:latin typeface="Calibri"/>
              </a:rPr>
              <a:t>airports (2.7% of 3,863) carried half of all scheduled seats in 2024</a:t>
            </a:r>
          </a:p>
        </p:txBody>
      </p:sp>
      <p:cxnSp>
        <p:nvCxnSpPr>
          <p:cNvPr id="47" name="Connector 46"/>
          <p:cNvCxnSpPr/>
          <p:nvPr/>
        </p:nvCxnSpPr>
        <p:spPr>
          <a:xfrm>
            <a:off x="8549640" y="3931920"/>
            <a:ext cx="2971800" cy="0"/>
          </a:xfrm>
          <a:prstGeom prst="line">
            <a:avLst/>
          </a:prstGeom>
          <a:ln w="9525">
            <a:solidFill>
              <a:srgbClr val="D9D5CC"/>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549640" y="4069080"/>
            <a:ext cx="3017520" cy="1463040"/>
          </a:xfrm>
          <a:prstGeom prst="rect">
            <a:avLst/>
          </a:prstGeom>
          <a:noFill/>
        </p:spPr>
        <p:txBody>
          <a:bodyPr wrap="square" lIns="0" tIns="0" rIns="0" bIns="0" anchor="t">
            <a:spAutoFit/>
          </a:bodyPr>
          <a:lstStyle/>
          <a:p>
            <a:pPr algn="l">
              <a:lnSpc>
                <a:spcPct val="105000"/>
              </a:lnSpc>
              <a:spcAft>
                <a:spcPts val="600"/>
              </a:spcAft>
            </a:pPr>
            <a:r>
              <a:rPr lang="en-US" sz="1600" b="0" i="0">
                <a:solidFill>
                  <a:srgbClr val="22211F"/>
                </a:solidFill>
                <a:latin typeface="Calibri"/>
              </a:rPr>
              <a:t>A route to Incheon or Haneda is not a route to Kitakyushu. The measure has to weight capacity and the importance of partners.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We rebuild the network every year from airline schedules</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10</a:t>
            </a:r>
          </a:p>
        </p:txBody>
      </p:sp>
      <p:sp>
        <p:nvSpPr>
          <p:cNvPr id="5" name="TextBox 4"/>
          <p:cNvSpPr txBox="1"/>
          <p:nvPr/>
        </p:nvSpPr>
        <p:spPr>
          <a:xfrm>
            <a:off x="640080" y="1783080"/>
            <a:ext cx="5486400" cy="274320"/>
          </a:xfrm>
          <a:prstGeom prst="rect">
            <a:avLst/>
          </a:prstGeom>
          <a:noFill/>
        </p:spPr>
        <p:txBody>
          <a:bodyPr wrap="square" lIns="0" tIns="0" rIns="0" bIns="0" anchor="t">
            <a:spAutoFit/>
          </a:bodyPr>
          <a:lstStyle/>
          <a:p>
            <a:pPr algn="l">
              <a:spcAft>
                <a:spcPts val="600"/>
              </a:spcAft>
            </a:pPr>
            <a:r>
              <a:rPr lang="en-US" sz="1050" b="1" i="0" spc="100">
                <a:solidFill>
                  <a:srgbClr val="6F6A62"/>
                </a:solidFill>
                <a:latin typeface="Calibri"/>
              </a:rPr>
              <a:t>OAG SCHEDULE RECORDS</a:t>
            </a:r>
          </a:p>
        </p:txBody>
      </p:sp>
      <p:graphicFrame>
        <p:nvGraphicFramePr>
          <p:cNvPr id="6" name="Table 5"/>
          <p:cNvGraphicFramePr>
            <a:graphicFrameLocks noGrp="1"/>
          </p:cNvGraphicFramePr>
          <p:nvPr/>
        </p:nvGraphicFramePr>
        <p:xfrm>
          <a:off x="640080" y="2103120"/>
          <a:ext cx="5669280" cy="2304288"/>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640080">
                  <a:extLst>
                    <a:ext uri="{9D8B030D-6E8A-4147-A177-3AD203B41FA5}">
                      <a16:colId xmlns:a16="http://schemas.microsoft.com/office/drawing/2014/main" val="20007"/>
                    </a:ext>
                  </a:extLst>
                </a:gridCol>
              </a:tblGrid>
              <a:tr h="329184">
                <a:tc>
                  <a:txBody>
                    <a:bodyPr/>
                    <a:lstStyle/>
                    <a:p>
                      <a:pPr algn="l"/>
                      <a:r>
                        <a:rPr lang="en-US" sz="1250" b="1" i="0">
                          <a:solidFill>
                            <a:srgbClr val="6F6A62"/>
                          </a:solidFill>
                          <a:latin typeface="Calibri"/>
                        </a:rPr>
                        <a:t>Carrier</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Origin</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Country</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First</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Business</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Economy</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Freq.</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Seats</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329184">
                <a:tc>
                  <a:txBody>
                    <a:bodyPr/>
                    <a:lstStyle/>
                    <a:p>
                      <a:pPr algn="l"/>
                      <a:r>
                        <a:rPr lang="en-US" sz="1250" b="0" i="0">
                          <a:solidFill>
                            <a:srgbClr val="22211F"/>
                          </a:solidFill>
                          <a:latin typeface="Calibri"/>
                        </a:rPr>
                        <a:t>US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LAX</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US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0</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0</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175</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175</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29184">
                <a:tc>
                  <a:txBody>
                    <a:bodyPr/>
                    <a:lstStyle/>
                    <a:p>
                      <a:pPr algn="l"/>
                      <a:r>
                        <a:rPr lang="en-US" sz="1250" b="0" i="0">
                          <a:solidFill>
                            <a:srgbClr val="22211F"/>
                          </a:solidFill>
                          <a:latin typeface="Calibri"/>
                        </a:rPr>
                        <a:t>CN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CTU</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CN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30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271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301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29184">
                <a:tc>
                  <a:txBody>
                    <a:bodyPr/>
                    <a:lstStyle/>
                    <a:p>
                      <a:pPr algn="l"/>
                      <a:r>
                        <a:rPr lang="en-US" sz="1250" b="0" i="0">
                          <a:solidFill>
                            <a:srgbClr val="22211F"/>
                          </a:solidFill>
                          <a:latin typeface="Calibri"/>
                        </a:rPr>
                        <a:t>IN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FRA</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DE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24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144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168</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3"/>
                  </a:ext>
                </a:extLst>
              </a:tr>
              <a:tr h="329184">
                <a:tc>
                  <a:txBody>
                    <a:bodyPr/>
                    <a:lstStyle/>
                    <a:p>
                      <a:pPr algn="l"/>
                      <a:r>
                        <a:rPr lang="en-US" sz="1250" b="0" i="0">
                          <a:solidFill>
                            <a:srgbClr val="22211F"/>
                          </a:solidFill>
                          <a:latin typeface="Calibri"/>
                        </a:rPr>
                        <a:t>QA</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CKY</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GN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147</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159</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329184">
                <a:tc>
                  <a:txBody>
                    <a:bodyPr/>
                    <a:lstStyle/>
                    <a:p>
                      <a:pPr algn="l"/>
                      <a:r>
                        <a:rPr lang="en-US" sz="1250" b="0" i="0">
                          <a:solidFill>
                            <a:srgbClr val="22211F"/>
                          </a:solidFill>
                          <a:latin typeface="Calibri"/>
                        </a:rPr>
                        <a:t>GB</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MIA</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US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20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214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234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5"/>
                  </a:ext>
                </a:extLst>
              </a:tr>
              <a:tr h="329184">
                <a:tc>
                  <a:txBody>
                    <a:bodyPr/>
                    <a:lstStyle/>
                    <a:p>
                      <a:pPr algn="l"/>
                      <a:r>
                        <a:rPr lang="en-US" sz="1250" b="0" i="0">
                          <a:solidFill>
                            <a:srgbClr val="22211F"/>
                          </a:solidFill>
                          <a:latin typeface="Calibri"/>
                        </a:rPr>
                        <a:t>US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HND</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JP</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42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205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252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6"/>
                  </a:ext>
                </a:extLst>
              </a:tr>
            </a:tbl>
          </a:graphicData>
        </a:graphic>
      </p:graphicFrame>
      <p:sp>
        <p:nvSpPr>
          <p:cNvPr id="7" name="TextBox 6"/>
          <p:cNvSpPr txBox="1"/>
          <p:nvPr/>
        </p:nvSpPr>
        <p:spPr>
          <a:xfrm>
            <a:off x="640080" y="4480560"/>
            <a:ext cx="5669280" cy="548640"/>
          </a:xfrm>
          <a:prstGeom prst="rect">
            <a:avLst/>
          </a:prstGeom>
          <a:noFill/>
        </p:spPr>
        <p:txBody>
          <a:bodyPr wrap="square" lIns="0" tIns="0" rIns="0" bIns="0" anchor="t">
            <a:spAutoFit/>
          </a:bodyPr>
          <a:lstStyle/>
          <a:p>
            <a:pPr algn="l">
              <a:spcAft>
                <a:spcPts val="600"/>
              </a:spcAft>
            </a:pPr>
            <a:r>
              <a:rPr lang="en-US" sz="1200" b="0" i="1">
                <a:solidFill>
                  <a:srgbClr val="6F6A62"/>
                </a:solidFill>
                <a:latin typeface="Calibri"/>
              </a:rPr>
              <a:t>One row per scheduled flight segment: carrier, airports, seats by cabin, frequency</a:t>
            </a:r>
          </a:p>
        </p:txBody>
      </p:sp>
      <p:cxnSp>
        <p:nvCxnSpPr>
          <p:cNvPr id="8" name="Connector 7"/>
          <p:cNvCxnSpPr/>
          <p:nvPr/>
        </p:nvCxnSpPr>
        <p:spPr>
          <a:xfrm>
            <a:off x="6446520" y="3200400"/>
            <a:ext cx="457200" cy="0"/>
          </a:xfrm>
          <a:prstGeom prst="line">
            <a:avLst/>
          </a:prstGeom>
          <a:ln w="25400">
            <a:solidFill>
              <a:srgbClr val="B8862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086600" y="1783080"/>
            <a:ext cx="228600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A  CONNECTED (0/1)</a:t>
            </a:r>
          </a:p>
        </p:txBody>
      </p:sp>
      <p:sp>
        <p:nvSpPr>
          <p:cNvPr id="10" name="TextBox 9"/>
          <p:cNvSpPr txBox="1"/>
          <p:nvPr/>
        </p:nvSpPr>
        <p:spPr>
          <a:xfrm>
            <a:off x="9418320" y="1783080"/>
            <a:ext cx="228600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W  SEAT CAPACITY</a:t>
            </a:r>
          </a:p>
        </p:txBody>
      </p:sp>
      <p:graphicFrame>
        <p:nvGraphicFramePr>
          <p:cNvPr id="11" name="Table 10"/>
          <p:cNvGraphicFramePr>
            <a:graphicFrameLocks noGrp="1"/>
          </p:cNvGraphicFramePr>
          <p:nvPr/>
        </p:nvGraphicFramePr>
        <p:xfrm>
          <a:off x="7086600" y="2103120"/>
          <a:ext cx="2286000" cy="181051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65760">
                  <a:extLst>
                    <a:ext uri="{9D8B030D-6E8A-4147-A177-3AD203B41FA5}">
                      <a16:colId xmlns:a16="http://schemas.microsoft.com/office/drawing/2014/main" val="20001"/>
                    </a:ext>
                  </a:extLst>
                </a:gridCol>
                <a:gridCol w="365760">
                  <a:extLst>
                    <a:ext uri="{9D8B030D-6E8A-4147-A177-3AD203B41FA5}">
                      <a16:colId xmlns:a16="http://schemas.microsoft.com/office/drawing/2014/main" val="20002"/>
                    </a:ext>
                  </a:extLst>
                </a:gridCol>
                <a:gridCol w="365760">
                  <a:extLst>
                    <a:ext uri="{9D8B030D-6E8A-4147-A177-3AD203B41FA5}">
                      <a16:colId xmlns:a16="http://schemas.microsoft.com/office/drawing/2014/main" val="20003"/>
                    </a:ext>
                  </a:extLst>
                </a:gridCol>
                <a:gridCol w="365760">
                  <a:extLst>
                    <a:ext uri="{9D8B030D-6E8A-4147-A177-3AD203B41FA5}">
                      <a16:colId xmlns:a16="http://schemas.microsoft.com/office/drawing/2014/main" val="20004"/>
                    </a:ext>
                  </a:extLst>
                </a:gridCol>
                <a:gridCol w="365760">
                  <a:extLst>
                    <a:ext uri="{9D8B030D-6E8A-4147-A177-3AD203B41FA5}">
                      <a16:colId xmlns:a16="http://schemas.microsoft.com/office/drawing/2014/main" val="20005"/>
                    </a:ext>
                  </a:extLst>
                </a:gridCol>
              </a:tblGrid>
              <a:tr h="301752">
                <a:tc>
                  <a:txBody>
                    <a:bodyPr/>
                    <a:lstStyle/>
                    <a:p>
                      <a:pPr algn="l"/>
                      <a:endParaRP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ATL</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LHR</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DXB</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HKG</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SPK</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301752">
                <a:tc>
                  <a:txBody>
                    <a:bodyPr/>
                    <a:lstStyle/>
                    <a:p>
                      <a:pPr algn="l"/>
                      <a:r>
                        <a:rPr lang="en-US" sz="1150" b="0" i="0">
                          <a:solidFill>
                            <a:srgbClr val="22211F"/>
                          </a:solidFill>
                          <a:latin typeface="Calibri"/>
                        </a:rPr>
                        <a:t>ATL</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01752">
                <a:tc>
                  <a:txBody>
                    <a:bodyPr/>
                    <a:lstStyle/>
                    <a:p>
                      <a:pPr algn="l"/>
                      <a:r>
                        <a:rPr lang="en-US" sz="1150" b="0" i="0">
                          <a:solidFill>
                            <a:srgbClr val="22211F"/>
                          </a:solidFill>
                          <a:latin typeface="Calibri"/>
                        </a:rPr>
                        <a:t>LHR</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01752">
                <a:tc>
                  <a:txBody>
                    <a:bodyPr/>
                    <a:lstStyle/>
                    <a:p>
                      <a:pPr algn="l"/>
                      <a:r>
                        <a:rPr lang="en-US" sz="1150" b="0" i="0">
                          <a:solidFill>
                            <a:srgbClr val="22211F"/>
                          </a:solidFill>
                          <a:latin typeface="Calibri"/>
                        </a:rPr>
                        <a:t>DXB</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3"/>
                  </a:ext>
                </a:extLst>
              </a:tr>
              <a:tr h="301752">
                <a:tc>
                  <a:txBody>
                    <a:bodyPr/>
                    <a:lstStyle/>
                    <a:p>
                      <a:pPr algn="l"/>
                      <a:r>
                        <a:rPr lang="en-US" sz="1150" b="0" i="0">
                          <a:solidFill>
                            <a:srgbClr val="22211F"/>
                          </a:solidFill>
                          <a:latin typeface="Calibri"/>
                        </a:rPr>
                        <a:t>HKG</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301752">
                <a:tc>
                  <a:txBody>
                    <a:bodyPr/>
                    <a:lstStyle/>
                    <a:p>
                      <a:pPr algn="l"/>
                      <a:r>
                        <a:rPr lang="en-US" sz="1150" b="0" i="0">
                          <a:solidFill>
                            <a:srgbClr val="22211F"/>
                          </a:solidFill>
                          <a:latin typeface="Calibri"/>
                        </a:rPr>
                        <a:t>SPK</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5"/>
                  </a:ext>
                </a:extLst>
              </a:tr>
            </a:tbl>
          </a:graphicData>
        </a:graphic>
      </p:graphicFrame>
      <p:graphicFrame>
        <p:nvGraphicFramePr>
          <p:cNvPr id="12" name="Table 11"/>
          <p:cNvGraphicFramePr>
            <a:graphicFrameLocks noGrp="1"/>
          </p:cNvGraphicFramePr>
          <p:nvPr/>
        </p:nvGraphicFramePr>
        <p:xfrm>
          <a:off x="9418320" y="2103120"/>
          <a:ext cx="2286000" cy="181051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65760">
                  <a:extLst>
                    <a:ext uri="{9D8B030D-6E8A-4147-A177-3AD203B41FA5}">
                      <a16:colId xmlns:a16="http://schemas.microsoft.com/office/drawing/2014/main" val="20001"/>
                    </a:ext>
                  </a:extLst>
                </a:gridCol>
                <a:gridCol w="365760">
                  <a:extLst>
                    <a:ext uri="{9D8B030D-6E8A-4147-A177-3AD203B41FA5}">
                      <a16:colId xmlns:a16="http://schemas.microsoft.com/office/drawing/2014/main" val="20002"/>
                    </a:ext>
                  </a:extLst>
                </a:gridCol>
                <a:gridCol w="365760">
                  <a:extLst>
                    <a:ext uri="{9D8B030D-6E8A-4147-A177-3AD203B41FA5}">
                      <a16:colId xmlns:a16="http://schemas.microsoft.com/office/drawing/2014/main" val="20003"/>
                    </a:ext>
                  </a:extLst>
                </a:gridCol>
                <a:gridCol w="365760">
                  <a:extLst>
                    <a:ext uri="{9D8B030D-6E8A-4147-A177-3AD203B41FA5}">
                      <a16:colId xmlns:a16="http://schemas.microsoft.com/office/drawing/2014/main" val="20004"/>
                    </a:ext>
                  </a:extLst>
                </a:gridCol>
                <a:gridCol w="365760">
                  <a:extLst>
                    <a:ext uri="{9D8B030D-6E8A-4147-A177-3AD203B41FA5}">
                      <a16:colId xmlns:a16="http://schemas.microsoft.com/office/drawing/2014/main" val="20005"/>
                    </a:ext>
                  </a:extLst>
                </a:gridCol>
              </a:tblGrid>
              <a:tr h="301752">
                <a:tc>
                  <a:txBody>
                    <a:bodyPr/>
                    <a:lstStyle/>
                    <a:p>
                      <a:pPr algn="l"/>
                      <a:endParaRP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ATL</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LHR</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DXB</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HKG</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SPK</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301752">
                <a:tc>
                  <a:txBody>
                    <a:bodyPr/>
                    <a:lstStyle/>
                    <a:p>
                      <a:pPr algn="l"/>
                      <a:r>
                        <a:rPr lang="en-US" sz="1150" b="0" i="0">
                          <a:solidFill>
                            <a:srgbClr val="22211F"/>
                          </a:solidFill>
                          <a:latin typeface="Calibri"/>
                        </a:rPr>
                        <a:t>ATL</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9.0</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5.0</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4.0</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0.3</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01752">
                <a:tc>
                  <a:txBody>
                    <a:bodyPr/>
                    <a:lstStyle/>
                    <a:p>
                      <a:pPr algn="l"/>
                      <a:r>
                        <a:rPr lang="en-US" sz="1150" b="0" i="0">
                          <a:solidFill>
                            <a:srgbClr val="22211F"/>
                          </a:solidFill>
                          <a:latin typeface="Calibri"/>
                        </a:rPr>
                        <a:t>LHR</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9.0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6.0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5.0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01752">
                <a:tc>
                  <a:txBody>
                    <a:bodyPr/>
                    <a:lstStyle/>
                    <a:p>
                      <a:pPr algn="l"/>
                      <a:r>
                        <a:rPr lang="en-US" sz="1150" b="0" i="0">
                          <a:solidFill>
                            <a:srgbClr val="22211F"/>
                          </a:solidFill>
                          <a:latin typeface="Calibri"/>
                        </a:rPr>
                        <a:t>DXB</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5.0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6.0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7.0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3"/>
                  </a:ext>
                </a:extLst>
              </a:tr>
              <a:tr h="301752">
                <a:tc>
                  <a:txBody>
                    <a:bodyPr/>
                    <a:lstStyle/>
                    <a:p>
                      <a:pPr algn="l"/>
                      <a:r>
                        <a:rPr lang="en-US" sz="1150" b="0" i="0">
                          <a:solidFill>
                            <a:srgbClr val="22211F"/>
                          </a:solidFill>
                          <a:latin typeface="Calibri"/>
                        </a:rPr>
                        <a:t>HKG</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4.0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5.0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7.0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301752">
                <a:tc>
                  <a:txBody>
                    <a:bodyPr/>
                    <a:lstStyle/>
                    <a:p>
                      <a:pPr algn="l"/>
                      <a:r>
                        <a:rPr lang="en-US" sz="1150" b="0" i="0">
                          <a:solidFill>
                            <a:srgbClr val="22211F"/>
                          </a:solidFill>
                          <a:latin typeface="Calibri"/>
                        </a:rPr>
                        <a:t>SPK</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0.3</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7086600" y="4160520"/>
            <a:ext cx="4480560" cy="457200"/>
          </a:xfrm>
          <a:prstGeom prst="rect">
            <a:avLst/>
          </a:prstGeom>
          <a:noFill/>
        </p:spPr>
        <p:txBody>
          <a:bodyPr wrap="square" lIns="0" tIns="0" rIns="0" bIns="0" anchor="t">
            <a:spAutoFit/>
          </a:bodyPr>
          <a:lstStyle/>
          <a:p>
            <a:pPr algn="l">
              <a:spcAft>
                <a:spcPts val="600"/>
              </a:spcAft>
            </a:pPr>
            <a:r>
              <a:rPr lang="en-US" sz="2000" b="0" i="1">
                <a:solidFill>
                  <a:srgbClr val="1F3A32"/>
                </a:solidFill>
                <a:latin typeface="Cambria Math"/>
              </a:rPr>
              <a:t>w</a:t>
            </a:r>
            <a:r>
              <a:rPr lang="en-US" sz="2000" b="0" i="0" baseline="-25000">
                <a:solidFill>
                  <a:srgbClr val="1F3A32"/>
                </a:solidFill>
                <a:latin typeface="Cambria Math"/>
              </a:rPr>
              <a:t>ij</a:t>
            </a:r>
            <a:r>
              <a:rPr lang="en-US" sz="2000" b="0" i="0">
                <a:solidFill>
                  <a:srgbClr val="1F3A32"/>
                </a:solidFill>
                <a:latin typeface="Cambria Math"/>
              </a:rPr>
              <a:t> = √( </a:t>
            </a:r>
            <a:r>
              <a:rPr lang="en-US" sz="2000" b="0" i="1">
                <a:solidFill>
                  <a:srgbClr val="1F3A32"/>
                </a:solidFill>
                <a:latin typeface="Cambria Math"/>
              </a:rPr>
              <a:t>s</a:t>
            </a:r>
            <a:r>
              <a:rPr lang="en-US" sz="2000" b="0" i="0" baseline="-25000">
                <a:solidFill>
                  <a:srgbClr val="1F3A32"/>
                </a:solidFill>
                <a:latin typeface="Cambria Math"/>
              </a:rPr>
              <a:t>i</a:t>
            </a:r>
            <a:r>
              <a:rPr lang="en-US" sz="2000" b="0" i="1">
                <a:solidFill>
                  <a:srgbClr val="1F3A32"/>
                </a:solidFill>
                <a:latin typeface="Cambria Math"/>
              </a:rPr>
              <a:t> s</a:t>
            </a:r>
            <a:r>
              <a:rPr lang="en-US" sz="2000" b="0" i="0" baseline="-25000">
                <a:solidFill>
                  <a:srgbClr val="1F3A32"/>
                </a:solidFill>
                <a:latin typeface="Cambria Math"/>
              </a:rPr>
              <a:t>j</a:t>
            </a:r>
            <a:r>
              <a:rPr lang="en-US" sz="2000" b="0" i="0">
                <a:solidFill>
                  <a:srgbClr val="1F3A32"/>
                </a:solidFill>
                <a:latin typeface="Cambria Math"/>
              </a:rPr>
              <a:t> / </a:t>
            </a:r>
            <a:r>
              <a:rPr lang="en-US" sz="2000" b="0" i="1">
                <a:solidFill>
                  <a:srgbClr val="1F3A32"/>
                </a:solidFill>
                <a:latin typeface="Cambria Math"/>
              </a:rPr>
              <a:t>d</a:t>
            </a:r>
            <a:r>
              <a:rPr lang="en-US" sz="2000" b="0" i="0" baseline="-25000">
                <a:solidFill>
                  <a:srgbClr val="1F3A32"/>
                </a:solidFill>
                <a:latin typeface="Cambria Math"/>
              </a:rPr>
              <a:t>i</a:t>
            </a:r>
            <a:r>
              <a:rPr lang="en-US" sz="2000" b="0" i="1">
                <a:solidFill>
                  <a:srgbClr val="1F3A32"/>
                </a:solidFill>
                <a:latin typeface="Cambria Math"/>
              </a:rPr>
              <a:t> d</a:t>
            </a:r>
            <a:r>
              <a:rPr lang="en-US" sz="2000" b="0" i="0" baseline="-25000">
                <a:solidFill>
                  <a:srgbClr val="1F3A32"/>
                </a:solidFill>
                <a:latin typeface="Cambria Math"/>
              </a:rPr>
              <a:t>j</a:t>
            </a:r>
            <a:r>
              <a:rPr lang="en-US" sz="2000" b="0" i="0">
                <a:solidFill>
                  <a:srgbClr val="1F3A32"/>
                </a:solidFill>
                <a:latin typeface="Cambria Math"/>
              </a:rPr>
              <a:t> )</a:t>
            </a:r>
          </a:p>
        </p:txBody>
      </p:sp>
      <p:sp>
        <p:nvSpPr>
          <p:cNvPr id="14" name="TextBox 13"/>
          <p:cNvSpPr txBox="1"/>
          <p:nvPr/>
        </p:nvSpPr>
        <p:spPr>
          <a:xfrm>
            <a:off x="7086600" y="4663440"/>
            <a:ext cx="4480560" cy="640080"/>
          </a:xfrm>
          <a:prstGeom prst="rect">
            <a:avLst/>
          </a:prstGeom>
          <a:noFill/>
        </p:spPr>
        <p:txBody>
          <a:bodyPr wrap="square" lIns="0" tIns="0" rIns="0" bIns="0" anchor="t">
            <a:spAutoFit/>
          </a:bodyPr>
          <a:lstStyle/>
          <a:p>
            <a:pPr algn="l">
              <a:spcAft>
                <a:spcPts val="600"/>
              </a:spcAft>
            </a:pPr>
            <a:r>
              <a:rPr lang="en-US" sz="1200" b="0" i="1">
                <a:solidFill>
                  <a:srgbClr val="6F6A62"/>
                </a:solidFill>
                <a:latin typeface="Calibri"/>
              </a:rPr>
              <a:t>Link intensity: seat capacity per connection at both ends (s = seats, d = degree)</a:t>
            </a:r>
          </a:p>
        </p:txBody>
      </p:sp>
      <p:sp>
        <p:nvSpPr>
          <p:cNvPr id="15" name="Rectangle 14"/>
          <p:cNvSpPr/>
          <p:nvPr/>
        </p:nvSpPr>
        <p:spPr>
          <a:xfrm>
            <a:off x="640080" y="5440680"/>
            <a:ext cx="10911535" cy="54864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68680" y="5440680"/>
            <a:ext cx="10454335" cy="548640"/>
          </a:xfrm>
          <a:prstGeom prst="rect">
            <a:avLst/>
          </a:prstGeom>
          <a:noFill/>
        </p:spPr>
        <p:txBody>
          <a:bodyPr wrap="square" lIns="0" tIns="0" rIns="0" bIns="0" anchor="ctr">
            <a:spAutoFit/>
          </a:bodyPr>
          <a:lstStyle/>
          <a:p>
            <a:pPr algn="l">
              <a:spcAft>
                <a:spcPts val="600"/>
              </a:spcAft>
            </a:pPr>
            <a:r>
              <a:rPr lang="en-US" sz="1400" b="1" i="0">
                <a:solidFill>
                  <a:srgbClr val="1F3A32"/>
                </a:solidFill>
                <a:latin typeface="Calibri"/>
              </a:rPr>
              <a:t>29 annual networks, 1996–2024</a:t>
            </a:r>
            <a:r>
              <a:rPr lang="en-US" sz="1400" b="0" i="0">
                <a:solidFill>
                  <a:srgbClr val="22211F"/>
                </a:solidFill>
                <a:latin typeface="Calibri"/>
              </a:rPr>
              <a:t>     3,171 to 3,863 active airports per year     scheduled commercial service     links weighted by annual seats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Five indicators describe each airport’s position and flow</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11</a:t>
            </a:r>
          </a:p>
        </p:txBody>
      </p:sp>
      <p:cxnSp>
        <p:nvCxnSpPr>
          <p:cNvPr id="5" name="Connector 4"/>
          <p:cNvCxnSpPr/>
          <p:nvPr/>
        </p:nvCxnSpPr>
        <p:spPr>
          <a:xfrm>
            <a:off x="1234440" y="2514600"/>
            <a:ext cx="1143000" cy="1097280"/>
          </a:xfrm>
          <a:prstGeom prst="line">
            <a:avLst/>
          </a:prstGeom>
          <a:ln w="31750">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234440" y="2514600"/>
            <a:ext cx="2286000" cy="0"/>
          </a:xfrm>
          <a:prstGeom prst="line">
            <a:avLst/>
          </a:prstGeom>
          <a:ln w="31750">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377440" y="2514600"/>
            <a:ext cx="1143000" cy="1097280"/>
          </a:xfrm>
          <a:prstGeom prst="line">
            <a:avLst/>
          </a:prstGeom>
          <a:ln w="31750">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377440" y="3611880"/>
            <a:ext cx="0" cy="1280160"/>
          </a:xfrm>
          <a:prstGeom prst="line">
            <a:avLst/>
          </a:prstGeom>
          <a:ln w="31750">
            <a:solidFill>
              <a:srgbClr val="7F9A8E"/>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41832" y="2221992"/>
            <a:ext cx="585216" cy="585216"/>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200" b="1" i="0">
                <a:solidFill>
                  <a:srgbClr val="FFFFFF"/>
                </a:solidFill>
                <a:latin typeface="Calibri"/>
              </a:rPr>
              <a:t>ATL</a:t>
            </a:r>
          </a:p>
        </p:txBody>
      </p:sp>
      <p:sp>
        <p:nvSpPr>
          <p:cNvPr id="10" name="Oval 9"/>
          <p:cNvSpPr/>
          <p:nvPr/>
        </p:nvSpPr>
        <p:spPr>
          <a:xfrm>
            <a:off x="3227832" y="2221992"/>
            <a:ext cx="585216" cy="585216"/>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200" b="1" i="0">
                <a:solidFill>
                  <a:srgbClr val="FFFFFF"/>
                </a:solidFill>
                <a:latin typeface="Calibri"/>
              </a:rPr>
              <a:t>NRT</a:t>
            </a:r>
          </a:p>
        </p:txBody>
      </p:sp>
      <p:sp>
        <p:nvSpPr>
          <p:cNvPr id="11" name="Oval 10"/>
          <p:cNvSpPr/>
          <p:nvPr/>
        </p:nvSpPr>
        <p:spPr>
          <a:xfrm>
            <a:off x="2020824" y="3255264"/>
            <a:ext cx="713232" cy="713232"/>
          </a:xfrm>
          <a:prstGeom prst="ellipse">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200" b="1" i="0">
                <a:solidFill>
                  <a:srgbClr val="FFFFFF"/>
                </a:solidFill>
                <a:latin typeface="Calibri"/>
              </a:rPr>
              <a:t>HND</a:t>
            </a:r>
          </a:p>
        </p:txBody>
      </p:sp>
      <p:sp>
        <p:nvSpPr>
          <p:cNvPr id="12" name="Oval 11"/>
          <p:cNvSpPr/>
          <p:nvPr/>
        </p:nvSpPr>
        <p:spPr>
          <a:xfrm>
            <a:off x="2148840" y="4663440"/>
            <a:ext cx="457200" cy="45720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200" b="1" i="0">
                <a:solidFill>
                  <a:srgbClr val="FFFFFF"/>
                </a:solidFill>
                <a:latin typeface="Calibri"/>
              </a:rPr>
              <a:t>FUK</a:t>
            </a:r>
          </a:p>
        </p:txBody>
      </p:sp>
      <p:sp>
        <p:nvSpPr>
          <p:cNvPr id="13" name="TextBox 12"/>
          <p:cNvSpPr txBox="1"/>
          <p:nvPr/>
        </p:nvSpPr>
        <p:spPr>
          <a:xfrm>
            <a:off x="640080" y="5349240"/>
            <a:ext cx="3566160" cy="548640"/>
          </a:xfrm>
          <a:prstGeom prst="rect">
            <a:avLst/>
          </a:prstGeom>
          <a:noFill/>
        </p:spPr>
        <p:txBody>
          <a:bodyPr wrap="square" lIns="0" tIns="0" rIns="0" bIns="0" anchor="t">
            <a:spAutoFit/>
          </a:bodyPr>
          <a:lstStyle/>
          <a:p>
            <a:pPr algn="ctr">
              <a:spcAft>
                <a:spcPts val="600"/>
              </a:spcAft>
            </a:pPr>
            <a:r>
              <a:rPr lang="en-US" sz="1200" b="0" i="1">
                <a:solidFill>
                  <a:srgbClr val="6F6A62"/>
                </a:solidFill>
                <a:latin typeface="Calibri"/>
              </a:rPr>
              <a:t>Toy network: Fukuoka reaches Atlanta only through Haneda</a:t>
            </a:r>
          </a:p>
        </p:txBody>
      </p:sp>
      <p:graphicFrame>
        <p:nvGraphicFramePr>
          <p:cNvPr id="14" name="Table 13"/>
          <p:cNvGraphicFramePr>
            <a:graphicFrameLocks noGrp="1"/>
          </p:cNvGraphicFramePr>
          <p:nvPr/>
        </p:nvGraphicFramePr>
        <p:xfrm>
          <a:off x="4572000" y="1874519"/>
          <a:ext cx="6949440" cy="3547872"/>
        </p:xfrm>
        <a:graphic>
          <a:graphicData uri="http://schemas.openxmlformats.org/drawingml/2006/table">
            <a:tbl>
              <a:tblPr>
                <a:tableStyleId>{2D5ABB26-0587-4C30-8999-92F81FD0307C}</a:tableStyleId>
              </a:tblPr>
              <a:tblGrid>
                <a:gridCol w="960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tblGrid>
              <a:tr h="384048">
                <a:tc>
                  <a:txBody>
                    <a:bodyPr/>
                    <a:lstStyle/>
                    <a:p>
                      <a:pPr algn="l"/>
                      <a:endParaRP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l"/>
                      <a:r>
                        <a:rPr lang="en-US" sz="1400" b="1" i="0">
                          <a:solidFill>
                            <a:srgbClr val="6F6A62"/>
                          </a:solidFill>
                          <a:latin typeface="Calibri"/>
                        </a:rPr>
                        <a:t>Indicator</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l"/>
                      <a:r>
                        <a:rPr lang="en-US" sz="1400" b="1" i="0">
                          <a:solidFill>
                            <a:srgbClr val="6F6A62"/>
                          </a:solidFill>
                          <a:latin typeface="Calibri"/>
                        </a:rPr>
                        <a:t>What it measures</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400" b="1" i="0">
                          <a:solidFill>
                            <a:srgbClr val="6F6A62"/>
                          </a:solidFill>
                          <a:latin typeface="Calibri"/>
                        </a:rPr>
                        <a:t>HND</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400" b="1" i="0">
                          <a:solidFill>
                            <a:srgbClr val="6F6A62"/>
                          </a:solidFill>
                          <a:latin typeface="Calibri"/>
                        </a:rPr>
                        <a:t>FUK</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566928">
                <a:tc>
                  <a:txBody>
                    <a:bodyPr/>
                    <a:lstStyle/>
                    <a:p>
                      <a:pPr algn="l"/>
                      <a:r>
                        <a:rPr lang="en-US" sz="1400" b="0" i="1">
                          <a:solidFill>
                            <a:srgbClr val="6F6A62"/>
                          </a:solidFill>
                          <a:latin typeface="Calibri"/>
                        </a:rPr>
                        <a:t>Position</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1" i="0">
                          <a:solidFill>
                            <a:srgbClr val="22211F"/>
                          </a:solidFill>
                          <a:latin typeface="Calibri"/>
                        </a:rPr>
                        <a:t>Degree</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Number of direct connections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3</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1</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566928">
                <a:tc>
                  <a:txBody>
                    <a:bodyPr/>
                    <a:lstStyle/>
                    <a:p>
                      <a:pPr algn="l"/>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1" i="0">
                          <a:solidFill>
                            <a:srgbClr val="22211F"/>
                          </a:solidFill>
                          <a:latin typeface="Calibri"/>
                        </a:rPr>
                        <a:t>Closeness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1 ÷ average legs to every other airport</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1.00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0.60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566928">
                <a:tc>
                  <a:txBody>
                    <a:bodyPr/>
                    <a:lstStyle/>
                    <a:p>
                      <a:pPr algn="l"/>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l"/>
                      <a:r>
                        <a:rPr lang="en-US" sz="1400" b="1" i="0">
                          <a:solidFill>
                            <a:srgbClr val="22211F"/>
                          </a:solidFill>
                          <a:latin typeface="Calibri"/>
                        </a:rPr>
                        <a:t>Eigenvector</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l"/>
                      <a:r>
                        <a:rPr lang="en-US" sz="1400" b="0" i="0">
                          <a:solidFill>
                            <a:srgbClr val="22211F"/>
                          </a:solidFill>
                          <a:latin typeface="Calibri"/>
                        </a:rPr>
                        <a:t>Links to airports that are themselves central</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ctr"/>
                      <a:r>
                        <a:rPr lang="en-US" sz="1400" b="0" i="0">
                          <a:solidFill>
                            <a:srgbClr val="22211F"/>
                          </a:solidFill>
                          <a:latin typeface="Calibri"/>
                        </a:rPr>
                        <a:t>high</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ctr"/>
                      <a:r>
                        <a:rPr lang="en-US" sz="1400" b="0" i="0">
                          <a:solidFill>
                            <a:srgbClr val="22211F"/>
                          </a:solidFill>
                          <a:latin typeface="Calibri"/>
                        </a:rPr>
                        <a:t>low</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extLst>
                  <a:ext uri="{0D108BD9-81ED-4DB2-BD59-A6C34878D82A}">
                    <a16:rowId xmlns:a16="http://schemas.microsoft.com/office/drawing/2014/main" val="10003"/>
                  </a:ext>
                </a:extLst>
              </a:tr>
              <a:tr h="731520">
                <a:tc>
                  <a:txBody>
                    <a:bodyPr/>
                    <a:lstStyle/>
                    <a:p>
                      <a:pPr algn="l"/>
                      <a:r>
                        <a:rPr lang="en-US" sz="1400" b="0" i="1">
                          <a:solidFill>
                            <a:srgbClr val="6F6A62"/>
                          </a:solidFill>
                          <a:latin typeface="Calibri"/>
                        </a:rPr>
                        <a:t>Flow</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1" i="0">
                          <a:solidFill>
                            <a:srgbClr val="22211F"/>
                          </a:solidFill>
                          <a:latin typeface="Calibri"/>
                        </a:rPr>
                        <a:t>Flow betweenness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Share of passenger flow routed through the airport (flow as electrical current)</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high</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0</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731520">
                <a:tc>
                  <a:txBody>
                    <a:bodyPr/>
                    <a:lstStyle/>
                    <a:p>
                      <a:pPr algn="l"/>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400" b="1" i="0">
                          <a:solidFill>
                            <a:srgbClr val="22211F"/>
                          </a:solidFill>
                          <a:latin typeface="Calibri"/>
                        </a:rPr>
                        <a:t>Regional importance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400" b="0" i="0">
                          <a:solidFill>
                            <a:srgbClr val="22211F"/>
                          </a:solidFill>
                          <a:latin typeface="Calibri"/>
                        </a:rPr>
                        <a:t>Mean intensity of links within the airport’s own region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Indicator definitions follow Cheung, Wong and Zhang (2020, Transportation Research Part 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One index: the first principal component, stable over 29 years</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12</a:t>
            </a:r>
          </a:p>
        </p:txBody>
      </p:sp>
      <p:graphicFrame>
        <p:nvGraphicFramePr>
          <p:cNvPr id="5" name="Chart 4"/>
          <p:cNvGraphicFramePr>
            <a:graphicFrameLocks noGrp="1"/>
          </p:cNvGraphicFramePr>
          <p:nvPr/>
        </p:nvGraphicFramePr>
        <p:xfrm>
          <a:off x="640080" y="1783080"/>
          <a:ext cx="59436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0080" y="5806440"/>
            <a:ext cx="5943600" cy="36576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Mean PC1 loading across the 29 annual networks; whiskers show ±1 SD across years</a:t>
            </a:r>
          </a:p>
        </p:txBody>
      </p:sp>
      <p:sp>
        <p:nvSpPr>
          <p:cNvPr id="7" name="TextBox 6"/>
          <p:cNvSpPr txBox="1"/>
          <p:nvPr/>
        </p:nvSpPr>
        <p:spPr>
          <a:xfrm>
            <a:off x="7040880" y="1828800"/>
            <a:ext cx="4572000" cy="548640"/>
          </a:xfrm>
          <a:prstGeom prst="rect">
            <a:avLst/>
          </a:prstGeom>
          <a:noFill/>
        </p:spPr>
        <p:txBody>
          <a:bodyPr wrap="square" lIns="0" tIns="0" rIns="0" bIns="0" anchor="t">
            <a:spAutoFit/>
          </a:bodyPr>
          <a:lstStyle/>
          <a:p>
            <a:pPr algn="l">
              <a:spcAft>
                <a:spcPts val="600"/>
              </a:spcAft>
            </a:pPr>
            <a:r>
              <a:rPr lang="en-US" sz="2200" b="0" i="0">
                <a:solidFill>
                  <a:srgbClr val="1F3A32"/>
                </a:solidFill>
                <a:latin typeface="Cambria Math"/>
              </a:rPr>
              <a:t>GACI</a:t>
            </a:r>
            <a:r>
              <a:rPr lang="en-US" sz="2200" b="0" i="0" baseline="-25000">
                <a:solidFill>
                  <a:srgbClr val="1F3A32"/>
                </a:solidFill>
                <a:latin typeface="Cambria Math"/>
              </a:rPr>
              <a:t>it</a:t>
            </a:r>
            <a:r>
              <a:rPr lang="en-US" sz="2200" b="0" i="0">
                <a:solidFill>
                  <a:srgbClr val="1F3A32"/>
                </a:solidFill>
                <a:latin typeface="Cambria Math"/>
              </a:rPr>
              <a:t> = [ </a:t>
            </a:r>
            <a:r>
              <a:rPr lang="en-US" sz="2200" b="0" i="1">
                <a:solidFill>
                  <a:srgbClr val="1F3A32"/>
                </a:solidFill>
                <a:latin typeface="Cambria Math"/>
              </a:rPr>
              <a:t>d̃  f̃  c̃  ẽ  r̃</a:t>
            </a:r>
            <a:r>
              <a:rPr lang="en-US" sz="2200" b="0" i="0">
                <a:solidFill>
                  <a:srgbClr val="1F3A32"/>
                </a:solidFill>
                <a:latin typeface="Cambria Math"/>
              </a:rPr>
              <a:t> ]</a:t>
            </a:r>
            <a:r>
              <a:rPr lang="en-US" sz="2200" b="0" i="0" baseline="-25000">
                <a:solidFill>
                  <a:srgbClr val="1F3A32"/>
                </a:solidFill>
                <a:latin typeface="Cambria Math"/>
              </a:rPr>
              <a:t>it</a:t>
            </a:r>
            <a:r>
              <a:rPr lang="en-US" sz="2200" b="0" i="0">
                <a:solidFill>
                  <a:srgbClr val="1F3A32"/>
                </a:solidFill>
                <a:latin typeface="Cambria Math"/>
              </a:rPr>
              <a:t> · </a:t>
            </a:r>
            <a:r>
              <a:rPr lang="en-US" sz="2200" b="0" i="1">
                <a:solidFill>
                  <a:srgbClr val="1F3A32"/>
                </a:solidFill>
                <a:latin typeface="Cambria Math"/>
              </a:rPr>
              <a:t>α</a:t>
            </a:r>
            <a:r>
              <a:rPr lang="en-US" sz="2200" b="0" i="0" baseline="-25000">
                <a:solidFill>
                  <a:srgbClr val="1F3A32"/>
                </a:solidFill>
                <a:latin typeface="Cambria Math"/>
              </a:rPr>
              <a:t>t</a:t>
            </a:r>
          </a:p>
        </p:txBody>
      </p:sp>
      <p:sp>
        <p:nvSpPr>
          <p:cNvPr id="8" name="TextBox 7"/>
          <p:cNvSpPr txBox="1"/>
          <p:nvPr/>
        </p:nvSpPr>
        <p:spPr>
          <a:xfrm>
            <a:off x="7040880" y="2377440"/>
            <a:ext cx="4572000" cy="365760"/>
          </a:xfrm>
          <a:prstGeom prst="rect">
            <a:avLst/>
          </a:prstGeom>
          <a:noFill/>
        </p:spPr>
        <p:txBody>
          <a:bodyPr wrap="square" lIns="0" tIns="0" rIns="0" bIns="0" anchor="t">
            <a:spAutoFit/>
          </a:bodyPr>
          <a:lstStyle/>
          <a:p>
            <a:pPr algn="l">
              <a:spcAft>
                <a:spcPts val="600"/>
              </a:spcAft>
            </a:pPr>
            <a:r>
              <a:rPr lang="en-US" sz="1300" b="0" i="1">
                <a:solidFill>
                  <a:srgbClr val="6F6A62"/>
                </a:solidFill>
                <a:latin typeface="Calibri"/>
              </a:rPr>
              <a:t>αₜ = first principal component, re-estimated every year</a:t>
            </a:r>
          </a:p>
        </p:txBody>
      </p:sp>
      <p:sp>
        <p:nvSpPr>
          <p:cNvPr id="9" name="TextBox 8"/>
          <p:cNvSpPr txBox="1"/>
          <p:nvPr/>
        </p:nvSpPr>
        <p:spPr>
          <a:xfrm>
            <a:off x="7040880" y="2971800"/>
            <a:ext cx="1417320" cy="548640"/>
          </a:xfrm>
          <a:prstGeom prst="rect">
            <a:avLst/>
          </a:prstGeom>
          <a:noFill/>
        </p:spPr>
        <p:txBody>
          <a:bodyPr wrap="square" lIns="0" tIns="0" rIns="0" bIns="0" anchor="t">
            <a:spAutoFit/>
          </a:bodyPr>
          <a:lstStyle/>
          <a:p>
            <a:pPr algn="l">
              <a:spcAft>
                <a:spcPts val="600"/>
              </a:spcAft>
            </a:pPr>
            <a:r>
              <a:rPr lang="en-US" sz="2000" b="0" i="0">
                <a:solidFill>
                  <a:srgbClr val="1F3A32"/>
                </a:solidFill>
                <a:latin typeface="Georgia"/>
              </a:rPr>
              <a:t>63–77%</a:t>
            </a:r>
          </a:p>
        </p:txBody>
      </p:sp>
      <p:sp>
        <p:nvSpPr>
          <p:cNvPr id="10" name="TextBox 9"/>
          <p:cNvSpPr txBox="1"/>
          <p:nvPr/>
        </p:nvSpPr>
        <p:spPr>
          <a:xfrm>
            <a:off x="8503920" y="3008376"/>
            <a:ext cx="3063240" cy="640080"/>
          </a:xfrm>
          <a:prstGeom prst="rect">
            <a:avLst/>
          </a:prstGeom>
          <a:noFill/>
        </p:spPr>
        <p:txBody>
          <a:bodyPr wrap="square" lIns="0" tIns="0" rIns="0" bIns="0" anchor="t">
            <a:spAutoFit/>
          </a:bodyPr>
          <a:lstStyle/>
          <a:p>
            <a:pPr algn="l">
              <a:lnSpc>
                <a:spcPct val="100000"/>
              </a:lnSpc>
              <a:spcAft>
                <a:spcPts val="600"/>
              </a:spcAft>
            </a:pPr>
            <a:r>
              <a:rPr lang="en-US" sz="1400" b="0" i="0">
                <a:solidFill>
                  <a:srgbClr val="22211F"/>
                </a:solidFill>
                <a:latin typeface="Calibri"/>
              </a:rPr>
              <a:t>of variance explained by PC1, year by year (74% pooled)</a:t>
            </a:r>
          </a:p>
        </p:txBody>
      </p:sp>
      <p:sp>
        <p:nvSpPr>
          <p:cNvPr id="11" name="TextBox 10"/>
          <p:cNvSpPr txBox="1"/>
          <p:nvPr/>
        </p:nvSpPr>
        <p:spPr>
          <a:xfrm>
            <a:off x="7040880" y="3685032"/>
            <a:ext cx="1417320" cy="548640"/>
          </a:xfrm>
          <a:prstGeom prst="rect">
            <a:avLst/>
          </a:prstGeom>
          <a:noFill/>
        </p:spPr>
        <p:txBody>
          <a:bodyPr wrap="square" lIns="0" tIns="0" rIns="0" bIns="0" anchor="t">
            <a:spAutoFit/>
          </a:bodyPr>
          <a:lstStyle/>
          <a:p>
            <a:pPr algn="l">
              <a:spcAft>
                <a:spcPts val="600"/>
              </a:spcAft>
            </a:pPr>
            <a:r>
              <a:rPr lang="en-US" sz="2000" b="0" i="0">
                <a:solidFill>
                  <a:srgbClr val="1F3A32"/>
                </a:solidFill>
                <a:latin typeface="Georgia"/>
              </a:rPr>
              <a:t>≤ 0.03</a:t>
            </a:r>
          </a:p>
        </p:txBody>
      </p:sp>
      <p:sp>
        <p:nvSpPr>
          <p:cNvPr id="12" name="TextBox 11"/>
          <p:cNvSpPr txBox="1"/>
          <p:nvPr/>
        </p:nvSpPr>
        <p:spPr>
          <a:xfrm>
            <a:off x="8503920" y="3721608"/>
            <a:ext cx="3063240" cy="640080"/>
          </a:xfrm>
          <a:prstGeom prst="rect">
            <a:avLst/>
          </a:prstGeom>
          <a:noFill/>
        </p:spPr>
        <p:txBody>
          <a:bodyPr wrap="square" lIns="0" tIns="0" rIns="0" bIns="0" anchor="t">
            <a:spAutoFit/>
          </a:bodyPr>
          <a:lstStyle/>
          <a:p>
            <a:pPr algn="l">
              <a:lnSpc>
                <a:spcPct val="100000"/>
              </a:lnSpc>
              <a:spcAft>
                <a:spcPts val="600"/>
              </a:spcAft>
            </a:pPr>
            <a:r>
              <a:rPr lang="en-US" sz="1400" b="0" i="0">
                <a:solidFill>
                  <a:srgbClr val="22211F"/>
                </a:solidFill>
                <a:latin typeface="Calibri"/>
              </a:rPr>
              <a:t>year-to-year SD of each loading; all loadings positive</a:t>
            </a:r>
          </a:p>
        </p:txBody>
      </p:sp>
      <p:sp>
        <p:nvSpPr>
          <p:cNvPr id="13" name="TextBox 12"/>
          <p:cNvSpPr txBox="1"/>
          <p:nvPr/>
        </p:nvSpPr>
        <p:spPr>
          <a:xfrm>
            <a:off x="7040880" y="4398264"/>
            <a:ext cx="1417320" cy="548640"/>
          </a:xfrm>
          <a:prstGeom prst="rect">
            <a:avLst/>
          </a:prstGeom>
          <a:noFill/>
        </p:spPr>
        <p:txBody>
          <a:bodyPr wrap="square" lIns="0" tIns="0" rIns="0" bIns="0" anchor="t">
            <a:spAutoFit/>
          </a:bodyPr>
          <a:lstStyle/>
          <a:p>
            <a:pPr algn="l">
              <a:spcAft>
                <a:spcPts val="600"/>
              </a:spcAft>
            </a:pPr>
            <a:r>
              <a:rPr lang="en-US" sz="2000" b="0" i="0">
                <a:solidFill>
                  <a:srgbClr val="1F3A32"/>
                </a:solidFill>
                <a:latin typeface="Georgia"/>
              </a:rPr>
              <a:t>0.74–0.92</a:t>
            </a:r>
          </a:p>
        </p:txBody>
      </p:sp>
      <p:sp>
        <p:nvSpPr>
          <p:cNvPr id="14" name="TextBox 13"/>
          <p:cNvSpPr txBox="1"/>
          <p:nvPr/>
        </p:nvSpPr>
        <p:spPr>
          <a:xfrm>
            <a:off x="8503920" y="4434840"/>
            <a:ext cx="3063240" cy="640080"/>
          </a:xfrm>
          <a:prstGeom prst="rect">
            <a:avLst/>
          </a:prstGeom>
          <a:noFill/>
        </p:spPr>
        <p:txBody>
          <a:bodyPr wrap="square" lIns="0" tIns="0" rIns="0" bIns="0" anchor="t">
            <a:spAutoFit/>
          </a:bodyPr>
          <a:lstStyle/>
          <a:p>
            <a:pPr algn="l">
              <a:lnSpc>
                <a:spcPct val="100000"/>
              </a:lnSpc>
              <a:spcAft>
                <a:spcPts val="600"/>
              </a:spcAft>
            </a:pPr>
            <a:r>
              <a:rPr lang="en-US" sz="1400" b="0" i="0">
                <a:solidFill>
                  <a:srgbClr val="22211F"/>
                </a:solidFill>
                <a:latin typeface="Calibri"/>
              </a:rPr>
              <a:t>rank correlations among the five indicators in 2024: related, not redundant</a:t>
            </a:r>
          </a:p>
        </p:txBody>
      </p:sp>
      <p:sp>
        <p:nvSpPr>
          <p:cNvPr id="15" name="TextBox 14"/>
          <p:cNvSpPr txBox="1"/>
          <p:nvPr/>
        </p:nvSpPr>
        <p:spPr>
          <a:xfrm>
            <a:off x="7040880" y="5111496"/>
            <a:ext cx="1417320" cy="548640"/>
          </a:xfrm>
          <a:prstGeom prst="rect">
            <a:avLst/>
          </a:prstGeom>
          <a:noFill/>
        </p:spPr>
        <p:txBody>
          <a:bodyPr wrap="square" lIns="0" tIns="0" rIns="0" bIns="0" anchor="t">
            <a:spAutoFit/>
          </a:bodyPr>
          <a:lstStyle/>
          <a:p>
            <a:pPr algn="l">
              <a:spcAft>
                <a:spcPts val="600"/>
              </a:spcAft>
            </a:pPr>
            <a:r>
              <a:rPr lang="en-US" sz="2000" b="0" i="0">
                <a:solidFill>
                  <a:srgbClr val="1F3A32"/>
                </a:solidFill>
                <a:latin typeface="Georgia"/>
              </a:rPr>
              <a:t>0.98</a:t>
            </a:r>
          </a:p>
        </p:txBody>
      </p:sp>
      <p:sp>
        <p:nvSpPr>
          <p:cNvPr id="16" name="TextBox 15"/>
          <p:cNvSpPr txBox="1"/>
          <p:nvPr/>
        </p:nvSpPr>
        <p:spPr>
          <a:xfrm>
            <a:off x="8503920" y="5148072"/>
            <a:ext cx="3063240" cy="640080"/>
          </a:xfrm>
          <a:prstGeom prst="rect">
            <a:avLst/>
          </a:prstGeom>
          <a:noFill/>
        </p:spPr>
        <p:txBody>
          <a:bodyPr wrap="square" lIns="0" tIns="0" rIns="0" bIns="0" anchor="t">
            <a:spAutoFit/>
          </a:bodyPr>
          <a:lstStyle/>
          <a:p>
            <a:pPr algn="l">
              <a:lnSpc>
                <a:spcPct val="100000"/>
              </a:lnSpc>
              <a:spcAft>
                <a:spcPts val="600"/>
              </a:spcAft>
            </a:pPr>
            <a:r>
              <a:rPr lang="en-US" sz="1400" b="0" i="0">
                <a:solidFill>
                  <a:srgbClr val="22211F"/>
                </a:solidFill>
                <a:latin typeface="Calibri"/>
              </a:rPr>
              <a:t>correlation with an index from a single pooled PCA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From airports to countries: hub quality is the headline measure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13</a:t>
            </a:r>
          </a:p>
        </p:txBody>
      </p:sp>
      <p:sp>
        <p:nvSpPr>
          <p:cNvPr id="5" name="Rectangle 4"/>
          <p:cNvSpPr/>
          <p:nvPr/>
        </p:nvSpPr>
        <p:spPr>
          <a:xfrm>
            <a:off x="640080" y="1737360"/>
            <a:ext cx="6492240" cy="123444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68680" y="1828800"/>
            <a:ext cx="6035040" cy="365760"/>
          </a:xfrm>
          <a:prstGeom prst="rect">
            <a:avLst/>
          </a:prstGeom>
          <a:noFill/>
        </p:spPr>
        <p:txBody>
          <a:bodyPr wrap="square" lIns="0" tIns="0" rIns="0" bIns="0" anchor="t">
            <a:spAutoFit/>
          </a:bodyPr>
          <a:lstStyle/>
          <a:p>
            <a:pPr algn="l">
              <a:spcAft>
                <a:spcPts val="600"/>
              </a:spcAft>
            </a:pPr>
            <a:r>
              <a:rPr lang="en-US" sz="1700" b="1" i="0">
                <a:solidFill>
                  <a:srgbClr val="1F3A32"/>
                </a:solidFill>
                <a:latin typeface="Calibri"/>
              </a:rPr>
              <a:t>Hub quality (headline)</a:t>
            </a:r>
          </a:p>
        </p:txBody>
      </p:sp>
      <p:sp>
        <p:nvSpPr>
          <p:cNvPr id="7" name="TextBox 6"/>
          <p:cNvSpPr txBox="1"/>
          <p:nvPr/>
        </p:nvSpPr>
        <p:spPr>
          <a:xfrm>
            <a:off x="868680" y="2176272"/>
            <a:ext cx="6035040" cy="457200"/>
          </a:xfrm>
          <a:prstGeom prst="rect">
            <a:avLst/>
          </a:prstGeom>
          <a:noFill/>
        </p:spPr>
        <p:txBody>
          <a:bodyPr wrap="square" lIns="0" tIns="0" rIns="0" bIns="0" anchor="t">
            <a:spAutoFit/>
          </a:bodyPr>
          <a:lstStyle/>
          <a:p>
            <a:pPr algn="l">
              <a:spcAft>
                <a:spcPts val="600"/>
              </a:spcAft>
            </a:pPr>
            <a:r>
              <a:rPr lang="en-US" sz="2000" b="0" i="0">
                <a:solidFill>
                  <a:srgbClr val="22211F"/>
                </a:solidFill>
                <a:latin typeface="Cambria Math"/>
              </a:rPr>
              <a:t>GACI</a:t>
            </a:r>
            <a:r>
              <a:rPr lang="en-US" sz="2000" b="0" i="0" baseline="-25000">
                <a:solidFill>
                  <a:srgbClr val="22211F"/>
                </a:solidFill>
                <a:latin typeface="Cambria Math"/>
              </a:rPr>
              <a:t>cwm,c</a:t>
            </a:r>
            <a:r>
              <a:rPr lang="en-US" sz="2000" b="0" i="0">
                <a:solidFill>
                  <a:srgbClr val="22211F"/>
                </a:solidFill>
                <a:latin typeface="Cambria Math"/>
              </a:rPr>
              <a:t> = Σ</a:t>
            </a:r>
            <a:r>
              <a:rPr lang="en-US" sz="2000" b="0" i="0" baseline="-25000">
                <a:solidFill>
                  <a:srgbClr val="22211F"/>
                </a:solidFill>
                <a:latin typeface="Cambria Math"/>
              </a:rPr>
              <a:t>i∈c</a:t>
            </a:r>
            <a:r>
              <a:rPr lang="en-US" sz="2000" b="0" i="1">
                <a:solidFill>
                  <a:srgbClr val="22211F"/>
                </a:solidFill>
                <a:latin typeface="Cambria Math"/>
              </a:rPr>
              <a:t> s</a:t>
            </a:r>
            <a:r>
              <a:rPr lang="en-US" sz="2000" b="0" i="0" baseline="-25000">
                <a:solidFill>
                  <a:srgbClr val="22211F"/>
                </a:solidFill>
                <a:latin typeface="Cambria Math"/>
              </a:rPr>
              <a:t>i</a:t>
            </a:r>
            <a:r>
              <a:rPr lang="en-US" sz="2000" b="0" i="0">
                <a:solidFill>
                  <a:srgbClr val="22211F"/>
                </a:solidFill>
                <a:latin typeface="Cambria Math"/>
              </a:rPr>
              <a:t> GACI</a:t>
            </a:r>
            <a:r>
              <a:rPr lang="en-US" sz="2000" b="0" i="0" baseline="-25000">
                <a:solidFill>
                  <a:srgbClr val="22211F"/>
                </a:solidFill>
                <a:latin typeface="Cambria Math"/>
              </a:rPr>
              <a:t>i</a:t>
            </a:r>
            <a:r>
              <a:rPr lang="en-US" sz="2000" b="0" i="0">
                <a:solidFill>
                  <a:srgbClr val="22211F"/>
                </a:solidFill>
                <a:latin typeface="Cambria Math"/>
              </a:rPr>
              <a:t>  /  Σ</a:t>
            </a:r>
            <a:r>
              <a:rPr lang="en-US" sz="2000" b="0" i="0" baseline="-25000">
                <a:solidFill>
                  <a:srgbClr val="22211F"/>
                </a:solidFill>
                <a:latin typeface="Cambria Math"/>
              </a:rPr>
              <a:t>i∈c</a:t>
            </a:r>
            <a:r>
              <a:rPr lang="en-US" sz="2000" b="0" i="1">
                <a:solidFill>
                  <a:srgbClr val="22211F"/>
                </a:solidFill>
                <a:latin typeface="Cambria Math"/>
              </a:rPr>
              <a:t> s</a:t>
            </a:r>
            <a:r>
              <a:rPr lang="en-US" sz="2000" b="0" i="0" baseline="-25000">
                <a:solidFill>
                  <a:srgbClr val="22211F"/>
                </a:solidFill>
                <a:latin typeface="Cambria Math"/>
              </a:rPr>
              <a:t>i</a:t>
            </a:r>
          </a:p>
        </p:txBody>
      </p:sp>
      <p:sp>
        <p:nvSpPr>
          <p:cNvPr id="8" name="TextBox 7"/>
          <p:cNvSpPr txBox="1"/>
          <p:nvPr/>
        </p:nvSpPr>
        <p:spPr>
          <a:xfrm>
            <a:off x="868680" y="2587752"/>
            <a:ext cx="6035040" cy="365760"/>
          </a:xfrm>
          <a:prstGeom prst="rect">
            <a:avLst/>
          </a:prstGeom>
          <a:noFill/>
        </p:spPr>
        <p:txBody>
          <a:bodyPr wrap="square" lIns="0" tIns="0" rIns="0" bIns="0" anchor="t">
            <a:spAutoFit/>
          </a:bodyPr>
          <a:lstStyle/>
          <a:p>
            <a:pPr algn="l">
              <a:spcAft>
                <a:spcPts val="600"/>
              </a:spcAft>
            </a:pPr>
            <a:r>
              <a:rPr lang="en-US" sz="1400" b="0" i="0">
                <a:solidFill>
                  <a:srgbClr val="6F6A62"/>
                </a:solidFill>
                <a:latin typeface="Calibri"/>
              </a:rPr>
              <a:t>Capacity-weighted mean: uses every airport, weights by seats</a:t>
            </a:r>
          </a:p>
        </p:txBody>
      </p:sp>
      <p:sp>
        <p:nvSpPr>
          <p:cNvPr id="9" name="TextBox 8"/>
          <p:cNvSpPr txBox="1"/>
          <p:nvPr/>
        </p:nvSpPr>
        <p:spPr>
          <a:xfrm>
            <a:off x="868680" y="3200400"/>
            <a:ext cx="6035040" cy="365760"/>
          </a:xfrm>
          <a:prstGeom prst="rect">
            <a:avLst/>
          </a:prstGeom>
          <a:noFill/>
        </p:spPr>
        <p:txBody>
          <a:bodyPr wrap="square" lIns="0" tIns="0" rIns="0" bIns="0" anchor="t">
            <a:spAutoFit/>
          </a:bodyPr>
          <a:lstStyle/>
          <a:p>
            <a:pPr algn="l">
              <a:spcAft>
                <a:spcPts val="600"/>
              </a:spcAft>
            </a:pPr>
            <a:r>
              <a:rPr lang="en-US" sz="1700" b="1" i="0">
                <a:solidFill>
                  <a:srgbClr val="22211F"/>
                </a:solidFill>
                <a:latin typeface="Calibri"/>
              </a:rPr>
              <a:t>Maximum hub</a:t>
            </a:r>
          </a:p>
        </p:txBody>
      </p:sp>
      <p:sp>
        <p:nvSpPr>
          <p:cNvPr id="10" name="TextBox 9"/>
          <p:cNvSpPr txBox="1"/>
          <p:nvPr/>
        </p:nvSpPr>
        <p:spPr>
          <a:xfrm>
            <a:off x="868680" y="3547872"/>
            <a:ext cx="6035040" cy="457200"/>
          </a:xfrm>
          <a:prstGeom prst="rect">
            <a:avLst/>
          </a:prstGeom>
          <a:noFill/>
        </p:spPr>
        <p:txBody>
          <a:bodyPr wrap="square" lIns="0" tIns="0" rIns="0" bIns="0" anchor="t">
            <a:spAutoFit/>
          </a:bodyPr>
          <a:lstStyle/>
          <a:p>
            <a:pPr algn="l">
              <a:spcAft>
                <a:spcPts val="600"/>
              </a:spcAft>
            </a:pPr>
            <a:r>
              <a:rPr lang="en-US" sz="2000" b="0" i="0">
                <a:solidFill>
                  <a:srgbClr val="22211F"/>
                </a:solidFill>
                <a:latin typeface="Cambria Math"/>
              </a:rPr>
              <a:t>GACI</a:t>
            </a:r>
            <a:r>
              <a:rPr lang="en-US" sz="2000" b="0" i="0" baseline="-25000">
                <a:solidFill>
                  <a:srgbClr val="22211F"/>
                </a:solidFill>
                <a:latin typeface="Cambria Math"/>
              </a:rPr>
              <a:t>max,c</a:t>
            </a:r>
            <a:r>
              <a:rPr lang="en-US" sz="2000" b="0" i="0">
                <a:solidFill>
                  <a:srgbClr val="22211F"/>
                </a:solidFill>
                <a:latin typeface="Cambria Math"/>
              </a:rPr>
              <a:t> = max</a:t>
            </a:r>
            <a:r>
              <a:rPr lang="en-US" sz="2000" b="0" i="0" baseline="-25000">
                <a:solidFill>
                  <a:srgbClr val="22211F"/>
                </a:solidFill>
                <a:latin typeface="Cambria Math"/>
              </a:rPr>
              <a:t>i∈c</a:t>
            </a:r>
            <a:r>
              <a:rPr lang="en-US" sz="2000" b="0" i="0">
                <a:solidFill>
                  <a:srgbClr val="22211F"/>
                </a:solidFill>
                <a:latin typeface="Cambria Math"/>
              </a:rPr>
              <a:t> GACI</a:t>
            </a:r>
            <a:r>
              <a:rPr lang="en-US" sz="2000" b="0" i="0" baseline="-25000">
                <a:solidFill>
                  <a:srgbClr val="22211F"/>
                </a:solidFill>
                <a:latin typeface="Cambria Math"/>
              </a:rPr>
              <a:t>i</a:t>
            </a:r>
          </a:p>
        </p:txBody>
      </p:sp>
      <p:sp>
        <p:nvSpPr>
          <p:cNvPr id="11" name="TextBox 10"/>
          <p:cNvSpPr txBox="1"/>
          <p:nvPr/>
        </p:nvSpPr>
        <p:spPr>
          <a:xfrm>
            <a:off x="868680" y="3959352"/>
            <a:ext cx="6035040" cy="365760"/>
          </a:xfrm>
          <a:prstGeom prst="rect">
            <a:avLst/>
          </a:prstGeom>
          <a:noFill/>
        </p:spPr>
        <p:txBody>
          <a:bodyPr wrap="square" lIns="0" tIns="0" rIns="0" bIns="0" anchor="t">
            <a:spAutoFit/>
          </a:bodyPr>
          <a:lstStyle/>
          <a:p>
            <a:pPr algn="l">
              <a:spcAft>
                <a:spcPts val="600"/>
              </a:spcAft>
            </a:pPr>
            <a:r>
              <a:rPr lang="en-US" sz="1400" b="0" i="0">
                <a:solidFill>
                  <a:srgbClr val="6F6A62"/>
                </a:solidFill>
                <a:latin typeface="Calibri"/>
              </a:rPr>
              <a:t>Quality of the single best gateway</a:t>
            </a:r>
          </a:p>
        </p:txBody>
      </p:sp>
      <p:sp>
        <p:nvSpPr>
          <p:cNvPr id="12" name="TextBox 11"/>
          <p:cNvSpPr txBox="1"/>
          <p:nvPr/>
        </p:nvSpPr>
        <p:spPr>
          <a:xfrm>
            <a:off x="868680" y="4572000"/>
            <a:ext cx="6035040" cy="365760"/>
          </a:xfrm>
          <a:prstGeom prst="rect">
            <a:avLst/>
          </a:prstGeom>
          <a:noFill/>
        </p:spPr>
        <p:txBody>
          <a:bodyPr wrap="square" lIns="0" tIns="0" rIns="0" bIns="0" anchor="t">
            <a:spAutoFit/>
          </a:bodyPr>
          <a:lstStyle/>
          <a:p>
            <a:pPr algn="l">
              <a:spcAft>
                <a:spcPts val="600"/>
              </a:spcAft>
            </a:pPr>
            <a:r>
              <a:rPr lang="en-US" sz="1700" b="1" i="0">
                <a:solidFill>
                  <a:srgbClr val="22211F"/>
                </a:solidFill>
                <a:latin typeface="Calibri"/>
              </a:rPr>
              <a:t>Total connectivity</a:t>
            </a:r>
          </a:p>
        </p:txBody>
      </p:sp>
      <p:sp>
        <p:nvSpPr>
          <p:cNvPr id="13" name="TextBox 12"/>
          <p:cNvSpPr txBox="1"/>
          <p:nvPr/>
        </p:nvSpPr>
        <p:spPr>
          <a:xfrm>
            <a:off x="868680" y="4919472"/>
            <a:ext cx="6035040" cy="457200"/>
          </a:xfrm>
          <a:prstGeom prst="rect">
            <a:avLst/>
          </a:prstGeom>
          <a:noFill/>
        </p:spPr>
        <p:txBody>
          <a:bodyPr wrap="square" lIns="0" tIns="0" rIns="0" bIns="0" anchor="t">
            <a:spAutoFit/>
          </a:bodyPr>
          <a:lstStyle/>
          <a:p>
            <a:pPr algn="l">
              <a:spcAft>
                <a:spcPts val="600"/>
              </a:spcAft>
            </a:pPr>
            <a:r>
              <a:rPr lang="en-US" sz="2000" b="0" i="0">
                <a:solidFill>
                  <a:srgbClr val="22211F"/>
                </a:solidFill>
                <a:latin typeface="Cambria Math"/>
              </a:rPr>
              <a:t>GACI</a:t>
            </a:r>
            <a:r>
              <a:rPr lang="en-US" sz="2000" b="0" i="0" baseline="-25000">
                <a:solidFill>
                  <a:srgbClr val="22211F"/>
                </a:solidFill>
                <a:latin typeface="Cambria Math"/>
              </a:rPr>
              <a:t>sum,c</a:t>
            </a:r>
            <a:r>
              <a:rPr lang="en-US" sz="2000" b="0" i="0">
                <a:solidFill>
                  <a:srgbClr val="22211F"/>
                </a:solidFill>
                <a:latin typeface="Cambria Math"/>
              </a:rPr>
              <a:t> = Σ</a:t>
            </a:r>
            <a:r>
              <a:rPr lang="en-US" sz="2000" b="0" i="0" baseline="-25000">
                <a:solidFill>
                  <a:srgbClr val="22211F"/>
                </a:solidFill>
                <a:latin typeface="Cambria Math"/>
              </a:rPr>
              <a:t>i∈c</a:t>
            </a:r>
            <a:r>
              <a:rPr lang="en-US" sz="2000" b="0" i="0">
                <a:solidFill>
                  <a:srgbClr val="22211F"/>
                </a:solidFill>
                <a:latin typeface="Cambria Math"/>
              </a:rPr>
              <a:t> GACI</a:t>
            </a:r>
            <a:r>
              <a:rPr lang="en-US" sz="2000" b="0" i="0" baseline="-25000">
                <a:solidFill>
                  <a:srgbClr val="22211F"/>
                </a:solidFill>
                <a:latin typeface="Cambria Math"/>
              </a:rPr>
              <a:t>i</a:t>
            </a:r>
          </a:p>
        </p:txBody>
      </p:sp>
      <p:sp>
        <p:nvSpPr>
          <p:cNvPr id="14" name="TextBox 13"/>
          <p:cNvSpPr txBox="1"/>
          <p:nvPr/>
        </p:nvSpPr>
        <p:spPr>
          <a:xfrm>
            <a:off x="868680" y="5330952"/>
            <a:ext cx="6035040" cy="365760"/>
          </a:xfrm>
          <a:prstGeom prst="rect">
            <a:avLst/>
          </a:prstGeom>
          <a:noFill/>
        </p:spPr>
        <p:txBody>
          <a:bodyPr wrap="square" lIns="0" tIns="0" rIns="0" bIns="0" anchor="t">
            <a:spAutoFit/>
          </a:bodyPr>
          <a:lstStyle/>
          <a:p>
            <a:pPr algn="l">
              <a:spcAft>
                <a:spcPts val="600"/>
              </a:spcAft>
            </a:pPr>
            <a:r>
              <a:rPr lang="en-US" sz="1400" b="0" i="0">
                <a:solidFill>
                  <a:srgbClr val="6F6A62"/>
                </a:solidFill>
                <a:latin typeface="Calibri"/>
              </a:rPr>
              <a:t>Network footprint; grows with the number of airports</a:t>
            </a:r>
          </a:p>
        </p:txBody>
      </p:sp>
      <p:sp>
        <p:nvSpPr>
          <p:cNvPr id="15" name="TextBox 14"/>
          <p:cNvSpPr txBox="1"/>
          <p:nvPr/>
        </p:nvSpPr>
        <p:spPr>
          <a:xfrm>
            <a:off x="7589520" y="1783080"/>
            <a:ext cx="3931920" cy="274320"/>
          </a:xfrm>
          <a:prstGeom prst="rect">
            <a:avLst/>
          </a:prstGeom>
          <a:noFill/>
        </p:spPr>
        <p:txBody>
          <a:bodyPr wrap="square" lIns="0" tIns="0" rIns="0" bIns="0" anchor="t">
            <a:spAutoFit/>
          </a:bodyPr>
          <a:lstStyle/>
          <a:p>
            <a:pPr algn="l">
              <a:spcAft>
                <a:spcPts val="600"/>
              </a:spcAft>
            </a:pPr>
            <a:r>
              <a:rPr lang="en-US" sz="1050" b="1" i="0" spc="100">
                <a:solidFill>
                  <a:srgbClr val="6F6A62"/>
                </a:solidFill>
                <a:latin typeface="Calibri"/>
              </a:rPr>
              <a:t>ILLUSTRATION</a:t>
            </a:r>
          </a:p>
        </p:txBody>
      </p:sp>
      <p:graphicFrame>
        <p:nvGraphicFramePr>
          <p:cNvPr id="16" name="Table 15"/>
          <p:cNvGraphicFramePr>
            <a:graphicFrameLocks noGrp="1"/>
          </p:cNvGraphicFramePr>
          <p:nvPr/>
        </p:nvGraphicFramePr>
        <p:xfrm>
          <a:off x="7589520" y="2103120"/>
          <a:ext cx="3840480" cy="2029968"/>
        </p:xfrm>
        <a:graphic>
          <a:graphicData uri="http://schemas.openxmlformats.org/drawingml/2006/table">
            <a:tbl>
              <a:tblPr>
                <a:tableStyleId>{2D5ABB26-0587-4C30-8999-92F81FD0307C}</a:tableStyleId>
              </a:tblPr>
              <a:tblGrid>
                <a:gridCol w="18288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38328">
                <a:tc>
                  <a:txBody>
                    <a:bodyPr/>
                    <a:lstStyle/>
                    <a:p>
                      <a:pPr algn="l"/>
                      <a:r>
                        <a:rPr lang="en-US" sz="1400" b="1" i="0">
                          <a:solidFill>
                            <a:srgbClr val="6F6A62"/>
                          </a:solidFill>
                          <a:latin typeface="Calibri"/>
                        </a:rPr>
                        <a:t>Airport</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400" b="1" i="0">
                          <a:solidFill>
                            <a:srgbClr val="6F6A62"/>
                          </a:solidFill>
                          <a:latin typeface="Calibri"/>
                        </a:rPr>
                        <a:t>Seats</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400" b="1" i="0">
                          <a:solidFill>
                            <a:srgbClr val="6F6A62"/>
                          </a:solidFill>
                          <a:latin typeface="Calibri"/>
                        </a:rPr>
                        <a:t>GACI</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338328">
                <a:tc>
                  <a:txBody>
                    <a:bodyPr/>
                    <a:lstStyle/>
                    <a:p>
                      <a:pPr algn="l"/>
                      <a:r>
                        <a:rPr lang="en-US" sz="1400" b="0" i="0">
                          <a:solidFill>
                            <a:srgbClr val="22211F"/>
                          </a:solidFill>
                          <a:latin typeface="Calibri"/>
                        </a:rPr>
                        <a:t>Main hub</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80</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3.0</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38328">
                <a:tc>
                  <a:txBody>
                    <a:bodyPr/>
                    <a:lstStyle/>
                    <a:p>
                      <a:pPr algn="l"/>
                      <a:r>
                        <a:rPr lang="en-US" sz="1400" b="0" i="0">
                          <a:solidFill>
                            <a:srgbClr val="22211F"/>
                          </a:solidFill>
                          <a:latin typeface="Calibri"/>
                        </a:rPr>
                        <a:t>Second airport</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15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1.5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38328">
                <a:tc>
                  <a:txBody>
                    <a:bodyPr/>
                    <a:lstStyle/>
                    <a:p>
                      <a:pPr algn="l"/>
                      <a:r>
                        <a:rPr lang="en-US" sz="1400" b="0" i="0">
                          <a:solidFill>
                            <a:srgbClr val="22211F"/>
                          </a:solidFill>
                          <a:latin typeface="Calibri"/>
                        </a:rPr>
                        <a:t>Regional field</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ctr"/>
                      <a:r>
                        <a:rPr lang="en-US" sz="1400" b="0" i="0">
                          <a:solidFill>
                            <a:srgbClr val="22211F"/>
                          </a:solidFill>
                          <a:latin typeface="Calibri"/>
                        </a:rPr>
                        <a:t>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ctr"/>
                      <a:r>
                        <a:rPr lang="en-US" sz="1400" b="0" i="0">
                          <a:solidFill>
                            <a:srgbClr val="22211F"/>
                          </a:solidFill>
                          <a:latin typeface="Calibri"/>
                        </a:rPr>
                        <a:t>0.6</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extLst>
                  <a:ext uri="{0D108BD9-81ED-4DB2-BD59-A6C34878D82A}">
                    <a16:rowId xmlns:a16="http://schemas.microsoft.com/office/drawing/2014/main" val="10003"/>
                  </a:ext>
                </a:extLst>
              </a:tr>
              <a:tr h="338328">
                <a:tc>
                  <a:txBody>
                    <a:bodyPr/>
                    <a:lstStyle/>
                    <a:p>
                      <a:pPr algn="l"/>
                      <a:r>
                        <a:rPr lang="en-US" sz="1400" b="1" i="0">
                          <a:solidFill>
                            <a:srgbClr val="22211F"/>
                          </a:solidFill>
                          <a:latin typeface="Calibri"/>
                        </a:rPr>
                        <a:t>Hub quality</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endParaRP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1" i="0">
                          <a:solidFill>
                            <a:srgbClr val="22211F"/>
                          </a:solidFill>
                          <a:latin typeface="Calibri"/>
                        </a:rPr>
                        <a:t>2.66</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338328">
                <a:tc>
                  <a:txBody>
                    <a:bodyPr/>
                    <a:lstStyle/>
                    <a:p>
                      <a:pPr algn="l"/>
                      <a:r>
                        <a:rPr lang="en-US" sz="1400" b="1" i="0">
                          <a:solidFill>
                            <a:srgbClr val="22211F"/>
                          </a:solidFill>
                          <a:latin typeface="Calibri"/>
                        </a:rPr>
                        <a:t>Sum</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400" b="1" i="0">
                          <a:solidFill>
                            <a:srgbClr val="22211F"/>
                          </a:solidFill>
                          <a:latin typeface="Calibri"/>
                        </a:rPr>
                        <a:t>5.10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5"/>
                  </a:ext>
                </a:extLst>
              </a:tr>
            </a:tbl>
          </a:graphicData>
        </a:graphic>
      </p:graphicFrame>
      <p:sp>
        <p:nvSpPr>
          <p:cNvPr id="17" name="TextBox 16"/>
          <p:cNvSpPr txBox="1"/>
          <p:nvPr/>
        </p:nvSpPr>
        <p:spPr>
          <a:xfrm>
            <a:off x="7589520" y="4297680"/>
            <a:ext cx="3931920" cy="1371600"/>
          </a:xfrm>
          <a:prstGeom prst="rect">
            <a:avLst/>
          </a:prstGeom>
          <a:noFill/>
        </p:spPr>
        <p:txBody>
          <a:bodyPr wrap="square" lIns="0" tIns="0" rIns="0" bIns="0" anchor="t">
            <a:spAutoFit/>
          </a:bodyPr>
          <a:lstStyle/>
          <a:p>
            <a:pPr algn="l">
              <a:lnSpc>
                <a:spcPct val="105000"/>
              </a:lnSpc>
              <a:spcAft>
                <a:spcPts val="600"/>
              </a:spcAft>
            </a:pPr>
            <a:r>
              <a:rPr lang="en-US" sz="1400" b="1" i="0">
                <a:solidFill>
                  <a:srgbClr val="22211F"/>
                </a:solidFill>
                <a:latin typeface="Calibri"/>
              </a:rPr>
              <a:t>Add ten small airfields</a:t>
            </a:r>
            <a:r>
              <a:rPr lang="en-US" sz="1400" b="0" i="0">
                <a:solidFill>
                  <a:srgbClr val="22211F"/>
                </a:solidFill>
                <a:latin typeface="Calibri"/>
              </a:rPr>
              <a:t> (GACI 0.55, one seat unit in total): the sum jumps from 5.10 to 10.60, while hub quality moves from 2.66 to 2.63.</a:t>
            </a:r>
          </a:p>
        </p:txBody>
      </p:sp>
      <p:sp>
        <p:nvSpPr>
          <p:cNvPr id="18" name="TextBox 17"/>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All three measures give the same pattern of signs and significance; results below use hub quality unless stated.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The index tracks the rise of Gulf, Turkish and East Asian hubs</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14</a:t>
            </a:r>
          </a:p>
        </p:txBody>
      </p:sp>
      <p:graphicFrame>
        <p:nvGraphicFramePr>
          <p:cNvPr id="5" name="Chart 4"/>
          <p:cNvGraphicFramePr>
            <a:graphicFrameLocks noGrp="1"/>
          </p:cNvGraphicFramePr>
          <p:nvPr/>
        </p:nvGraphicFramePr>
        <p:xfrm>
          <a:off x="640080" y="1737360"/>
          <a:ext cx="7498079"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548640" y="1841560"/>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1</a:t>
            </a:r>
          </a:p>
        </p:txBody>
      </p:sp>
      <p:sp>
        <p:nvSpPr>
          <p:cNvPr id="7" name="TextBox 6"/>
          <p:cNvSpPr txBox="1"/>
          <p:nvPr/>
        </p:nvSpPr>
        <p:spPr>
          <a:xfrm>
            <a:off x="548640" y="2399071"/>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5</a:t>
            </a:r>
          </a:p>
        </p:txBody>
      </p:sp>
      <p:sp>
        <p:nvSpPr>
          <p:cNvPr id="8" name="TextBox 7"/>
          <p:cNvSpPr txBox="1"/>
          <p:nvPr/>
        </p:nvSpPr>
        <p:spPr>
          <a:xfrm>
            <a:off x="548640" y="3095960"/>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10</a:t>
            </a:r>
          </a:p>
        </p:txBody>
      </p:sp>
      <p:sp>
        <p:nvSpPr>
          <p:cNvPr id="9" name="TextBox 8"/>
          <p:cNvSpPr txBox="1"/>
          <p:nvPr/>
        </p:nvSpPr>
        <p:spPr>
          <a:xfrm>
            <a:off x="548640" y="3792849"/>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15</a:t>
            </a:r>
          </a:p>
        </p:txBody>
      </p:sp>
      <p:sp>
        <p:nvSpPr>
          <p:cNvPr id="10" name="TextBox 9"/>
          <p:cNvSpPr txBox="1"/>
          <p:nvPr/>
        </p:nvSpPr>
        <p:spPr>
          <a:xfrm>
            <a:off x="548640" y="4489738"/>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20</a:t>
            </a:r>
          </a:p>
        </p:txBody>
      </p:sp>
      <p:sp>
        <p:nvSpPr>
          <p:cNvPr id="11" name="TextBox 10"/>
          <p:cNvSpPr txBox="1"/>
          <p:nvPr/>
        </p:nvSpPr>
        <p:spPr>
          <a:xfrm>
            <a:off x="548640" y="4901223"/>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50</a:t>
            </a:r>
          </a:p>
        </p:txBody>
      </p:sp>
      <p:sp>
        <p:nvSpPr>
          <p:cNvPr id="12" name="TextBox 11"/>
          <p:cNvSpPr txBox="1"/>
          <p:nvPr/>
        </p:nvSpPr>
        <p:spPr>
          <a:xfrm>
            <a:off x="548640" y="5212500"/>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100</a:t>
            </a:r>
          </a:p>
        </p:txBody>
      </p:sp>
      <p:sp>
        <p:nvSpPr>
          <p:cNvPr id="13" name="TextBox 12"/>
          <p:cNvSpPr txBox="1"/>
          <p:nvPr/>
        </p:nvSpPr>
        <p:spPr>
          <a:xfrm>
            <a:off x="548640" y="5394586"/>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150</a:t>
            </a:r>
          </a:p>
        </p:txBody>
      </p:sp>
      <p:sp>
        <p:nvSpPr>
          <p:cNvPr id="14" name="TextBox 13"/>
          <p:cNvSpPr txBox="1"/>
          <p:nvPr/>
        </p:nvSpPr>
        <p:spPr>
          <a:xfrm>
            <a:off x="457199" y="1481328"/>
            <a:ext cx="1188720" cy="228600"/>
          </a:xfrm>
          <a:prstGeom prst="rect">
            <a:avLst/>
          </a:prstGeom>
          <a:noFill/>
        </p:spPr>
        <p:txBody>
          <a:bodyPr wrap="square" lIns="0" tIns="0" rIns="0" bIns="0" anchor="t">
            <a:spAutoFit/>
          </a:bodyPr>
          <a:lstStyle/>
          <a:p>
            <a:pPr algn="l">
              <a:spcAft>
                <a:spcPts val="600"/>
              </a:spcAft>
            </a:pPr>
            <a:r>
              <a:rPr lang="en-US" sz="1100" b="0" i="0">
                <a:solidFill>
                  <a:srgbClr val="6F6A62"/>
                </a:solidFill>
                <a:latin typeface="Calibri"/>
              </a:rPr>
              <a:t>Rank</a:t>
            </a:r>
          </a:p>
        </p:txBody>
      </p:sp>
      <p:sp>
        <p:nvSpPr>
          <p:cNvPr id="15" name="TextBox 14"/>
          <p:cNvSpPr txBox="1"/>
          <p:nvPr/>
        </p:nvSpPr>
        <p:spPr>
          <a:xfrm>
            <a:off x="7686446" y="1850704"/>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DXB</a:t>
            </a:r>
          </a:p>
        </p:txBody>
      </p:sp>
      <p:sp>
        <p:nvSpPr>
          <p:cNvPr id="16" name="TextBox 15"/>
          <p:cNvSpPr txBox="1"/>
          <p:nvPr/>
        </p:nvSpPr>
        <p:spPr>
          <a:xfrm>
            <a:off x="7686446" y="1990082"/>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IST</a:t>
            </a:r>
          </a:p>
        </p:txBody>
      </p:sp>
      <p:sp>
        <p:nvSpPr>
          <p:cNvPr id="17" name="TextBox 16"/>
          <p:cNvSpPr txBox="1"/>
          <p:nvPr/>
        </p:nvSpPr>
        <p:spPr>
          <a:xfrm>
            <a:off x="7686446" y="2129460"/>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CDG</a:t>
            </a:r>
          </a:p>
        </p:txBody>
      </p:sp>
      <p:sp>
        <p:nvSpPr>
          <p:cNvPr id="18" name="TextBox 17"/>
          <p:cNvSpPr txBox="1"/>
          <p:nvPr/>
        </p:nvSpPr>
        <p:spPr>
          <a:xfrm>
            <a:off x="7686446" y="2268837"/>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FRA</a:t>
            </a:r>
          </a:p>
        </p:txBody>
      </p:sp>
      <p:sp>
        <p:nvSpPr>
          <p:cNvPr id="19" name="TextBox 18"/>
          <p:cNvSpPr txBox="1"/>
          <p:nvPr/>
        </p:nvSpPr>
        <p:spPr>
          <a:xfrm>
            <a:off x="7686446" y="2408215"/>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PVG</a:t>
            </a:r>
          </a:p>
        </p:txBody>
      </p:sp>
      <p:sp>
        <p:nvSpPr>
          <p:cNvPr id="20" name="TextBox 19"/>
          <p:cNvSpPr txBox="1"/>
          <p:nvPr/>
        </p:nvSpPr>
        <p:spPr>
          <a:xfrm>
            <a:off x="7686446" y="2547593"/>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LAX</a:t>
            </a:r>
          </a:p>
        </p:txBody>
      </p:sp>
      <p:sp>
        <p:nvSpPr>
          <p:cNvPr id="21" name="TextBox 20"/>
          <p:cNvSpPr txBox="1"/>
          <p:nvPr/>
        </p:nvSpPr>
        <p:spPr>
          <a:xfrm>
            <a:off x="7686446" y="2686971"/>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ORD</a:t>
            </a:r>
          </a:p>
        </p:txBody>
      </p:sp>
      <p:sp>
        <p:nvSpPr>
          <p:cNvPr id="22" name="TextBox 21"/>
          <p:cNvSpPr txBox="1"/>
          <p:nvPr/>
        </p:nvSpPr>
        <p:spPr>
          <a:xfrm>
            <a:off x="7686446" y="2826348"/>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LHR</a:t>
            </a:r>
          </a:p>
        </p:txBody>
      </p:sp>
      <p:sp>
        <p:nvSpPr>
          <p:cNvPr id="23" name="TextBox 22"/>
          <p:cNvSpPr txBox="1"/>
          <p:nvPr/>
        </p:nvSpPr>
        <p:spPr>
          <a:xfrm>
            <a:off x="7686446" y="2965726"/>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PEK</a:t>
            </a:r>
          </a:p>
        </p:txBody>
      </p:sp>
      <p:sp>
        <p:nvSpPr>
          <p:cNvPr id="24" name="TextBox 23"/>
          <p:cNvSpPr txBox="1"/>
          <p:nvPr/>
        </p:nvSpPr>
        <p:spPr>
          <a:xfrm>
            <a:off x="7686446" y="3105104"/>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CAN</a:t>
            </a:r>
          </a:p>
        </p:txBody>
      </p:sp>
      <p:sp>
        <p:nvSpPr>
          <p:cNvPr id="25" name="TextBox 24"/>
          <p:cNvSpPr txBox="1"/>
          <p:nvPr/>
        </p:nvSpPr>
        <p:spPr>
          <a:xfrm>
            <a:off x="7686446" y="3244482"/>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SIN</a:t>
            </a:r>
          </a:p>
        </p:txBody>
      </p:sp>
      <p:sp>
        <p:nvSpPr>
          <p:cNvPr id="26" name="TextBox 25"/>
          <p:cNvSpPr txBox="1"/>
          <p:nvPr/>
        </p:nvSpPr>
        <p:spPr>
          <a:xfrm>
            <a:off x="7686446" y="3383860"/>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DFW</a:t>
            </a:r>
          </a:p>
        </p:txBody>
      </p:sp>
      <p:sp>
        <p:nvSpPr>
          <p:cNvPr id="27" name="TextBox 26"/>
          <p:cNvSpPr txBox="1"/>
          <p:nvPr/>
        </p:nvSpPr>
        <p:spPr>
          <a:xfrm>
            <a:off x="7686446" y="3523237"/>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ATL</a:t>
            </a:r>
          </a:p>
        </p:txBody>
      </p:sp>
      <p:sp>
        <p:nvSpPr>
          <p:cNvPr id="28" name="TextBox 27"/>
          <p:cNvSpPr txBox="1"/>
          <p:nvPr/>
        </p:nvSpPr>
        <p:spPr>
          <a:xfrm>
            <a:off x="7686446" y="3662615"/>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AMS</a:t>
            </a:r>
          </a:p>
        </p:txBody>
      </p:sp>
      <p:sp>
        <p:nvSpPr>
          <p:cNvPr id="29" name="TextBox 28"/>
          <p:cNvSpPr txBox="1"/>
          <p:nvPr/>
        </p:nvSpPr>
        <p:spPr>
          <a:xfrm>
            <a:off x="7686446" y="3801993"/>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ICN</a:t>
            </a:r>
          </a:p>
        </p:txBody>
      </p:sp>
      <p:sp>
        <p:nvSpPr>
          <p:cNvPr id="30" name="TextBox 29"/>
          <p:cNvSpPr txBox="1"/>
          <p:nvPr/>
        </p:nvSpPr>
        <p:spPr>
          <a:xfrm>
            <a:off x="640080" y="6428232"/>
            <a:ext cx="777240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Gold: airports outside the top 20 in 1996. Ranks beyond 20 are compressed below the dashed line.</a:t>
            </a:r>
          </a:p>
        </p:txBody>
      </p:sp>
      <p:sp>
        <p:nvSpPr>
          <p:cNvPr id="31" name="TextBox 30"/>
          <p:cNvSpPr txBox="1"/>
          <p:nvPr/>
        </p:nvSpPr>
        <p:spPr>
          <a:xfrm>
            <a:off x="9006840" y="1783080"/>
            <a:ext cx="2560320" cy="274320"/>
          </a:xfrm>
          <a:prstGeom prst="rect">
            <a:avLst/>
          </a:prstGeom>
          <a:noFill/>
        </p:spPr>
        <p:txBody>
          <a:bodyPr wrap="square" lIns="0" tIns="0" rIns="0" bIns="0" anchor="t">
            <a:spAutoFit/>
          </a:bodyPr>
          <a:lstStyle/>
          <a:p>
            <a:pPr algn="l">
              <a:spcAft>
                <a:spcPts val="600"/>
              </a:spcAft>
            </a:pPr>
            <a:r>
              <a:rPr lang="en-US" sz="1050" b="1" i="0" spc="100">
                <a:solidFill>
                  <a:srgbClr val="6F6A62"/>
                </a:solidFill>
                <a:latin typeface="Calibri"/>
              </a:rPr>
              <a:t>FROM 1996 TO 2024</a:t>
            </a:r>
          </a:p>
        </p:txBody>
      </p:sp>
      <p:graphicFrame>
        <p:nvGraphicFramePr>
          <p:cNvPr id="32" name="Table 31"/>
          <p:cNvGraphicFramePr>
            <a:graphicFrameLocks noGrp="1"/>
          </p:cNvGraphicFramePr>
          <p:nvPr/>
        </p:nvGraphicFramePr>
        <p:xfrm>
          <a:off x="9006840" y="2103120"/>
          <a:ext cx="2514600" cy="1316736"/>
        </p:xfrm>
        <a:graphic>
          <a:graphicData uri="http://schemas.openxmlformats.org/drawingml/2006/table">
            <a:tbl>
              <a:tblPr>
                <a:tableStyleId>{2D5ABB26-0587-4C30-8999-92F81FD0307C}</a:tableStyleId>
              </a:tblPr>
              <a:tblGrid>
                <a:gridCol w="14173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tblGrid>
              <a:tr h="329184">
                <a:tc>
                  <a:txBody>
                    <a:bodyPr/>
                    <a:lstStyle/>
                    <a:p>
                      <a:pPr algn="l"/>
                      <a:r>
                        <a:rPr lang="en-US" sz="1400" b="0" i="0">
                          <a:solidFill>
                            <a:srgbClr val="22211F"/>
                          </a:solidFill>
                          <a:latin typeface="Calibri"/>
                        </a:rPr>
                        <a:t>Dubai</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tc>
                  <a:txBody>
                    <a:bodyPr/>
                    <a:lstStyle/>
                    <a:p>
                      <a:pPr algn="r"/>
                      <a:r>
                        <a:rPr lang="en-US" sz="1400" b="0" i="0">
                          <a:solidFill>
                            <a:srgbClr val="22211F"/>
                          </a:solidFill>
                          <a:latin typeface="Calibri"/>
                        </a:rPr>
                        <a:t>92 → 1</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extLst>
                  <a:ext uri="{0D108BD9-81ED-4DB2-BD59-A6C34878D82A}">
                    <a16:rowId xmlns:a16="http://schemas.microsoft.com/office/drawing/2014/main" val="10000"/>
                  </a:ext>
                </a:extLst>
              </a:tr>
              <a:tr h="329184">
                <a:tc>
                  <a:txBody>
                    <a:bodyPr/>
                    <a:lstStyle/>
                    <a:p>
                      <a:pPr algn="l"/>
                      <a:r>
                        <a:rPr lang="en-US" sz="1400" b="0" i="0">
                          <a:solidFill>
                            <a:srgbClr val="22211F"/>
                          </a:solidFill>
                          <a:latin typeface="Calibri"/>
                        </a:rPr>
                        <a:t>Istanbul</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400" b="0" i="0">
                          <a:solidFill>
                            <a:srgbClr val="22211F"/>
                          </a:solidFill>
                          <a:latin typeface="Calibri"/>
                        </a:rPr>
                        <a:t>98 → 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29184">
                <a:tc>
                  <a:txBody>
                    <a:bodyPr/>
                    <a:lstStyle/>
                    <a:p>
                      <a:pPr algn="l"/>
                      <a:r>
                        <a:rPr lang="en-US" sz="1400" b="0" i="0">
                          <a:solidFill>
                            <a:srgbClr val="22211F"/>
                          </a:solidFill>
                          <a:latin typeface="Calibri"/>
                        </a:rPr>
                        <a:t>Guangzhou</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400" b="0" i="0">
                          <a:solidFill>
                            <a:srgbClr val="22211F"/>
                          </a:solidFill>
                          <a:latin typeface="Calibri"/>
                        </a:rPr>
                        <a:t>155 → 10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29184">
                <a:tc>
                  <a:txBody>
                    <a:bodyPr/>
                    <a:lstStyle/>
                    <a:p>
                      <a:pPr algn="l"/>
                      <a:r>
                        <a:rPr lang="en-US" sz="1400" b="0" i="0">
                          <a:solidFill>
                            <a:srgbClr val="22211F"/>
                          </a:solidFill>
                          <a:latin typeface="Calibri"/>
                        </a:rPr>
                        <a:t>Beijing</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r"/>
                      <a:r>
                        <a:rPr lang="en-US" sz="1400" b="0" i="0">
                          <a:solidFill>
                            <a:srgbClr val="22211F"/>
                          </a:solidFill>
                          <a:latin typeface="Calibri"/>
                        </a:rPr>
                        <a:t>47 → 9</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3"/>
                  </a:ext>
                </a:extLst>
              </a:tr>
            </a:tbl>
          </a:graphicData>
        </a:graphic>
      </p:graphicFrame>
      <p:sp>
        <p:nvSpPr>
          <p:cNvPr id="33" name="TextBox 32"/>
          <p:cNvSpPr txBox="1"/>
          <p:nvPr/>
        </p:nvSpPr>
        <p:spPr>
          <a:xfrm>
            <a:off x="9006840" y="3611880"/>
            <a:ext cx="2560320" cy="274320"/>
          </a:xfrm>
          <a:prstGeom prst="rect">
            <a:avLst/>
          </a:prstGeom>
          <a:noFill/>
        </p:spPr>
        <p:txBody>
          <a:bodyPr wrap="square" lIns="0" tIns="0" rIns="0" bIns="0" anchor="t">
            <a:spAutoFit/>
          </a:bodyPr>
          <a:lstStyle/>
          <a:p>
            <a:pPr algn="l">
              <a:spcAft>
                <a:spcPts val="600"/>
              </a:spcAft>
            </a:pPr>
            <a:r>
              <a:rPr lang="en-US" sz="1050" b="1" i="0" spc="100">
                <a:solidFill>
                  <a:srgbClr val="6F6A62"/>
                </a:solidFill>
                <a:latin typeface="Calibri"/>
              </a:rPr>
              <a:t>TOP COUNTRIES, 2024</a:t>
            </a:r>
          </a:p>
        </p:txBody>
      </p:sp>
      <p:graphicFrame>
        <p:nvGraphicFramePr>
          <p:cNvPr id="34" name="Table 33"/>
          <p:cNvGraphicFramePr>
            <a:graphicFrameLocks noGrp="1"/>
          </p:cNvGraphicFramePr>
          <p:nvPr/>
        </p:nvGraphicFramePr>
        <p:xfrm>
          <a:off x="9006840" y="3931920"/>
          <a:ext cx="2514600" cy="1810512"/>
        </p:xfrm>
        <a:graphic>
          <a:graphicData uri="http://schemas.openxmlformats.org/drawingml/2006/table">
            <a:tbl>
              <a:tblPr>
                <a:tableStyleId>{2D5ABB26-0587-4C30-8999-92F81FD0307C}</a:tableStyleId>
              </a:tblPr>
              <a:tblGrid>
                <a:gridCol w="4114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301752">
                <a:tc>
                  <a:txBody>
                    <a:bodyPr/>
                    <a:lstStyle/>
                    <a:p>
                      <a:pPr algn="l"/>
                      <a:r>
                        <a:rPr lang="en-US" sz="1400" b="0" i="0">
                          <a:solidFill>
                            <a:srgbClr val="22211F"/>
                          </a:solidFill>
                          <a:latin typeface="Calibri"/>
                        </a:rPr>
                        <a:t>1</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tc>
                  <a:txBody>
                    <a:bodyPr/>
                    <a:lstStyle/>
                    <a:p>
                      <a:pPr algn="l"/>
                      <a:r>
                        <a:rPr lang="en-US" sz="1400" b="0" i="0">
                          <a:solidFill>
                            <a:srgbClr val="22211F"/>
                          </a:solidFill>
                          <a:latin typeface="Calibri"/>
                        </a:rPr>
                        <a:t>Singapore</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extLst>
                  <a:ext uri="{0D108BD9-81ED-4DB2-BD59-A6C34878D82A}">
                    <a16:rowId xmlns:a16="http://schemas.microsoft.com/office/drawing/2014/main" val="10000"/>
                  </a:ext>
                </a:extLst>
              </a:tr>
              <a:tr h="301752">
                <a:tc>
                  <a:txBody>
                    <a:bodyPr/>
                    <a:lstStyle/>
                    <a:p>
                      <a:pPr algn="l"/>
                      <a:r>
                        <a:rPr lang="en-US" sz="1400" b="0" i="0">
                          <a:solidFill>
                            <a:srgbClr val="22211F"/>
                          </a:solidFill>
                          <a:latin typeface="Calibri"/>
                        </a:rPr>
                        <a:t>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UAE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01752">
                <a:tc>
                  <a:txBody>
                    <a:bodyPr/>
                    <a:lstStyle/>
                    <a:p>
                      <a:pPr algn="l"/>
                      <a:r>
                        <a:rPr lang="en-US" sz="1400" b="0" i="0">
                          <a:solidFill>
                            <a:srgbClr val="22211F"/>
                          </a:solidFill>
                          <a:latin typeface="Calibri"/>
                        </a:rPr>
                        <a:t>3</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Netherlands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01752">
                <a:tc>
                  <a:txBody>
                    <a:bodyPr/>
                    <a:lstStyle/>
                    <a:p>
                      <a:pPr algn="l"/>
                      <a:r>
                        <a:rPr lang="en-US" sz="1400" b="0" i="0">
                          <a:solidFill>
                            <a:srgbClr val="22211F"/>
                          </a:solidFill>
                          <a:latin typeface="Calibri"/>
                        </a:rPr>
                        <a:t>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Qatar</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3"/>
                  </a:ext>
                </a:extLst>
              </a:tr>
              <a:tr h="301752">
                <a:tc>
                  <a:txBody>
                    <a:bodyPr/>
                    <a:lstStyle/>
                    <a:p>
                      <a:pPr algn="l"/>
                      <a:r>
                        <a:rPr lang="en-US" sz="1400" b="0" i="0">
                          <a:solidFill>
                            <a:srgbClr val="22211F"/>
                          </a:solidFill>
                          <a:latin typeface="Calibri"/>
                        </a:rPr>
                        <a:t>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Hong Kong</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301752">
                <a:tc>
                  <a:txBody>
                    <a:bodyPr/>
                    <a:lstStyle/>
                    <a:p>
                      <a:pPr algn="l"/>
                      <a:r>
                        <a:rPr lang="en-US" sz="1400" b="0" i="0">
                          <a:solidFill>
                            <a:srgbClr val="22211F"/>
                          </a:solidFill>
                          <a:latin typeface="Calibri"/>
                        </a:rPr>
                        <a:t>6</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400" b="0" i="0">
                          <a:solidFill>
                            <a:srgbClr val="22211F"/>
                          </a:solidFill>
                          <a:latin typeface="Calibri"/>
                        </a:rPr>
                        <a:t>Germany</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5"/>
                  </a:ext>
                </a:extLst>
              </a:tr>
            </a:tbl>
          </a:graphicData>
        </a:graphic>
      </p:graphicFrame>
      <p:sp>
        <p:nvSpPr>
          <p:cNvPr id="35" name="TextBox 34"/>
          <p:cNvSpPr txBox="1"/>
          <p:nvPr/>
        </p:nvSpPr>
        <p:spPr>
          <a:xfrm>
            <a:off x="9006840" y="5806440"/>
            <a:ext cx="2651760" cy="32004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Country rank: hub quality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In 2024 the best-connected hubs sit in Singapore, the Gulf and Western Europe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15</a:t>
            </a:r>
          </a:p>
        </p:txBody>
      </p:sp>
      <p:pic>
        <p:nvPicPr>
          <p:cNvPr id="5" name="Picture 4" descr="map_hubquality_2024_fullnetwork.png"/>
          <p:cNvPicPr>
            <a:picLocks noChangeAspect="1"/>
          </p:cNvPicPr>
          <p:nvPr/>
        </p:nvPicPr>
        <p:blipFill>
          <a:blip r:embed="rId3"/>
          <a:stretch>
            <a:fillRect/>
          </a:stretch>
        </p:blipFill>
        <p:spPr>
          <a:xfrm>
            <a:off x="929487" y="1600200"/>
            <a:ext cx="10332720" cy="4728533"/>
          </a:xfrm>
          <a:prstGeom prst="rect">
            <a:avLst/>
          </a:prstGeom>
        </p:spPr>
      </p:pic>
      <p:sp>
        <p:nvSpPr>
          <p:cNvPr id="6" name="TextBox 5"/>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Hub quality computed from all 2024 airports (212 economies). The regressions use within-country change over time; levels are shown for orientation.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F3A32"/>
        </a:solidFill>
        <a:effectLst/>
      </p:bgPr>
    </p:bg>
    <p:spTree>
      <p:nvGrpSpPr>
        <p:cNvPr id="1" name=""/>
        <p:cNvGrpSpPr/>
        <p:nvPr/>
      </p:nvGrpSpPr>
      <p:grpSpPr>
        <a:xfrm>
          <a:off x="0" y="0"/>
          <a:ext cx="0" cy="0"/>
          <a:chOff x="0" y="0"/>
          <a:chExt cx="0" cy="0"/>
        </a:xfrm>
      </p:grpSpPr>
      <p:pic>
        <p:nvPicPr>
          <p:cNvPr id="2" name="Picture 1" descr="title_airports_2024.png"/>
          <p:cNvPicPr>
            <a:picLocks noChangeAspect="1"/>
          </p:cNvPicPr>
          <p:nvPr/>
        </p:nvPicPr>
        <p:blipFill>
          <a:blip r:embed="rId3">
            <a:alphaModFix amt="45000"/>
          </a:blip>
          <a:stretch>
            <a:fillRect/>
          </a:stretch>
        </p:blipFill>
        <p:spPr>
          <a:xfrm>
            <a:off x="0" y="0"/>
            <a:ext cx="12191695" cy="6858000"/>
          </a:xfrm>
          <a:prstGeom prst="rect">
            <a:avLst/>
          </a:prstGeom>
        </p:spPr>
      </p:pic>
      <p:sp>
        <p:nvSpPr>
          <p:cNvPr id="3" name="TextBox 2"/>
          <p:cNvSpPr txBox="1"/>
          <p:nvPr/>
        </p:nvSpPr>
        <p:spPr>
          <a:xfrm>
            <a:off x="822960" y="1600200"/>
            <a:ext cx="3657600" cy="1463040"/>
          </a:xfrm>
          <a:prstGeom prst="rect">
            <a:avLst/>
          </a:prstGeom>
          <a:noFill/>
        </p:spPr>
        <p:txBody>
          <a:bodyPr wrap="square" lIns="0" tIns="0" rIns="0" bIns="0" anchor="t">
            <a:spAutoFit/>
          </a:bodyPr>
          <a:lstStyle/>
          <a:p>
            <a:pPr algn="l">
              <a:spcAft>
                <a:spcPts val="600"/>
              </a:spcAft>
            </a:pPr>
            <a:r>
              <a:rPr lang="en-US" sz="9600" b="0" i="0">
                <a:solidFill>
                  <a:srgbClr val="B8862F"/>
                </a:solidFill>
                <a:latin typeface="Georgia"/>
              </a:rPr>
              <a:t>02</a:t>
            </a:r>
          </a:p>
        </p:txBody>
      </p:sp>
      <p:sp>
        <p:nvSpPr>
          <p:cNvPr id="4" name="TextBox 3"/>
          <p:cNvSpPr txBox="1"/>
          <p:nvPr/>
        </p:nvSpPr>
        <p:spPr>
          <a:xfrm>
            <a:off x="822960" y="3154680"/>
            <a:ext cx="7772400" cy="822960"/>
          </a:xfrm>
          <a:prstGeom prst="rect">
            <a:avLst/>
          </a:prstGeom>
          <a:noFill/>
        </p:spPr>
        <p:txBody>
          <a:bodyPr wrap="square" lIns="0" tIns="0" rIns="0" bIns="0" anchor="t">
            <a:spAutoFit/>
          </a:bodyPr>
          <a:lstStyle/>
          <a:p>
            <a:pPr algn="l">
              <a:spcAft>
                <a:spcPts val="600"/>
              </a:spcAft>
            </a:pPr>
            <a:r>
              <a:rPr lang="en-US" sz="4200" b="0" i="0">
                <a:solidFill>
                  <a:srgbClr val="FFFFFF"/>
                </a:solidFill>
                <a:latin typeface="Georgia"/>
              </a:rPr>
              <a:t>Identification</a:t>
            </a:r>
          </a:p>
        </p:txBody>
      </p:sp>
      <p:sp>
        <p:nvSpPr>
          <p:cNvPr id="5" name="TextBox 4"/>
          <p:cNvSpPr txBox="1"/>
          <p:nvPr/>
        </p:nvSpPr>
        <p:spPr>
          <a:xfrm>
            <a:off x="822960" y="4069080"/>
            <a:ext cx="6583680" cy="914400"/>
          </a:xfrm>
          <a:prstGeom prst="rect">
            <a:avLst/>
          </a:prstGeom>
          <a:noFill/>
        </p:spPr>
        <p:txBody>
          <a:bodyPr wrap="square" lIns="0" tIns="0" rIns="0" bIns="0" anchor="t">
            <a:spAutoFit/>
          </a:bodyPr>
          <a:lstStyle/>
          <a:p>
            <a:pPr algn="l">
              <a:lnSpc>
                <a:spcPct val="105000"/>
              </a:lnSpc>
              <a:spcAft>
                <a:spcPts val="600"/>
              </a:spcAft>
            </a:pPr>
            <a:r>
              <a:rPr lang="en-US" sz="1900" b="0" i="1">
                <a:solidFill>
                  <a:srgbClr val="C9D6CF"/>
                </a:solidFill>
                <a:latin typeface="Calibri"/>
              </a:rPr>
              <a:t>Airlines follow trade. How do we isolate connectivity that trade did not cause?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02  IDENTIFICATION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Airlines add capacity where trade is already growing</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19</a:t>
            </a:r>
          </a:p>
        </p:txBody>
      </p:sp>
      <p:sp>
        <p:nvSpPr>
          <p:cNvPr id="5" name="Rounded Rectangle 4"/>
          <p:cNvSpPr/>
          <p:nvPr/>
        </p:nvSpPr>
        <p:spPr>
          <a:xfrm>
            <a:off x="822960" y="3063240"/>
            <a:ext cx="2468880" cy="777240"/>
          </a:xfrm>
          <a:prstGeom prst="roundRect">
            <a:avLst>
              <a:gd name="adj" fmla="val 12000"/>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lang="en-US" sz="1500" b="1" i="0">
                <a:solidFill>
                  <a:srgbClr val="FFFFFF"/>
                </a:solidFill>
                <a:latin typeface="Calibri"/>
              </a:rPr>
              <a:t>Air connectivity (GACI)</a:t>
            </a:r>
          </a:p>
        </p:txBody>
      </p:sp>
      <p:sp>
        <p:nvSpPr>
          <p:cNvPr id="6" name="Rounded Rectangle 5"/>
          <p:cNvSpPr/>
          <p:nvPr/>
        </p:nvSpPr>
        <p:spPr>
          <a:xfrm>
            <a:off x="4572000" y="3063240"/>
            <a:ext cx="2194560" cy="777240"/>
          </a:xfrm>
          <a:prstGeom prst="roundRect">
            <a:avLst>
              <a:gd name="adj" fmla="val 12000"/>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lang="en-US" sz="1500" b="1" i="0">
                <a:solidFill>
                  <a:srgbClr val="FFFFFF"/>
                </a:solidFill>
                <a:latin typeface="Calibri"/>
              </a:rPr>
              <a:t>Goods trade</a:t>
            </a:r>
          </a:p>
        </p:txBody>
      </p:sp>
      <p:sp>
        <p:nvSpPr>
          <p:cNvPr id="7" name="Rounded Rectangle 6"/>
          <p:cNvSpPr/>
          <p:nvPr/>
        </p:nvSpPr>
        <p:spPr>
          <a:xfrm>
            <a:off x="2651760" y="1783080"/>
            <a:ext cx="2377440" cy="685800"/>
          </a:xfrm>
          <a:prstGeom prst="roundRect">
            <a:avLst>
              <a:gd name="adj" fmla="val 12000"/>
            </a:avLst>
          </a:prstGeom>
          <a:solidFill>
            <a:srgbClr val="FFFFFF"/>
          </a:solidFill>
          <a:ln w="9525">
            <a:solidFill>
              <a:srgbClr val="BDB8AE"/>
            </a:solidFill>
            <a:prstDash val="dash"/>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lang="en-US" sz="1300" b="1" i="0">
                <a:solidFill>
                  <a:srgbClr val="6F6A62"/>
                </a:solidFill>
                <a:latin typeface="Calibri"/>
              </a:rPr>
              <a:t>Common shocks (booms, crises)</a:t>
            </a:r>
          </a:p>
        </p:txBody>
      </p:sp>
      <p:sp>
        <p:nvSpPr>
          <p:cNvPr id="8" name="Rounded Rectangle 7"/>
          <p:cNvSpPr/>
          <p:nvPr/>
        </p:nvSpPr>
        <p:spPr>
          <a:xfrm>
            <a:off x="822960" y="4983480"/>
            <a:ext cx="2468880" cy="868680"/>
          </a:xfrm>
          <a:prstGeom prst="roundRect">
            <a:avLst>
              <a:gd name="adj" fmla="val 12000"/>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lang="en-US" sz="1500" b="1" i="0">
                <a:solidFill>
                  <a:srgbClr val="FFFFFF"/>
                </a:solidFill>
                <a:latin typeface="Calibri"/>
              </a:rPr>
              <a:t>Heritage × world tourism (instrument)</a:t>
            </a:r>
          </a:p>
        </p:txBody>
      </p:sp>
      <p:cxnSp>
        <p:nvCxnSpPr>
          <p:cNvPr id="9" name="Connector 8"/>
          <p:cNvCxnSpPr/>
          <p:nvPr/>
        </p:nvCxnSpPr>
        <p:spPr>
          <a:xfrm>
            <a:off x="3291840" y="3310128"/>
            <a:ext cx="1280160" cy="0"/>
          </a:xfrm>
          <a:prstGeom prst="line">
            <a:avLst/>
          </a:prstGeom>
          <a:ln w="28575">
            <a:solidFill>
              <a:srgbClr val="1F3A3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291840" y="3639312"/>
            <a:ext cx="1280160" cy="0"/>
          </a:xfrm>
          <a:prstGeom prst="line">
            <a:avLst/>
          </a:prstGeom>
          <a:ln w="22225">
            <a:solidFill>
              <a:srgbClr val="3F5A6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154680" y="2852928"/>
            <a:ext cx="1554480" cy="274320"/>
          </a:xfrm>
          <a:prstGeom prst="rect">
            <a:avLst/>
          </a:prstGeom>
          <a:noFill/>
        </p:spPr>
        <p:txBody>
          <a:bodyPr wrap="square" lIns="0" tIns="0" rIns="0" bIns="0" anchor="t">
            <a:spAutoFit/>
          </a:bodyPr>
          <a:lstStyle/>
          <a:p>
            <a:pPr algn="ctr">
              <a:spcAft>
                <a:spcPts val="600"/>
              </a:spcAft>
            </a:pPr>
            <a:r>
              <a:rPr lang="en-US" sz="1100" b="1" i="0">
                <a:solidFill>
                  <a:srgbClr val="1F3A32"/>
                </a:solidFill>
                <a:latin typeface="Calibri"/>
              </a:rPr>
              <a:t>effect we want</a:t>
            </a:r>
          </a:p>
        </p:txBody>
      </p:sp>
      <p:sp>
        <p:nvSpPr>
          <p:cNvPr id="12" name="TextBox 11"/>
          <p:cNvSpPr txBox="1"/>
          <p:nvPr/>
        </p:nvSpPr>
        <p:spPr>
          <a:xfrm>
            <a:off x="3154680" y="3703320"/>
            <a:ext cx="1554480" cy="457200"/>
          </a:xfrm>
          <a:prstGeom prst="rect">
            <a:avLst/>
          </a:prstGeom>
          <a:noFill/>
        </p:spPr>
        <p:txBody>
          <a:bodyPr wrap="square" lIns="0" tIns="0" rIns="0" bIns="0" anchor="t">
            <a:spAutoFit/>
          </a:bodyPr>
          <a:lstStyle/>
          <a:p>
            <a:pPr algn="ctr">
              <a:lnSpc>
                <a:spcPct val="95000"/>
              </a:lnSpc>
              <a:spcAft>
                <a:spcPts val="600"/>
              </a:spcAft>
            </a:pPr>
            <a:r>
              <a:rPr lang="en-US" sz="1100" b="0" i="0">
                <a:solidFill>
                  <a:srgbClr val="3F5A66"/>
                </a:solidFill>
                <a:latin typeface="Calibri"/>
              </a:rPr>
              <a:t>route entry follows demand</a:t>
            </a:r>
          </a:p>
        </p:txBody>
      </p:sp>
      <p:cxnSp>
        <p:nvCxnSpPr>
          <p:cNvPr id="13" name="Connector 12"/>
          <p:cNvCxnSpPr/>
          <p:nvPr/>
        </p:nvCxnSpPr>
        <p:spPr>
          <a:xfrm flipH="1">
            <a:off x="2468880" y="2468880"/>
            <a:ext cx="731520" cy="594360"/>
          </a:xfrm>
          <a:prstGeom prst="line">
            <a:avLst/>
          </a:prstGeom>
          <a:ln w="15875">
            <a:solidFill>
              <a:srgbClr val="BDB8A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480560" y="2468880"/>
            <a:ext cx="914400" cy="594360"/>
          </a:xfrm>
          <a:prstGeom prst="line">
            <a:avLst/>
          </a:prstGeom>
          <a:ln w="15875">
            <a:solidFill>
              <a:srgbClr val="BDB8A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57400" y="3840480"/>
            <a:ext cx="0" cy="1143000"/>
          </a:xfrm>
          <a:prstGeom prst="line">
            <a:avLst/>
          </a:prstGeom>
          <a:ln w="28575">
            <a:solidFill>
              <a:srgbClr val="B8862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291840" y="3977639"/>
            <a:ext cx="1828800" cy="1325881"/>
          </a:xfrm>
          <a:prstGeom prst="line">
            <a:avLst/>
          </a:prstGeom>
          <a:ln w="12700">
            <a:solidFill>
              <a:srgbClr val="BDB8AE"/>
            </a:solidFill>
            <a:prstDash val="sysDot"/>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977639" y="4617720"/>
            <a:ext cx="2377440" cy="45720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  no direct path (exclusion)</a:t>
            </a:r>
          </a:p>
        </p:txBody>
      </p:sp>
      <p:sp>
        <p:nvSpPr>
          <p:cNvPr id="18" name="TextBox 17"/>
          <p:cNvSpPr txBox="1"/>
          <p:nvPr/>
        </p:nvSpPr>
        <p:spPr>
          <a:xfrm>
            <a:off x="7406640" y="1874519"/>
            <a:ext cx="4114800" cy="4023360"/>
          </a:xfrm>
          <a:prstGeom prst="rect">
            <a:avLst/>
          </a:prstGeom>
          <a:noFill/>
        </p:spPr>
        <p:txBody>
          <a:bodyPr wrap="square" lIns="0" tIns="0" rIns="0" bIns="0" anchor="t">
            <a:spAutoFit/>
          </a:bodyPr>
          <a:lstStyle/>
          <a:p>
            <a:pPr marL="201168" indent="-201168" algn="l">
              <a:lnSpc>
                <a:spcPct val="105000"/>
              </a:lnSpc>
              <a:spcAft>
                <a:spcPts val="1400"/>
              </a:spcAft>
              <a:buClr>
                <a:srgbClr val="B8862F"/>
              </a:buClr>
              <a:buFont typeface="Arial"/>
              <a:buChar char="•"/>
            </a:pPr>
            <a:r>
              <a:rPr lang="en-US" sz="1700" b="0" i="0">
                <a:solidFill>
                  <a:srgbClr val="22211F"/>
                </a:solidFill>
                <a:latin typeface="Calibri"/>
              </a:rPr>
              <a:t>OLS mixes the effect of connectivity with demand-driven route entry and with shocks that move both.</a:t>
            </a:r>
          </a:p>
          <a:p>
            <a:pPr marL="201168" indent="-201168" algn="l">
              <a:lnSpc>
                <a:spcPct val="105000"/>
              </a:lnSpc>
              <a:spcAft>
                <a:spcPts val="1400"/>
              </a:spcAft>
              <a:buClr>
                <a:srgbClr val="B8862F"/>
              </a:buClr>
              <a:buFont typeface="Arial"/>
              <a:buChar char="•"/>
            </a:pPr>
            <a:r>
              <a:rPr lang="en-US" sz="1700" b="0" i="0">
                <a:solidFill>
                  <a:srgbClr val="22211F"/>
                </a:solidFill>
                <a:latin typeface="Calibri"/>
              </a:rPr>
              <a:t>A difference-in-differences design does not fit either: large airport openings are rare and lumpy, while network position changes every year.</a:t>
            </a:r>
          </a:p>
          <a:p>
            <a:pPr marL="201168" indent="-201168" algn="l">
              <a:lnSpc>
                <a:spcPct val="105000"/>
              </a:lnSpc>
              <a:spcAft>
                <a:spcPts val="600"/>
              </a:spcAft>
              <a:buClr>
                <a:srgbClr val="B8862F"/>
              </a:buClr>
              <a:buFont typeface="Arial"/>
              <a:buChar char="•"/>
            </a:pPr>
            <a:r>
              <a:rPr lang="en-US" sz="1700" b="1" i="0">
                <a:solidFill>
                  <a:srgbClr val="1F3A32"/>
                </a:solidFill>
                <a:latin typeface="Calibri"/>
              </a:rPr>
              <a:t>We need variation in connectivity that goods-trade fundamentals did not create.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02  IDENTIFICATION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The instrument: natural heritage × the global tourism cycle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20</a:t>
            </a:r>
          </a:p>
        </p:txBody>
      </p:sp>
      <p:sp>
        <p:nvSpPr>
          <p:cNvPr id="5" name="TextBox 4"/>
          <p:cNvSpPr txBox="1"/>
          <p:nvPr/>
        </p:nvSpPr>
        <p:spPr>
          <a:xfrm>
            <a:off x="640080" y="1783080"/>
            <a:ext cx="7315200" cy="640080"/>
          </a:xfrm>
          <a:prstGeom prst="rect">
            <a:avLst/>
          </a:prstGeom>
          <a:noFill/>
        </p:spPr>
        <p:txBody>
          <a:bodyPr wrap="square" lIns="0" tIns="0" rIns="0" bIns="0" anchor="t">
            <a:spAutoFit/>
          </a:bodyPr>
          <a:lstStyle/>
          <a:p>
            <a:pPr algn="l">
              <a:spcAft>
                <a:spcPts val="600"/>
              </a:spcAft>
            </a:pPr>
            <a:r>
              <a:rPr lang="en-US" sz="3000" b="0" i="1">
                <a:solidFill>
                  <a:srgbClr val="1F3A32"/>
                </a:solidFill>
                <a:latin typeface="Cambria Math"/>
              </a:rPr>
              <a:t>Z</a:t>
            </a:r>
            <a:r>
              <a:rPr lang="en-US" sz="3000" b="0" i="0" baseline="-25000">
                <a:solidFill>
                  <a:srgbClr val="1F3A32"/>
                </a:solidFill>
                <a:latin typeface="Cambria Math"/>
              </a:rPr>
              <a:t>ct</a:t>
            </a:r>
            <a:r>
              <a:rPr lang="en-US" sz="3000" b="0" i="0">
                <a:solidFill>
                  <a:srgbClr val="1F3A32"/>
                </a:solidFill>
                <a:latin typeface="Cambria Math"/>
              </a:rPr>
              <a:t> = </a:t>
            </a:r>
            <a:r>
              <a:rPr lang="en-US" sz="3000" b="0" i="1">
                <a:solidFill>
                  <a:srgbClr val="1F3A32"/>
                </a:solidFill>
                <a:latin typeface="Cambria Math"/>
              </a:rPr>
              <a:t>D̃</a:t>
            </a:r>
            <a:r>
              <a:rPr lang="en-US" sz="3000" b="0" i="0" baseline="-25000">
                <a:solidFill>
                  <a:srgbClr val="1F3A32"/>
                </a:solidFill>
                <a:latin typeface="Cambria Math"/>
              </a:rPr>
              <a:t>t</a:t>
            </a:r>
            <a:r>
              <a:rPr lang="en-US" sz="3000" b="0" i="0">
                <a:solidFill>
                  <a:srgbClr val="1F3A32"/>
                </a:solidFill>
                <a:latin typeface="Cambria Math"/>
              </a:rPr>
              <a:t>  ×  ln(1 + </a:t>
            </a:r>
            <a:r>
              <a:rPr lang="en-US" sz="3000" b="0" i="1">
                <a:solidFill>
                  <a:srgbClr val="1F3A32"/>
                </a:solidFill>
                <a:latin typeface="Cambria Math"/>
              </a:rPr>
              <a:t>H</a:t>
            </a:r>
            <a:r>
              <a:rPr lang="en-US" sz="3000" b="0" i="0" baseline="-25000">
                <a:solidFill>
                  <a:srgbClr val="1F3A32"/>
                </a:solidFill>
                <a:latin typeface="Cambria Math"/>
              </a:rPr>
              <a:t>c</a:t>
            </a:r>
            <a:r>
              <a:rPr lang="en-US" sz="3000" b="0" i="0" baseline="30000">
                <a:solidFill>
                  <a:srgbClr val="1F3A32"/>
                </a:solidFill>
                <a:latin typeface="Cambria Math"/>
              </a:rPr>
              <a:t>nat+mix</a:t>
            </a:r>
            <a:r>
              <a:rPr lang="en-US" sz="3000" b="0" i="0">
                <a:solidFill>
                  <a:srgbClr val="1F3A32"/>
                </a:solidFill>
                <a:latin typeface="Cambria Math"/>
              </a:rPr>
              <a:t>)</a:t>
            </a:r>
          </a:p>
        </p:txBody>
      </p:sp>
      <p:sp>
        <p:nvSpPr>
          <p:cNvPr id="6" name="TextBox 5"/>
          <p:cNvSpPr txBox="1"/>
          <p:nvPr/>
        </p:nvSpPr>
        <p:spPr>
          <a:xfrm>
            <a:off x="1554480" y="2487168"/>
            <a:ext cx="2560320" cy="457200"/>
          </a:xfrm>
          <a:prstGeom prst="rect">
            <a:avLst/>
          </a:prstGeom>
          <a:noFill/>
        </p:spPr>
        <p:txBody>
          <a:bodyPr wrap="square" lIns="0" tIns="0" rIns="0" bIns="0" anchor="t">
            <a:spAutoFit/>
          </a:bodyPr>
          <a:lstStyle/>
          <a:p>
            <a:pPr algn="l">
              <a:spcAft>
                <a:spcPts val="600"/>
              </a:spcAft>
            </a:pPr>
            <a:r>
              <a:rPr lang="en-US" sz="1300" b="1" i="0">
                <a:solidFill>
                  <a:srgbClr val="B8862F"/>
                </a:solidFill>
                <a:latin typeface="Calibri"/>
              </a:rPr>
              <a:t>global tourism shift</a:t>
            </a:r>
          </a:p>
        </p:txBody>
      </p:sp>
      <p:sp>
        <p:nvSpPr>
          <p:cNvPr id="7" name="TextBox 6"/>
          <p:cNvSpPr txBox="1"/>
          <p:nvPr/>
        </p:nvSpPr>
        <p:spPr>
          <a:xfrm>
            <a:off x="3703320" y="2487168"/>
            <a:ext cx="3291840" cy="457200"/>
          </a:xfrm>
          <a:prstGeom prst="rect">
            <a:avLst/>
          </a:prstGeom>
          <a:noFill/>
        </p:spPr>
        <p:txBody>
          <a:bodyPr wrap="square" lIns="0" tIns="0" rIns="0" bIns="0" anchor="t">
            <a:spAutoFit/>
          </a:bodyPr>
          <a:lstStyle/>
          <a:p>
            <a:pPr algn="l">
              <a:spcAft>
                <a:spcPts val="600"/>
              </a:spcAft>
            </a:pPr>
            <a:r>
              <a:rPr lang="en-US" sz="1300" b="1" i="0">
                <a:solidFill>
                  <a:srgbClr val="B8862F"/>
                </a:solidFill>
                <a:latin typeface="Calibri"/>
              </a:rPr>
              <a:t>fixed heritage share</a:t>
            </a:r>
          </a:p>
        </p:txBody>
      </p:sp>
      <p:graphicFrame>
        <p:nvGraphicFramePr>
          <p:cNvPr id="8" name="Chart 7"/>
          <p:cNvGraphicFramePr>
            <a:graphicFrameLocks noGrp="1"/>
          </p:cNvGraphicFramePr>
          <p:nvPr/>
        </p:nvGraphicFramePr>
        <p:xfrm>
          <a:off x="640080" y="3063240"/>
          <a:ext cx="548640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640080" y="5897880"/>
            <a:ext cx="5486400" cy="32004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D̃ₜ: world international arrivals, scaled to [0, 1]</a:t>
            </a:r>
          </a:p>
        </p:txBody>
      </p:sp>
      <p:sp>
        <p:nvSpPr>
          <p:cNvPr id="10" name="TextBox 9"/>
          <p:cNvSpPr txBox="1"/>
          <p:nvPr/>
        </p:nvSpPr>
        <p:spPr>
          <a:xfrm>
            <a:off x="6675120" y="1828800"/>
            <a:ext cx="4846320" cy="4206240"/>
          </a:xfrm>
          <a:prstGeom prst="rect">
            <a:avLst/>
          </a:prstGeom>
          <a:noFill/>
        </p:spPr>
        <p:txBody>
          <a:bodyPr wrap="square" lIns="0" tIns="0" rIns="0" bIns="0" anchor="t">
            <a:spAutoFit/>
          </a:bodyPr>
          <a:lstStyle/>
          <a:p>
            <a:pPr algn="l">
              <a:lnSpc>
                <a:spcPct val="105000"/>
              </a:lnSpc>
              <a:spcAft>
                <a:spcPts val="1200"/>
              </a:spcAft>
            </a:pPr>
            <a:r>
              <a:rPr lang="en-US" sz="1550" b="1" i="0">
                <a:solidFill>
                  <a:srgbClr val="1F3A32"/>
                </a:solidFill>
                <a:latin typeface="Calibri"/>
              </a:rPr>
              <a:t>Share: </a:t>
            </a:r>
            <a:r>
              <a:rPr lang="en-US" sz="1550" b="0" i="0">
                <a:solidFill>
                  <a:srgbClr val="22211F"/>
                </a:solidFill>
                <a:latin typeface="Calibri"/>
              </a:rPr>
              <a:t>natural and mixed UNESCO World Heritage sites (reefs, mountain ranges, national parks). The median country holds one; the richest, nineteen.</a:t>
            </a:r>
          </a:p>
          <a:p>
            <a:pPr algn="l">
              <a:lnSpc>
                <a:spcPct val="105000"/>
              </a:lnSpc>
              <a:spcAft>
                <a:spcPts val="1200"/>
              </a:spcAft>
            </a:pPr>
            <a:r>
              <a:rPr lang="en-US" sz="1550" b="1" i="0">
                <a:solidFill>
                  <a:srgbClr val="1F3A32"/>
                </a:solidFill>
                <a:latin typeface="Calibri"/>
              </a:rPr>
              <a:t>Shift: </a:t>
            </a:r>
            <a:r>
              <a:rPr lang="en-US" sz="1550" b="0" i="0">
                <a:solidFill>
                  <a:srgbClr val="22211F"/>
                </a:solidFill>
                <a:latin typeface="Calibri"/>
              </a:rPr>
              <a:t>world tourist arrivals (WDI to 2019, UNWTO for 2020–2024).</a:t>
            </a:r>
          </a:p>
          <a:p>
            <a:pPr algn="l">
              <a:lnSpc>
                <a:spcPct val="105000"/>
              </a:lnSpc>
              <a:spcAft>
                <a:spcPts val="1200"/>
              </a:spcAft>
            </a:pPr>
            <a:r>
              <a:rPr lang="en-US" sz="1550" b="1" i="0">
                <a:solidFill>
                  <a:srgbClr val="1F3A32"/>
                </a:solidFill>
                <a:latin typeface="Calibri"/>
              </a:rPr>
              <a:t>Why it moves routes: </a:t>
            </a:r>
            <a:r>
              <a:rPr lang="en-US" sz="1550" b="0" i="0">
                <a:solidFill>
                  <a:srgbClr val="22211F"/>
                </a:solidFill>
                <a:latin typeface="Calibri"/>
              </a:rPr>
              <a:t>airlines place marginal capacity where leisure demand rises most.</a:t>
            </a:r>
          </a:p>
          <a:p>
            <a:pPr algn="l">
              <a:lnSpc>
                <a:spcPct val="105000"/>
              </a:lnSpc>
              <a:spcAft>
                <a:spcPts val="1200"/>
              </a:spcAft>
            </a:pPr>
            <a:r>
              <a:rPr lang="en-US" sz="1550" b="1" i="0">
                <a:solidFill>
                  <a:srgbClr val="1F3A32"/>
                </a:solidFill>
                <a:latin typeface="Calibri"/>
              </a:rPr>
              <a:t>Comparisons: </a:t>
            </a:r>
            <a:r>
              <a:rPr lang="en-US" sz="1550" b="0" i="0">
                <a:solidFill>
                  <a:srgbClr val="22211F"/>
                </a:solidFill>
                <a:latin typeface="Calibri"/>
              </a:rPr>
              <a:t>each country is compared with itself over time, so its fixed heritage stock and the world cycle cancel out; only their combination is used.</a:t>
            </a:r>
          </a:p>
        </p:txBody>
      </p:sp>
      <p:sp>
        <p:nvSpPr>
          <p:cNvPr id="11" name="TextBox 10"/>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Related designs: Arezki et al. (2009) use World Heritage listings for tourism; Faber and Gaubert (2019) use coastal attractiveness.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02  IDENTIFICATION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Strength test passed: heritage-rich countries gained connections as world tourism grew</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21</a:t>
            </a:r>
          </a:p>
        </p:txBody>
      </p:sp>
      <p:graphicFrame>
        <p:nvGraphicFramePr>
          <p:cNvPr id="5" name="Chart 4"/>
          <p:cNvGraphicFramePr>
            <a:graphicFrameLocks noGrp="1"/>
          </p:cNvGraphicFramePr>
          <p:nvPr/>
        </p:nvGraphicFramePr>
        <p:xfrm>
          <a:off x="640080" y="1783080"/>
          <a:ext cx="649224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0080" y="5852160"/>
            <a:ext cx="6492240" cy="32004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Each dot averages about 240 country-years. Country and year effects and population are removed.</a:t>
            </a:r>
          </a:p>
        </p:txBody>
      </p:sp>
      <p:graphicFrame>
        <p:nvGraphicFramePr>
          <p:cNvPr id="7" name="Table 6"/>
          <p:cNvGraphicFramePr>
            <a:graphicFrameLocks noGrp="1"/>
          </p:cNvGraphicFramePr>
          <p:nvPr/>
        </p:nvGraphicFramePr>
        <p:xfrm>
          <a:off x="7498079" y="1874519"/>
          <a:ext cx="4023360" cy="2194560"/>
        </p:xfrm>
        <a:graphic>
          <a:graphicData uri="http://schemas.openxmlformats.org/drawingml/2006/table">
            <a:tbl>
              <a:tblPr>
                <a:tableStyleId>{2D5ABB26-0587-4C30-8999-92F81FD0307C}</a:tableStyleId>
              </a:tblPr>
              <a:tblGrid>
                <a:gridCol w="28346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65760">
                <a:tc>
                  <a:txBody>
                    <a:bodyPr/>
                    <a:lstStyle/>
                    <a:p>
                      <a:pPr algn="l"/>
                      <a:r>
                        <a:rPr lang="en-US" sz="1500" b="0" i="0">
                          <a:solidFill>
                            <a:srgbClr val="22211F"/>
                          </a:solidFill>
                          <a:latin typeface="Calibri"/>
                        </a:rPr>
                        <a:t>Effect of instrument on hub quality</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tc>
                  <a:txBody>
                    <a:bodyPr/>
                    <a:lstStyle/>
                    <a:p>
                      <a:pPr algn="r"/>
                      <a:r>
                        <a:rPr lang="en-US" sz="1500" b="1" i="0">
                          <a:solidFill>
                            <a:srgbClr val="22211F"/>
                          </a:solidFill>
                          <a:latin typeface="Calibri"/>
                        </a:rPr>
                        <a:t>0.034</a:t>
                      </a:r>
                      <a:r>
                        <a:rPr lang="en-US" sz="1500" b="0" i="0">
                          <a:solidFill>
                            <a:srgbClr val="22211F"/>
                          </a:solidFill>
                          <a:latin typeface="Calibri"/>
                        </a:rPr>
                        <a:t>***</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extLst>
                  <a:ext uri="{0D108BD9-81ED-4DB2-BD59-A6C34878D82A}">
                    <a16:rowId xmlns:a16="http://schemas.microsoft.com/office/drawing/2014/main" val="10000"/>
                  </a:ext>
                </a:extLst>
              </a:tr>
              <a:tr h="365760">
                <a:tc>
                  <a:txBody>
                    <a:bodyPr/>
                    <a:lstStyle/>
                    <a:p>
                      <a:pPr algn="l"/>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500" b="0" i="0">
                          <a:solidFill>
                            <a:srgbClr val="22211F"/>
                          </a:solidFill>
                          <a:latin typeface="Calibri"/>
                        </a:rPr>
                        <a:t>(0.007)</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65760">
                <a:tc>
                  <a:txBody>
                    <a:bodyPr/>
                    <a:lstStyle/>
                    <a:p>
                      <a:pPr algn="l"/>
                      <a:r>
                        <a:rPr lang="en-US" sz="1500" b="0" i="0">
                          <a:solidFill>
                            <a:srgbClr val="22211F"/>
                          </a:solidFill>
                          <a:latin typeface="Calibri"/>
                        </a:rPr>
                        <a:t>Strength test F (rule of thumb: above 10)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500" b="1" i="0">
                          <a:solidFill>
                            <a:srgbClr val="22211F"/>
                          </a:solidFill>
                          <a:latin typeface="Calibri"/>
                        </a:rPr>
                        <a:t>21.9</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65760">
                <a:tc>
                  <a:txBody>
                    <a:bodyPr/>
                    <a:lstStyle/>
                    <a:p>
                      <a:pPr algn="l"/>
                      <a:r>
                        <a:rPr lang="en-US" sz="1500" b="0" i="0">
                          <a:solidFill>
                            <a:srgbClr val="22211F"/>
                          </a:solidFill>
                          <a:latin typeface="Calibri"/>
                        </a:rPr>
                        <a:t>Country-years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r"/>
                      <a:r>
                        <a:rPr lang="en-US" sz="1500" b="0" i="0">
                          <a:solidFill>
                            <a:srgbClr val="22211F"/>
                          </a:solidFill>
                          <a:latin typeface="Calibri"/>
                        </a:rPr>
                        <a:t>4,814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extLst>
                  <a:ext uri="{0D108BD9-81ED-4DB2-BD59-A6C34878D82A}">
                    <a16:rowId xmlns:a16="http://schemas.microsoft.com/office/drawing/2014/main" val="10003"/>
                  </a:ext>
                </a:extLst>
              </a:tr>
              <a:tr h="365760">
                <a:tc>
                  <a:txBody>
                    <a:bodyPr/>
                    <a:lstStyle/>
                    <a:p>
                      <a:pPr algn="l"/>
                      <a:r>
                        <a:rPr lang="en-US" sz="1500" b="0" i="0">
                          <a:solidFill>
                            <a:srgbClr val="22211F"/>
                          </a:solidFill>
                          <a:latin typeface="Calibri"/>
                        </a:rPr>
                        <a:t>Strength before 2010</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500" b="0" i="0">
                          <a:solidFill>
                            <a:srgbClr val="22211F"/>
                          </a:solidFill>
                          <a:latin typeface="Calibri"/>
                        </a:rPr>
                        <a:t>0.3</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365760">
                <a:tc>
                  <a:txBody>
                    <a:bodyPr/>
                    <a:lstStyle/>
                    <a:p>
                      <a:pPr algn="l"/>
                      <a:r>
                        <a:rPr lang="en-US" sz="1500" b="0" i="0">
                          <a:solidFill>
                            <a:srgbClr val="22211F"/>
                          </a:solidFill>
                          <a:latin typeface="Calibri"/>
                        </a:rPr>
                        <a:t>Strength from 2010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r"/>
                      <a:r>
                        <a:rPr lang="en-US" sz="1500" b="0" i="0">
                          <a:solidFill>
                            <a:srgbClr val="22211F"/>
                          </a:solidFill>
                          <a:latin typeface="Calibri"/>
                        </a:rPr>
                        <a:t>31.6</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5"/>
                  </a:ext>
                </a:extLst>
              </a:tr>
            </a:tbl>
          </a:graphicData>
        </a:graphic>
      </p:graphicFrame>
      <p:sp>
        <p:nvSpPr>
          <p:cNvPr id="8" name="TextBox 7"/>
          <p:cNvSpPr txBox="1"/>
          <p:nvPr/>
        </p:nvSpPr>
        <p:spPr>
          <a:xfrm>
            <a:off x="7498079" y="4343400"/>
            <a:ext cx="4023360" cy="1371600"/>
          </a:xfrm>
          <a:prstGeom prst="rect">
            <a:avLst/>
          </a:prstGeom>
          <a:noFill/>
        </p:spPr>
        <p:txBody>
          <a:bodyPr wrap="square" lIns="0" tIns="0" rIns="0" bIns="0" anchor="t">
            <a:spAutoFit/>
          </a:bodyPr>
          <a:lstStyle/>
          <a:p>
            <a:pPr algn="l">
              <a:lnSpc>
                <a:spcPct val="105000"/>
              </a:lnSpc>
              <a:spcAft>
                <a:spcPts val="600"/>
              </a:spcAft>
            </a:pPr>
            <a:r>
              <a:rPr lang="en-US" sz="1500" b="0" i="0">
                <a:solidFill>
                  <a:srgbClr val="22211F"/>
                </a:solidFill>
                <a:latin typeface="Calibri"/>
              </a:rPr>
              <a:t>The instrument only has bite from 2010 onward, when low-cost long-haul flights and Gulf and Asian hubs took off. Our answers describe this recent era.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02  IDENTIFICATION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Why tourism should affect goods trade only through air links</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22</a:t>
            </a:r>
          </a:p>
        </p:txBody>
      </p:sp>
      <p:sp>
        <p:nvSpPr>
          <p:cNvPr id="5" name="TextBox 4"/>
          <p:cNvSpPr txBox="1"/>
          <p:nvPr/>
        </p:nvSpPr>
        <p:spPr>
          <a:xfrm>
            <a:off x="640080" y="1737360"/>
            <a:ext cx="731520" cy="914400"/>
          </a:xfrm>
          <a:prstGeom prst="rect">
            <a:avLst/>
          </a:prstGeom>
          <a:noFill/>
        </p:spPr>
        <p:txBody>
          <a:bodyPr wrap="square" lIns="0" tIns="0" rIns="0" bIns="0" anchor="t">
            <a:spAutoFit/>
          </a:bodyPr>
          <a:lstStyle/>
          <a:p>
            <a:pPr algn="l">
              <a:spcAft>
                <a:spcPts val="600"/>
              </a:spcAft>
            </a:pPr>
            <a:r>
              <a:rPr lang="en-US" sz="4400" b="0" i="0">
                <a:solidFill>
                  <a:srgbClr val="B8862F"/>
                </a:solidFill>
                <a:latin typeface="Georgia"/>
              </a:rPr>
              <a:t>1</a:t>
            </a:r>
          </a:p>
        </p:txBody>
      </p:sp>
      <p:sp>
        <p:nvSpPr>
          <p:cNvPr id="6" name="TextBox 5"/>
          <p:cNvSpPr txBox="1"/>
          <p:nvPr/>
        </p:nvSpPr>
        <p:spPr>
          <a:xfrm>
            <a:off x="1417319" y="1828800"/>
            <a:ext cx="6217920" cy="411480"/>
          </a:xfrm>
          <a:prstGeom prst="rect">
            <a:avLst/>
          </a:prstGeom>
          <a:noFill/>
        </p:spPr>
        <p:txBody>
          <a:bodyPr wrap="square" lIns="0" tIns="0" rIns="0" bIns="0" anchor="t">
            <a:spAutoFit/>
          </a:bodyPr>
          <a:lstStyle/>
          <a:p>
            <a:pPr algn="l">
              <a:spcAft>
                <a:spcPts val="600"/>
              </a:spcAft>
            </a:pPr>
            <a:r>
              <a:rPr lang="en-US" sz="1900" b="1" i="0">
                <a:solidFill>
                  <a:srgbClr val="1F3A32"/>
                </a:solidFill>
                <a:latin typeface="Calibri"/>
              </a:rPr>
              <a:t>We only count goods trade</a:t>
            </a:r>
          </a:p>
        </p:txBody>
      </p:sp>
      <p:sp>
        <p:nvSpPr>
          <p:cNvPr id="7" name="TextBox 6"/>
          <p:cNvSpPr txBox="1"/>
          <p:nvPr/>
        </p:nvSpPr>
        <p:spPr>
          <a:xfrm>
            <a:off x="1417319" y="2240280"/>
            <a:ext cx="6217920" cy="822960"/>
          </a:xfrm>
          <a:prstGeom prst="rect">
            <a:avLst/>
          </a:prstGeom>
          <a:noFill/>
        </p:spPr>
        <p:txBody>
          <a:bodyPr wrap="square" lIns="0" tIns="0" rIns="0" bIns="0" anchor="t">
            <a:spAutoFit/>
          </a:bodyPr>
          <a:lstStyle/>
          <a:p>
            <a:pPr algn="l">
              <a:lnSpc>
                <a:spcPct val="105000"/>
              </a:lnSpc>
              <a:spcAft>
                <a:spcPts val="600"/>
              </a:spcAft>
            </a:pPr>
            <a:r>
              <a:rPr lang="en-US" sz="1600" b="0" i="0">
                <a:solidFill>
                  <a:srgbClr val="22211F"/>
                </a:solidFill>
                <a:latin typeface="Calibri"/>
              </a:rPr>
              <a:t>Tourist spending is counted as a services export, so it never enters our outcome.</a:t>
            </a:r>
          </a:p>
        </p:txBody>
      </p:sp>
      <p:sp>
        <p:nvSpPr>
          <p:cNvPr id="8" name="TextBox 7"/>
          <p:cNvSpPr txBox="1"/>
          <p:nvPr/>
        </p:nvSpPr>
        <p:spPr>
          <a:xfrm>
            <a:off x="640080" y="3063240"/>
            <a:ext cx="731520" cy="914400"/>
          </a:xfrm>
          <a:prstGeom prst="rect">
            <a:avLst/>
          </a:prstGeom>
          <a:noFill/>
        </p:spPr>
        <p:txBody>
          <a:bodyPr wrap="square" lIns="0" tIns="0" rIns="0" bIns="0" anchor="t">
            <a:spAutoFit/>
          </a:bodyPr>
          <a:lstStyle/>
          <a:p>
            <a:pPr algn="l">
              <a:spcAft>
                <a:spcPts val="600"/>
              </a:spcAft>
            </a:pPr>
            <a:r>
              <a:rPr lang="en-US" sz="4400" b="0" i="0">
                <a:solidFill>
                  <a:srgbClr val="B8862F"/>
                </a:solidFill>
                <a:latin typeface="Georgia"/>
              </a:rPr>
              <a:t>2</a:t>
            </a:r>
          </a:p>
        </p:txBody>
      </p:sp>
      <p:sp>
        <p:nvSpPr>
          <p:cNvPr id="9" name="TextBox 8"/>
          <p:cNvSpPr txBox="1"/>
          <p:nvPr/>
        </p:nvSpPr>
        <p:spPr>
          <a:xfrm>
            <a:off x="1417319" y="3154680"/>
            <a:ext cx="6217920" cy="411480"/>
          </a:xfrm>
          <a:prstGeom prst="rect">
            <a:avLst/>
          </a:prstGeom>
          <a:noFill/>
        </p:spPr>
        <p:txBody>
          <a:bodyPr wrap="square" lIns="0" tIns="0" rIns="0" bIns="0" anchor="t">
            <a:spAutoFit/>
          </a:bodyPr>
          <a:lstStyle/>
          <a:p>
            <a:pPr algn="l">
              <a:spcAft>
                <a:spcPts val="600"/>
              </a:spcAft>
            </a:pPr>
            <a:r>
              <a:rPr lang="en-US" sz="1900" b="1" i="0">
                <a:solidFill>
                  <a:srgbClr val="1F3A32"/>
                </a:solidFill>
                <a:latin typeface="Calibri"/>
              </a:rPr>
              <a:t>We only use natural and mixed sites</a:t>
            </a:r>
          </a:p>
        </p:txBody>
      </p:sp>
      <p:sp>
        <p:nvSpPr>
          <p:cNvPr id="10" name="TextBox 9"/>
          <p:cNvSpPr txBox="1"/>
          <p:nvPr/>
        </p:nvSpPr>
        <p:spPr>
          <a:xfrm>
            <a:off x="1417319" y="3566160"/>
            <a:ext cx="6217920" cy="822960"/>
          </a:xfrm>
          <a:prstGeom prst="rect">
            <a:avLst/>
          </a:prstGeom>
          <a:noFill/>
        </p:spPr>
        <p:txBody>
          <a:bodyPr wrap="square" lIns="0" tIns="0" rIns="0" bIns="0" anchor="t">
            <a:spAutoFit/>
          </a:bodyPr>
          <a:lstStyle/>
          <a:p>
            <a:pPr algn="l">
              <a:lnSpc>
                <a:spcPct val="105000"/>
              </a:lnSpc>
              <a:spcAft>
                <a:spcPts val="600"/>
              </a:spcAft>
            </a:pPr>
            <a:r>
              <a:rPr lang="en-US" sz="1600" b="0" i="0">
                <a:solidFill>
                  <a:srgbClr val="22211F"/>
                </a:solidFill>
                <a:latin typeface="Calibri"/>
              </a:rPr>
              <a:t>Cultural sites sit in old cities and could affect trade directly. When we try them, the data reject them (p = 0.008).</a:t>
            </a:r>
          </a:p>
        </p:txBody>
      </p:sp>
      <p:sp>
        <p:nvSpPr>
          <p:cNvPr id="11" name="TextBox 10"/>
          <p:cNvSpPr txBox="1"/>
          <p:nvPr/>
        </p:nvSpPr>
        <p:spPr>
          <a:xfrm>
            <a:off x="640080" y="4389120"/>
            <a:ext cx="731520" cy="914400"/>
          </a:xfrm>
          <a:prstGeom prst="rect">
            <a:avLst/>
          </a:prstGeom>
          <a:noFill/>
        </p:spPr>
        <p:txBody>
          <a:bodyPr wrap="square" lIns="0" tIns="0" rIns="0" bIns="0" anchor="t">
            <a:spAutoFit/>
          </a:bodyPr>
          <a:lstStyle/>
          <a:p>
            <a:pPr algn="l">
              <a:spcAft>
                <a:spcPts val="600"/>
              </a:spcAft>
            </a:pPr>
            <a:r>
              <a:rPr lang="en-US" sz="4400" b="0" i="0">
                <a:solidFill>
                  <a:srgbClr val="B8862F"/>
                </a:solidFill>
                <a:latin typeface="Georgia"/>
              </a:rPr>
              <a:t>3</a:t>
            </a:r>
          </a:p>
        </p:txBody>
      </p:sp>
      <p:sp>
        <p:nvSpPr>
          <p:cNvPr id="12" name="TextBox 11"/>
          <p:cNvSpPr txBox="1"/>
          <p:nvPr/>
        </p:nvSpPr>
        <p:spPr>
          <a:xfrm>
            <a:off x="1417319" y="4480560"/>
            <a:ext cx="6217920" cy="411480"/>
          </a:xfrm>
          <a:prstGeom prst="rect">
            <a:avLst/>
          </a:prstGeom>
          <a:noFill/>
        </p:spPr>
        <p:txBody>
          <a:bodyPr wrap="square" lIns="0" tIns="0" rIns="0" bIns="0" anchor="t">
            <a:spAutoFit/>
          </a:bodyPr>
          <a:lstStyle/>
          <a:p>
            <a:pPr algn="l">
              <a:spcAft>
                <a:spcPts val="600"/>
              </a:spcAft>
            </a:pPr>
            <a:r>
              <a:rPr lang="en-US" sz="1900" b="1" i="0">
                <a:solidFill>
                  <a:srgbClr val="1F3A32"/>
                </a:solidFill>
                <a:latin typeface="Calibri"/>
              </a:rPr>
              <a:t>We compare each country with itself over time</a:t>
            </a:r>
          </a:p>
        </p:txBody>
      </p:sp>
      <p:sp>
        <p:nvSpPr>
          <p:cNvPr id="13" name="TextBox 12"/>
          <p:cNvSpPr txBox="1"/>
          <p:nvPr/>
        </p:nvSpPr>
        <p:spPr>
          <a:xfrm>
            <a:off x="1417319" y="4892040"/>
            <a:ext cx="6217920" cy="822960"/>
          </a:xfrm>
          <a:prstGeom prst="rect">
            <a:avLst/>
          </a:prstGeom>
          <a:noFill/>
        </p:spPr>
        <p:txBody>
          <a:bodyPr wrap="square" lIns="0" tIns="0" rIns="0" bIns="0" anchor="t">
            <a:spAutoFit/>
          </a:bodyPr>
          <a:lstStyle/>
          <a:p>
            <a:pPr algn="l">
              <a:lnSpc>
                <a:spcPct val="105000"/>
              </a:lnSpc>
              <a:spcAft>
                <a:spcPts val="600"/>
              </a:spcAft>
            </a:pPr>
            <a:r>
              <a:rPr lang="en-US" sz="1600" b="0" i="0">
                <a:solidFill>
                  <a:srgbClr val="22211F"/>
                </a:solidFill>
                <a:latin typeface="Calibri"/>
              </a:rPr>
              <a:t>Country effects absorb how much heritage a country has; year effects absorb the world tourism cycle.</a:t>
            </a:r>
          </a:p>
        </p:txBody>
      </p:sp>
      <p:sp>
        <p:nvSpPr>
          <p:cNvPr id="14" name="Rectangle 13"/>
          <p:cNvSpPr/>
          <p:nvPr/>
        </p:nvSpPr>
        <p:spPr>
          <a:xfrm>
            <a:off x="8001000" y="1828800"/>
            <a:ext cx="3547872" cy="384048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29600" y="2011680"/>
            <a:ext cx="3108960" cy="3566160"/>
          </a:xfrm>
          <a:prstGeom prst="rect">
            <a:avLst/>
          </a:prstGeom>
          <a:noFill/>
        </p:spPr>
        <p:txBody>
          <a:bodyPr wrap="square" lIns="0" tIns="0" rIns="0" bIns="0" anchor="t">
            <a:spAutoFit/>
          </a:bodyPr>
          <a:lstStyle/>
          <a:p>
            <a:pPr algn="l">
              <a:lnSpc>
                <a:spcPct val="105000"/>
              </a:lnSpc>
              <a:spcAft>
                <a:spcPts val="1000"/>
              </a:spcAft>
            </a:pPr>
            <a:r>
              <a:rPr lang="en-US" sz="1700" b="1" i="0">
                <a:solidFill>
                  <a:srgbClr val="1F3A32"/>
                </a:solidFill>
                <a:latin typeface="Calibri"/>
              </a:rPr>
              <a:t>What could still go wrong?</a:t>
            </a:r>
          </a:p>
          <a:p>
            <a:pPr algn="l">
              <a:lnSpc>
                <a:spcPct val="105000"/>
              </a:lnSpc>
              <a:spcAft>
                <a:spcPts val="1000"/>
              </a:spcAft>
            </a:pPr>
            <a:r>
              <a:rPr lang="en-US" sz="1500" b="0" i="0">
                <a:solidFill>
                  <a:srgbClr val="22211F"/>
                </a:solidFill>
                <a:latin typeface="Calibri"/>
              </a:rPr>
              <a:t>A tourism boom can strengthen the currency and hurt exports. That would make our estimate smaller.</a:t>
            </a:r>
          </a:p>
          <a:p>
            <a:pPr algn="l">
              <a:lnSpc>
                <a:spcPct val="105000"/>
              </a:lnSpc>
              <a:spcAft>
                <a:spcPts val="1000"/>
              </a:spcAft>
            </a:pPr>
            <a:r>
              <a:rPr lang="en-US" sz="1500" b="0" i="0">
                <a:solidFill>
                  <a:srgbClr val="22211F"/>
                </a:solidFill>
                <a:latin typeface="Calibri"/>
              </a:rPr>
              <a:t>Tourism raises income, and income raises imports. Holding GDP fixed, the estimate stays at 1.34–1.54.</a:t>
            </a:r>
          </a:p>
          <a:p>
            <a:pPr algn="l">
              <a:lnSpc>
                <a:spcPct val="105000"/>
              </a:lnSpc>
              <a:spcAft>
                <a:spcPts val="600"/>
              </a:spcAft>
            </a:pPr>
            <a:r>
              <a:rPr lang="en-US" sz="1500" b="0" i="1">
                <a:solidFill>
                  <a:srgbClr val="6F6A62"/>
                </a:solidFill>
                <a:latin typeface="Calibri"/>
              </a:rPr>
              <a:t>No test can prove the assumption. These checks make a violation hard to explain.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F3A32"/>
        </a:solidFill>
        <a:effectLst/>
      </p:bgPr>
    </p:bg>
    <p:spTree>
      <p:nvGrpSpPr>
        <p:cNvPr id="1" name=""/>
        <p:cNvGrpSpPr/>
        <p:nvPr/>
      </p:nvGrpSpPr>
      <p:grpSpPr>
        <a:xfrm>
          <a:off x="0" y="0"/>
          <a:ext cx="0" cy="0"/>
          <a:chOff x="0" y="0"/>
          <a:chExt cx="0" cy="0"/>
        </a:xfrm>
      </p:grpSpPr>
      <p:pic>
        <p:nvPicPr>
          <p:cNvPr id="2" name="Picture 1" descr="title_airports_2024.png"/>
          <p:cNvPicPr>
            <a:picLocks noChangeAspect="1"/>
          </p:cNvPicPr>
          <p:nvPr/>
        </p:nvPicPr>
        <p:blipFill>
          <a:blip r:embed="rId3">
            <a:alphaModFix amt="45000"/>
          </a:blip>
          <a:stretch>
            <a:fillRect/>
          </a:stretch>
        </p:blipFill>
        <p:spPr>
          <a:xfrm>
            <a:off x="0" y="0"/>
            <a:ext cx="12191695" cy="6858000"/>
          </a:xfrm>
          <a:prstGeom prst="rect">
            <a:avLst/>
          </a:prstGeom>
        </p:spPr>
      </p:pic>
      <p:sp>
        <p:nvSpPr>
          <p:cNvPr id="3" name="TextBox 2"/>
          <p:cNvSpPr txBox="1"/>
          <p:nvPr/>
        </p:nvSpPr>
        <p:spPr>
          <a:xfrm>
            <a:off x="822960" y="1600200"/>
            <a:ext cx="3657600" cy="1463040"/>
          </a:xfrm>
          <a:prstGeom prst="rect">
            <a:avLst/>
          </a:prstGeom>
          <a:noFill/>
        </p:spPr>
        <p:txBody>
          <a:bodyPr wrap="square" lIns="0" tIns="0" rIns="0" bIns="0" anchor="t">
            <a:spAutoFit/>
          </a:bodyPr>
          <a:lstStyle/>
          <a:p>
            <a:pPr algn="l">
              <a:spcAft>
                <a:spcPts val="600"/>
              </a:spcAft>
            </a:pPr>
            <a:r>
              <a:rPr lang="en-US" sz="9600" b="0" i="0">
                <a:solidFill>
                  <a:srgbClr val="B8862F"/>
                </a:solidFill>
                <a:latin typeface="Georgia"/>
              </a:rPr>
              <a:t>03</a:t>
            </a:r>
          </a:p>
        </p:txBody>
      </p:sp>
      <p:sp>
        <p:nvSpPr>
          <p:cNvPr id="4" name="TextBox 3"/>
          <p:cNvSpPr txBox="1"/>
          <p:nvPr/>
        </p:nvSpPr>
        <p:spPr>
          <a:xfrm>
            <a:off x="822960" y="3154680"/>
            <a:ext cx="7772400" cy="822960"/>
          </a:xfrm>
          <a:prstGeom prst="rect">
            <a:avLst/>
          </a:prstGeom>
          <a:noFill/>
        </p:spPr>
        <p:txBody>
          <a:bodyPr wrap="square" lIns="0" tIns="0" rIns="0" bIns="0" anchor="t">
            <a:spAutoFit/>
          </a:bodyPr>
          <a:lstStyle/>
          <a:p>
            <a:pPr algn="l">
              <a:spcAft>
                <a:spcPts val="600"/>
              </a:spcAft>
            </a:pPr>
            <a:r>
              <a:rPr lang="en-US" sz="4200" b="0" i="0">
                <a:solidFill>
                  <a:srgbClr val="FFFFFF"/>
                </a:solidFill>
                <a:latin typeface="Georgia"/>
              </a:rPr>
              <a:t>Results</a:t>
            </a:r>
          </a:p>
        </p:txBody>
      </p:sp>
      <p:sp>
        <p:nvSpPr>
          <p:cNvPr id="5" name="TextBox 4"/>
          <p:cNvSpPr txBox="1"/>
          <p:nvPr/>
        </p:nvSpPr>
        <p:spPr>
          <a:xfrm>
            <a:off x="822960" y="4069080"/>
            <a:ext cx="6583680" cy="914400"/>
          </a:xfrm>
          <a:prstGeom prst="rect">
            <a:avLst/>
          </a:prstGeom>
          <a:noFill/>
        </p:spPr>
        <p:txBody>
          <a:bodyPr wrap="square" lIns="0" tIns="0" rIns="0" bIns="0" anchor="t">
            <a:spAutoFit/>
          </a:bodyPr>
          <a:lstStyle/>
          <a:p>
            <a:pPr algn="l">
              <a:lnSpc>
                <a:spcPct val="105000"/>
              </a:lnSpc>
              <a:spcAft>
                <a:spcPts val="600"/>
              </a:spcAft>
            </a:pPr>
            <a:r>
              <a:rPr lang="en-US" sz="1900" b="0" i="1">
                <a:solidFill>
                  <a:srgbClr val="C9D6CF"/>
                </a:solidFill>
                <a:latin typeface="Calibri"/>
              </a:rPr>
              <a:t>How much does connectivity move trade, through which goods, and for whom?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10% better air links raise trade relative to GDP by about 12%</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24</a:t>
            </a:r>
          </a:p>
        </p:txBody>
      </p:sp>
      <p:graphicFrame>
        <p:nvGraphicFramePr>
          <p:cNvPr id="5" name="Table 4"/>
          <p:cNvGraphicFramePr>
            <a:graphicFrameLocks noGrp="1"/>
          </p:cNvGraphicFramePr>
          <p:nvPr/>
        </p:nvGraphicFramePr>
        <p:xfrm>
          <a:off x="640080" y="1783080"/>
          <a:ext cx="6675120" cy="3108960"/>
        </p:xfrm>
        <a:graphic>
          <a:graphicData uri="http://schemas.openxmlformats.org/drawingml/2006/table">
            <a:tbl>
              <a:tblPr>
                <a:tableStyleId>{2D5ABB26-0587-4C30-8999-92F81FD0307C}</a:tableStyleId>
              </a:tblPr>
              <a:tblGrid>
                <a:gridCol w="26974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347472">
                <a:tc>
                  <a:txBody>
                    <a:bodyPr/>
                    <a:lstStyle/>
                    <a:p>
                      <a:pPr algn="l"/>
                      <a:endParaRPr/>
                    </a:p>
                  </a:txBody>
                  <a:tcPr marL="54864" marR="54864" marT="18288" marB="18288" anchor="ctr">
                    <a:lnL w="0">
                      <a:noFill/>
                    </a:lnL>
                    <a:lnR w="0">
                      <a:noFill/>
                    </a:lnR>
                    <a:lnT w="15875" cap="flat" cmpd="sng" algn="ctr">
                      <a:solidFill>
                        <a:srgbClr val="22211F"/>
                      </a:solidFill>
                      <a:prstDash val="solid"/>
                    </a:lnT>
                    <a:lnB w="0">
                      <a:noFill/>
                    </a:lnB>
                    <a:noFill/>
                  </a:tcPr>
                </a:tc>
                <a:tc>
                  <a:txBody>
                    <a:bodyPr/>
                    <a:lstStyle/>
                    <a:p>
                      <a:pPr algn="ctr"/>
                      <a:r>
                        <a:rPr lang="en-US" sz="1500" b="1" i="0">
                          <a:solidFill>
                            <a:srgbClr val="6F6A62"/>
                          </a:solidFill>
                          <a:latin typeface="Calibri"/>
                        </a:rPr>
                        <a:t>Trade ÷ GDP</a:t>
                      </a:r>
                    </a:p>
                  </a:txBody>
                  <a:tcPr marL="54864" marR="54864" marT="18288" marB="18288" anchor="ctr">
                    <a:lnL w="0">
                      <a:noFill/>
                    </a:lnL>
                    <a:lnR w="0">
                      <a:noFill/>
                    </a:lnR>
                    <a:lnT w="15875" cap="flat" cmpd="sng" algn="ctr">
                      <a:solidFill>
                        <a:srgbClr val="22211F"/>
                      </a:solidFill>
                      <a:prstDash val="solid"/>
                    </a:lnT>
                    <a:lnB w="0">
                      <a:noFill/>
                    </a:lnB>
                    <a:noFill/>
                  </a:tcPr>
                </a:tc>
                <a:tc>
                  <a:txBody>
                    <a:bodyPr/>
                    <a:lstStyle/>
                    <a:p>
                      <a:pPr algn="ctr"/>
                      <a:r>
                        <a:rPr lang="en-US" sz="1500" b="1" i="0">
                          <a:solidFill>
                            <a:srgbClr val="6F6A62"/>
                          </a:solidFill>
                          <a:latin typeface="Calibri"/>
                        </a:rPr>
                        <a:t>Total trade</a:t>
                      </a:r>
                    </a:p>
                  </a:txBody>
                  <a:tcPr marL="54864" marR="54864" marT="18288" marB="18288" anchor="ctr">
                    <a:lnL w="0">
                      <a:noFill/>
                    </a:lnL>
                    <a:lnR w="0">
                      <a:noFill/>
                    </a:lnR>
                    <a:lnT w="15875" cap="flat" cmpd="sng" algn="ctr">
                      <a:solidFill>
                        <a:srgbClr val="22211F"/>
                      </a:solidFill>
                      <a:prstDash val="solid"/>
                    </a:lnT>
                    <a:lnB w="0">
                      <a:noFill/>
                    </a:lnB>
                    <a:noFill/>
                  </a:tcPr>
                </a:tc>
                <a:tc>
                  <a:txBody>
                    <a:bodyPr/>
                    <a:lstStyle/>
                    <a:p>
                      <a:pPr algn="ctr"/>
                      <a:r>
                        <a:rPr lang="en-US" sz="1500" b="1" i="0">
                          <a:solidFill>
                            <a:srgbClr val="6F6A62"/>
                          </a:solidFill>
                          <a:latin typeface="Calibri"/>
                        </a:rPr>
                        <a:t>GDP</a:t>
                      </a:r>
                    </a:p>
                  </a:txBody>
                  <a:tcPr marL="54864" marR="54864" marT="18288" marB="18288" anchor="ctr">
                    <a:lnL w="0">
                      <a:noFill/>
                    </a:lnL>
                    <a:lnR w="0">
                      <a:noFill/>
                    </a:lnR>
                    <a:lnT w="15875" cap="flat" cmpd="sng" algn="ctr">
                      <a:solidFill>
                        <a:srgbClr val="22211F"/>
                      </a:solidFill>
                      <a:prstDash val="solid"/>
                    </a:lnT>
                    <a:lnB w="0">
                      <a:noFill/>
                    </a:lnB>
                    <a:noFill/>
                  </a:tcPr>
                </a:tc>
                <a:extLst>
                  <a:ext uri="{0D108BD9-81ED-4DB2-BD59-A6C34878D82A}">
                    <a16:rowId xmlns:a16="http://schemas.microsoft.com/office/drawing/2014/main" val="10000"/>
                  </a:ext>
                </a:extLst>
              </a:tr>
              <a:tr h="274320">
                <a:tc>
                  <a:txBody>
                    <a:bodyPr/>
                    <a:lstStyle/>
                    <a:p>
                      <a:pPr algn="l"/>
                      <a:endParaRPr/>
                    </a:p>
                  </a:txBody>
                  <a:tcPr marL="54864" marR="54864" marT="18288" marB="18288" anchor="ctr">
                    <a:lnL w="0">
                      <a:noFill/>
                    </a:lnL>
                    <a:lnR w="0">
                      <a:noFill/>
                    </a:lnR>
                    <a:lnT w="0">
                      <a:noFill/>
                    </a:lnT>
                    <a:lnB w="11430" cap="flat" cmpd="sng" algn="ctr">
                      <a:solidFill>
                        <a:srgbClr val="22211F"/>
                      </a:solidFill>
                      <a:prstDash val="solid"/>
                    </a:lnB>
                    <a:noFill/>
                  </a:tcPr>
                </a:tc>
                <a:tc>
                  <a:txBody>
                    <a:bodyPr/>
                    <a:lstStyle/>
                    <a:p>
                      <a:pPr algn="ctr"/>
                      <a:r>
                        <a:rPr lang="en-US" sz="1500" b="0" i="1">
                          <a:solidFill>
                            <a:srgbClr val="6F6A62"/>
                          </a:solidFill>
                          <a:latin typeface="Calibri"/>
                        </a:rPr>
                        <a:t>(openness)</a:t>
                      </a:r>
                    </a:p>
                  </a:txBody>
                  <a:tcPr marL="54864" marR="54864" marT="18288" marB="18288" anchor="ctr">
                    <a:lnL w="0">
                      <a:noFill/>
                    </a:lnL>
                    <a:lnR w="0">
                      <a:noFill/>
                    </a:lnR>
                    <a:lnT w="0">
                      <a:noFill/>
                    </a:lnT>
                    <a:lnB w="11430" cap="flat" cmpd="sng" algn="ctr">
                      <a:solidFill>
                        <a:srgbClr val="22211F"/>
                      </a:solidFill>
                      <a:prstDash val="solid"/>
                    </a:lnB>
                    <a:noFill/>
                  </a:tcPr>
                </a:tc>
                <a:tc>
                  <a:txBody>
                    <a:bodyPr/>
                    <a:lstStyle/>
                    <a:p>
                      <a:pPr algn="ctr"/>
                      <a:r>
                        <a:rPr lang="en-US" sz="1500" b="0" i="1">
                          <a:solidFill>
                            <a:srgbClr val="6F6A62"/>
                          </a:solidFill>
                          <a:latin typeface="Calibri"/>
                        </a:rPr>
                        <a:t>(volume)</a:t>
                      </a:r>
                    </a:p>
                  </a:txBody>
                  <a:tcPr marL="54864" marR="54864" marT="18288" marB="18288" anchor="ctr">
                    <a:lnL w="0">
                      <a:noFill/>
                    </a:lnL>
                    <a:lnR w="0">
                      <a:noFill/>
                    </a:lnR>
                    <a:lnT w="0">
                      <a:noFill/>
                    </a:lnT>
                    <a:lnB w="11430" cap="flat" cmpd="sng" algn="ctr">
                      <a:solidFill>
                        <a:srgbClr val="22211F"/>
                      </a:solidFill>
                      <a:prstDash val="solid"/>
                    </a:lnB>
                    <a:noFill/>
                  </a:tcPr>
                </a:tc>
                <a:tc>
                  <a:txBody>
                    <a:bodyPr/>
                    <a:lstStyle/>
                    <a:p>
                      <a:pPr algn="ctr"/>
                      <a:r>
                        <a:rPr lang="en-US" sz="1500" b="0" i="1">
                          <a:solidFill>
                            <a:srgbClr val="6F6A62"/>
                          </a:solidFill>
                          <a:latin typeface="Calibri"/>
                        </a:rPr>
                        <a:t>(size)</a:t>
                      </a:r>
                    </a:p>
                  </a:txBody>
                  <a:tcPr marL="54864" marR="54864" marT="18288" marB="18288" anchor="ctr">
                    <a:lnL w="0">
                      <a:noFill/>
                    </a:lnL>
                    <a:lnR w="0">
                      <a:noFill/>
                    </a:lnR>
                    <a:lnT w="0">
                      <a:noFill/>
                    </a:lnT>
                    <a:lnB w="11430" cap="flat" cmpd="sng" algn="ctr">
                      <a:solidFill>
                        <a:srgbClr val="22211F"/>
                      </a:solidFill>
                      <a:prstDash val="solid"/>
                    </a:lnB>
                    <a:noFill/>
                  </a:tcPr>
                </a:tc>
                <a:extLst>
                  <a:ext uri="{0D108BD9-81ED-4DB2-BD59-A6C34878D82A}">
                    <a16:rowId xmlns:a16="http://schemas.microsoft.com/office/drawing/2014/main" val="10001"/>
                  </a:ext>
                </a:extLst>
              </a:tr>
              <a:tr h="365760">
                <a:tc>
                  <a:txBody>
                    <a:bodyPr/>
                    <a:lstStyle/>
                    <a:p>
                      <a:pPr algn="l"/>
                      <a:r>
                        <a:rPr lang="en-US" sz="1500" b="0" i="0">
                          <a:solidFill>
                            <a:srgbClr val="22211F"/>
                          </a:solidFill>
                          <a:latin typeface="Calibri"/>
                        </a:rPr>
                        <a:t>Simple correlation (OLS)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500" b="0" i="0">
                          <a:solidFill>
                            <a:srgbClr val="22211F"/>
                          </a:solidFill>
                          <a:latin typeface="Calibri"/>
                        </a:rPr>
                        <a:t>0.167***</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500" b="0" i="0">
                          <a:solidFill>
                            <a:srgbClr val="22211F"/>
                          </a:solidFill>
                          <a:latin typeface="Calibri"/>
                        </a:rPr>
                        <a:t>1.141***</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500" b="0" i="0">
                          <a:solidFill>
                            <a:srgbClr val="22211F"/>
                          </a:solidFill>
                          <a:latin typeface="Calibri"/>
                        </a:rPr>
                        <a:t>0.975***</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65760">
                <a:tc>
                  <a:txBody>
                    <a:bodyPr/>
                    <a:lstStyle/>
                    <a:p>
                      <a:pPr algn="l"/>
                      <a:r>
                        <a:rPr lang="en-US" sz="1500" b="1" i="0">
                          <a:solidFill>
                            <a:srgbClr val="22211F"/>
                          </a:solidFill>
                          <a:latin typeface="Calibri"/>
                        </a:rPr>
                        <a:t>Causal estimate (IV)</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tc>
                  <a:txBody>
                    <a:bodyPr/>
                    <a:lstStyle/>
                    <a:p>
                      <a:pPr algn="ctr"/>
                      <a:r>
                        <a:rPr lang="en-US" sz="1500" b="1" i="0">
                          <a:solidFill>
                            <a:srgbClr val="22211F"/>
                          </a:solidFill>
                          <a:latin typeface="Calibri"/>
                        </a:rPr>
                        <a:t>1.208</a:t>
                      </a:r>
                      <a:r>
                        <a:rPr lang="en-US" sz="1500" b="0" i="0">
                          <a:solidFill>
                            <a:srgbClr val="22211F"/>
                          </a:solidFill>
                          <a:latin typeface="Calibri"/>
                        </a:rPr>
                        <a:t>**</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tc>
                  <a:txBody>
                    <a:bodyPr/>
                    <a:lstStyle/>
                    <a:p>
                      <a:pPr algn="ctr"/>
                      <a:r>
                        <a:rPr lang="en-US" sz="1500" b="1" i="0">
                          <a:solidFill>
                            <a:srgbClr val="22211F"/>
                          </a:solidFill>
                          <a:latin typeface="Calibri"/>
                        </a:rPr>
                        <a:t>2.126</a:t>
                      </a:r>
                      <a:r>
                        <a:rPr lang="en-US" sz="1500" b="0" i="0">
                          <a:solidFill>
                            <a:srgbClr val="22211F"/>
                          </a:solidFill>
                          <a:latin typeface="Calibri"/>
                        </a:rPr>
                        <a:t>***</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tc>
                  <a:txBody>
                    <a:bodyPr/>
                    <a:lstStyle/>
                    <a:p>
                      <a:pPr algn="ctr"/>
                      <a:r>
                        <a:rPr lang="en-US" sz="1500" b="1" i="0">
                          <a:solidFill>
                            <a:srgbClr val="22211F"/>
                          </a:solidFill>
                          <a:latin typeface="Calibri"/>
                        </a:rPr>
                        <a:t>0.919</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extLst>
                  <a:ext uri="{0D108BD9-81ED-4DB2-BD59-A6C34878D82A}">
                    <a16:rowId xmlns:a16="http://schemas.microsoft.com/office/drawing/2014/main" val="10003"/>
                  </a:ext>
                </a:extLst>
              </a:tr>
              <a:tr h="292608">
                <a:tc>
                  <a:txBody>
                    <a:bodyPr/>
                    <a:lstStyle/>
                    <a:p>
                      <a:pPr algn="l"/>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tc>
                  <a:txBody>
                    <a:bodyPr/>
                    <a:lstStyle/>
                    <a:p>
                      <a:pPr algn="ctr"/>
                      <a:r>
                        <a:rPr lang="en-US" sz="1500" b="0" i="0">
                          <a:solidFill>
                            <a:srgbClr val="22211F"/>
                          </a:solidFill>
                          <a:latin typeface="Calibri"/>
                        </a:rPr>
                        <a:t>(0.593)</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tc>
                  <a:txBody>
                    <a:bodyPr/>
                    <a:lstStyle/>
                    <a:p>
                      <a:pPr algn="ctr"/>
                      <a:r>
                        <a:rPr lang="en-US" sz="1500" b="0" i="0">
                          <a:solidFill>
                            <a:srgbClr val="22211F"/>
                          </a:solidFill>
                          <a:latin typeface="Calibri"/>
                        </a:rPr>
                        <a:t>(0.703)</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tc>
                  <a:txBody>
                    <a:bodyPr/>
                    <a:lstStyle/>
                    <a:p>
                      <a:pPr algn="ctr"/>
                      <a:r>
                        <a:rPr lang="en-US" sz="1500" b="0" i="0">
                          <a:solidFill>
                            <a:srgbClr val="22211F"/>
                          </a:solidFill>
                          <a:latin typeface="Calibri"/>
                        </a:rPr>
                        <a:t>(0.624)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extLst>
                  <a:ext uri="{0D108BD9-81ED-4DB2-BD59-A6C34878D82A}">
                    <a16:rowId xmlns:a16="http://schemas.microsoft.com/office/drawing/2014/main" val="10004"/>
                  </a:ext>
                </a:extLst>
              </a:tr>
              <a:tr h="420624">
                <a:tc>
                  <a:txBody>
                    <a:bodyPr/>
                    <a:lstStyle/>
                    <a:p>
                      <a:pPr algn="l"/>
                      <a:r>
                        <a:rPr lang="en-US" sz="1500" b="1" i="0">
                          <a:solidFill>
                            <a:srgbClr val="1F3A32"/>
                          </a:solidFill>
                          <a:latin typeface="Calibri"/>
                        </a:rPr>
                        <a:t>10% better connections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solidFill>
                      <a:srgbClr val="F3F1EC"/>
                    </a:solidFill>
                  </a:tcPr>
                </a:tc>
                <a:tc>
                  <a:txBody>
                    <a:bodyPr/>
                    <a:lstStyle/>
                    <a:p>
                      <a:pPr algn="ctr"/>
                      <a:r>
                        <a:rPr lang="en-US" sz="1500" b="1" i="0">
                          <a:solidFill>
                            <a:srgbClr val="B8862F"/>
                          </a:solidFill>
                          <a:latin typeface="Calibri"/>
                        </a:rPr>
                        <a:t>+12%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solidFill>
                      <a:srgbClr val="F3F1EC"/>
                    </a:solidFill>
                  </a:tcPr>
                </a:tc>
                <a:tc>
                  <a:txBody>
                    <a:bodyPr/>
                    <a:lstStyle/>
                    <a:p>
                      <a:pPr algn="ctr"/>
                      <a:r>
                        <a:rPr lang="en-US" sz="1500" b="1" i="0">
                          <a:solidFill>
                            <a:srgbClr val="B8862F"/>
                          </a:solidFill>
                          <a:latin typeface="Calibri"/>
                        </a:rPr>
                        <a:t>+22%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solidFill>
                      <a:srgbClr val="F3F1EC"/>
                    </a:solidFill>
                  </a:tcPr>
                </a:tc>
                <a:tc>
                  <a:txBody>
                    <a:bodyPr/>
                    <a:lstStyle/>
                    <a:p>
                      <a:pPr algn="ctr"/>
                      <a:r>
                        <a:rPr lang="en-US" sz="1500" b="0" i="0">
                          <a:solidFill>
                            <a:srgbClr val="6F6A62"/>
                          </a:solidFill>
                          <a:latin typeface="Calibri"/>
                        </a:rPr>
                        <a:t>+9%, not sig.</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solidFill>
                      <a:srgbClr val="F3F1EC"/>
                    </a:solidFill>
                  </a:tcPr>
                </a:tc>
                <a:extLst>
                  <a:ext uri="{0D108BD9-81ED-4DB2-BD59-A6C34878D82A}">
                    <a16:rowId xmlns:a16="http://schemas.microsoft.com/office/drawing/2014/main" val="10005"/>
                  </a:ext>
                </a:extLst>
              </a:tr>
              <a:tr h="365760">
                <a:tc>
                  <a:txBody>
                    <a:bodyPr/>
                    <a:lstStyle/>
                    <a:p>
                      <a:pPr algn="l"/>
                      <a:r>
                        <a:rPr lang="en-US" sz="1500" b="0" i="1">
                          <a:solidFill>
                            <a:srgbClr val="6F6A62"/>
                          </a:solidFill>
                          <a:latin typeface="Calibri"/>
                        </a:rPr>
                        <a:t>Other measures (IV)</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endParaRP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endParaRP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endParaRP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6"/>
                  </a:ext>
                </a:extLst>
              </a:tr>
              <a:tr h="338328">
                <a:tc>
                  <a:txBody>
                    <a:bodyPr/>
                    <a:lstStyle/>
                    <a:p>
                      <a:pPr algn="l"/>
                      <a:r>
                        <a:rPr lang="en-US" sz="1500" b="0" i="0">
                          <a:solidFill>
                            <a:srgbClr val="22211F"/>
                          </a:solidFill>
                          <a:latin typeface="Calibri"/>
                        </a:rPr>
                        <a:t>Best airport only</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500" b="0" i="0">
                          <a:solidFill>
                            <a:srgbClr val="22211F"/>
                          </a:solidFill>
                          <a:latin typeface="Calibri"/>
                        </a:rPr>
                        <a:t>0.897**</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500" b="0" i="0">
                          <a:solidFill>
                            <a:srgbClr val="22211F"/>
                          </a:solidFill>
                          <a:latin typeface="Calibri"/>
                        </a:rPr>
                        <a:t>1.580***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500" b="0" i="0">
                          <a:solidFill>
                            <a:srgbClr val="22211F"/>
                          </a:solidFill>
                          <a:latin typeface="Calibri"/>
                        </a:rPr>
                        <a:t>0.683</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7"/>
                  </a:ext>
                </a:extLst>
              </a:tr>
              <a:tr h="338328">
                <a:tc>
                  <a:txBody>
                    <a:bodyPr/>
                    <a:lstStyle/>
                    <a:p>
                      <a:pPr algn="l"/>
                      <a:r>
                        <a:rPr lang="en-US" sz="1500" b="0" i="0">
                          <a:solidFill>
                            <a:srgbClr val="22211F"/>
                          </a:solidFill>
                          <a:latin typeface="Calibri"/>
                        </a:rPr>
                        <a:t>All airports summed</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500" b="0" i="0">
                          <a:solidFill>
                            <a:srgbClr val="22211F"/>
                          </a:solidFill>
                          <a:latin typeface="Calibri"/>
                        </a:rPr>
                        <a:t>0.635*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500" b="0" i="0">
                          <a:solidFill>
                            <a:srgbClr val="22211F"/>
                          </a:solidFill>
                          <a:latin typeface="Calibri"/>
                        </a:rPr>
                        <a:t>1.119***</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500" b="0" i="0">
                          <a:solidFill>
                            <a:srgbClr val="22211F"/>
                          </a:solidFill>
                          <a:latin typeface="Calibri"/>
                        </a:rPr>
                        <a:t>0.483</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8"/>
                  </a:ext>
                </a:extLst>
              </a:tr>
            </a:tbl>
          </a:graphicData>
        </a:graphic>
      </p:graphicFrame>
      <p:sp>
        <p:nvSpPr>
          <p:cNvPr id="6" name="TextBox 5"/>
          <p:cNvSpPr txBox="1"/>
          <p:nvPr/>
        </p:nvSpPr>
        <p:spPr>
          <a:xfrm>
            <a:off x="640080" y="5120640"/>
            <a:ext cx="6675120" cy="914400"/>
          </a:xfrm>
          <a:prstGeom prst="rect">
            <a:avLst/>
          </a:prstGeom>
          <a:noFill/>
        </p:spPr>
        <p:txBody>
          <a:bodyPr wrap="square" lIns="0" tIns="0" rIns="0" bIns="0" anchor="t">
            <a:spAutoFit/>
          </a:bodyPr>
          <a:lstStyle/>
          <a:p>
            <a:pPr algn="l">
              <a:lnSpc>
                <a:spcPct val="105000"/>
              </a:lnSpc>
              <a:spcAft>
                <a:spcPts val="600"/>
              </a:spcAft>
            </a:pPr>
            <a:r>
              <a:rPr lang="en-US" sz="1150" b="0" i="0">
                <a:solidFill>
                  <a:srgbClr val="6F6A62"/>
                </a:solidFill>
                <a:latin typeface="Calibri"/>
              </a:rPr>
              <a:t>Numbers are elasticities: the % change in each outcome for a 1% rise in hub quality (the seat-weighted connectivity of a country’s airports). Robust SE in parentheses; * p&lt;0.10, ** p&lt;0.05, *** p&lt;0.01. N = 4,814; strength test F = 21.9.</a:t>
            </a:r>
          </a:p>
        </p:txBody>
      </p:sp>
      <p:sp>
        <p:nvSpPr>
          <p:cNvPr id="7" name="TextBox 6"/>
          <p:cNvSpPr txBox="1"/>
          <p:nvPr/>
        </p:nvSpPr>
        <p:spPr>
          <a:xfrm>
            <a:off x="7818120" y="1783080"/>
            <a:ext cx="3749039"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TWO PARTS OF THE TOTAL EFFECT</a:t>
            </a:r>
          </a:p>
        </p:txBody>
      </p:sp>
      <p:graphicFrame>
        <p:nvGraphicFramePr>
          <p:cNvPr id="8" name="Chart 7"/>
          <p:cNvGraphicFramePr>
            <a:graphicFrameLocks noGrp="1"/>
          </p:cNvGraphicFramePr>
          <p:nvPr/>
        </p:nvGraphicFramePr>
        <p:xfrm>
          <a:off x="7726679" y="2148840"/>
          <a:ext cx="3886200" cy="13258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7818120" y="3474720"/>
            <a:ext cx="3749039" cy="365760"/>
          </a:xfrm>
          <a:prstGeom prst="rect">
            <a:avLst/>
          </a:prstGeom>
          <a:noFill/>
        </p:spPr>
        <p:txBody>
          <a:bodyPr wrap="square" lIns="0" tIns="0" rIns="0" bIns="0" anchor="t">
            <a:spAutoFit/>
          </a:bodyPr>
          <a:lstStyle/>
          <a:p>
            <a:pPr algn="r">
              <a:spcAft>
                <a:spcPts val="600"/>
              </a:spcAft>
            </a:pPr>
            <a:r>
              <a:rPr lang="en-US" sz="1500" b="1" i="0">
                <a:solidFill>
                  <a:srgbClr val="1F3A32"/>
                </a:solidFill>
                <a:latin typeface="Calibri"/>
              </a:rPr>
              <a:t>= Total trade 2.13</a:t>
            </a:r>
          </a:p>
        </p:txBody>
      </p:sp>
      <p:sp>
        <p:nvSpPr>
          <p:cNvPr id="10" name="TextBox 9"/>
          <p:cNvSpPr txBox="1"/>
          <p:nvPr/>
        </p:nvSpPr>
        <p:spPr>
          <a:xfrm>
            <a:off x="7818120" y="4069080"/>
            <a:ext cx="3749039" cy="1828800"/>
          </a:xfrm>
          <a:prstGeom prst="rect">
            <a:avLst/>
          </a:prstGeom>
          <a:noFill/>
        </p:spPr>
        <p:txBody>
          <a:bodyPr wrap="square" lIns="0" tIns="0" rIns="0" bIns="0" anchor="t">
            <a:spAutoFit/>
          </a:bodyPr>
          <a:lstStyle/>
          <a:p>
            <a:pPr algn="l">
              <a:lnSpc>
                <a:spcPct val="105000"/>
              </a:lnSpc>
              <a:spcAft>
                <a:spcPts val="1000"/>
              </a:spcAft>
            </a:pPr>
            <a:r>
              <a:rPr lang="en-US" sz="1600" b="1" i="0">
                <a:solidFill>
                  <a:srgbClr val="1F3A32"/>
                </a:solidFill>
                <a:latin typeface="Calibri"/>
              </a:rPr>
              <a:t>The headline is the first part: </a:t>
            </a:r>
            <a:r>
              <a:rPr lang="en-US" sz="1600" b="0" i="0">
                <a:solidFill>
                  <a:srgbClr val="22211F"/>
                </a:solidFill>
                <a:latin typeface="Calibri"/>
              </a:rPr>
              <a:t>better-connected countries trade more for their size.</a:t>
            </a:r>
          </a:p>
          <a:p>
            <a:pPr algn="l">
              <a:lnSpc>
                <a:spcPct val="105000"/>
              </a:lnSpc>
              <a:spcAft>
                <a:spcPts val="600"/>
              </a:spcAft>
            </a:pPr>
            <a:r>
              <a:rPr lang="en-US" sz="1600" b="0" i="0">
                <a:solidFill>
                  <a:srgbClr val="6F6A62"/>
                </a:solidFill>
                <a:latin typeface="Calibri"/>
              </a:rPr>
              <a:t>The GDP part is positive but not statistically clear.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The answer holds when we change the controls or the instrument</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25</a:t>
            </a:r>
          </a:p>
        </p:txBody>
      </p:sp>
      <p:graphicFrame>
        <p:nvGraphicFramePr>
          <p:cNvPr id="5" name="Chart 4"/>
          <p:cNvGraphicFramePr>
            <a:graphicFrameLocks noGrp="1"/>
          </p:cNvGraphicFramePr>
          <p:nvPr/>
        </p:nvGraphicFramePr>
        <p:xfrm>
          <a:off x="640080" y="2057400"/>
          <a:ext cx="55778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0080" y="1783080"/>
            <a:ext cx="557784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EFFECT ON TRADE ÷ GDP, WITH DIFFERENT CONTROLS</a:t>
            </a:r>
          </a:p>
        </p:txBody>
      </p:sp>
      <p:sp>
        <p:nvSpPr>
          <p:cNvPr id="7" name="TextBox 6"/>
          <p:cNvSpPr txBox="1"/>
          <p:nvPr/>
        </p:nvSpPr>
        <p:spPr>
          <a:xfrm>
            <a:off x="640080" y="5669280"/>
            <a:ext cx="5577840" cy="45720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Whiskers: 95% confidence intervals. Adding GDP is a tough test, since GDP itself responds to connectivity.</a:t>
            </a:r>
          </a:p>
        </p:txBody>
      </p:sp>
      <p:sp>
        <p:nvSpPr>
          <p:cNvPr id="8" name="TextBox 7"/>
          <p:cNvSpPr txBox="1"/>
          <p:nvPr/>
        </p:nvSpPr>
        <p:spPr>
          <a:xfrm>
            <a:off x="6629400" y="1783080"/>
            <a:ext cx="493776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CHECKS ON THE INSTRUMENT (OUTCOME: TOTAL TRADE)</a:t>
            </a:r>
          </a:p>
        </p:txBody>
      </p:sp>
      <p:graphicFrame>
        <p:nvGraphicFramePr>
          <p:cNvPr id="9" name="Table 8"/>
          <p:cNvGraphicFramePr>
            <a:graphicFrameLocks noGrp="1"/>
          </p:cNvGraphicFramePr>
          <p:nvPr/>
        </p:nvGraphicFramePr>
        <p:xfrm>
          <a:off x="6629400" y="2103120"/>
          <a:ext cx="4937760" cy="3337560"/>
        </p:xfrm>
        <a:graphic>
          <a:graphicData uri="http://schemas.openxmlformats.org/drawingml/2006/table">
            <a:tbl>
              <a:tblPr>
                <a:tableStyleId>{2D5ABB26-0587-4C30-8999-92F81FD0307C}</a:tableStyleId>
              </a:tblPr>
              <a:tblGrid>
                <a:gridCol w="224028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tblGrid>
              <a:tr h="365760">
                <a:tc>
                  <a:txBody>
                    <a:bodyPr/>
                    <a:lstStyle/>
                    <a:p>
                      <a:pPr algn="l"/>
                      <a:r>
                        <a:rPr lang="en-US" sz="1350" b="1" i="0">
                          <a:solidFill>
                            <a:srgbClr val="6F6A62"/>
                          </a:solidFill>
                          <a:latin typeface="Calibri"/>
                        </a:rPr>
                        <a:t>Check</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l"/>
                      <a:r>
                        <a:rPr lang="en-US" sz="1350" b="1" i="0">
                          <a:solidFill>
                            <a:srgbClr val="6F6A62"/>
                          </a:solidFill>
                          <a:latin typeface="Calibri"/>
                        </a:rPr>
                        <a:t>What we find</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685800">
                <a:tc>
                  <a:txBody>
                    <a:bodyPr/>
                    <a:lstStyle/>
                    <a:p>
                      <a:pPr algn="l"/>
                      <a:r>
                        <a:rPr lang="en-US" sz="1350" b="0" i="0">
                          <a:solidFill>
                            <a:srgbClr val="22211F"/>
                          </a:solidFill>
                          <a:latin typeface="Calibri"/>
                        </a:rPr>
                        <a:t>Split heritage into natural and mixed sites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350" b="1" i="0">
                          <a:solidFill>
                            <a:srgbClr val="22211F"/>
                          </a:solidFill>
                          <a:latin typeface="Calibri"/>
                        </a:rPr>
                        <a:t>Same answer</a:t>
                      </a:r>
                      <a:r>
                        <a:rPr lang="en-US" sz="1350" b="0" i="0">
                          <a:solidFill>
                            <a:srgbClr val="22211F"/>
                          </a:solidFill>
                          <a:latin typeface="Calibri"/>
                        </a:rPr>
                        <a:t> (1.90); the two agree (p = 0.73)</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640080">
                <a:tc>
                  <a:txBody>
                    <a:bodyPr/>
                    <a:lstStyle/>
                    <a:p>
                      <a:pPr algn="l"/>
                      <a:r>
                        <a:rPr lang="en-US" sz="1350" b="0" i="0">
                          <a:solidFill>
                            <a:srgbClr val="22211F"/>
                          </a:solidFill>
                          <a:latin typeface="Calibri"/>
                        </a:rPr>
                        <a:t>Add cultural heritage, which should fail</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350" b="1" i="0">
                          <a:solidFill>
                            <a:srgbClr val="22211F"/>
                          </a:solidFill>
                          <a:latin typeface="Calibri"/>
                        </a:rPr>
                        <a:t>Fails, as expected</a:t>
                      </a:r>
                      <a:r>
                        <a:rPr lang="en-US" sz="1350" b="0" i="0">
                          <a:solidFill>
                            <a:srgbClr val="22211F"/>
                          </a:solidFill>
                          <a:latin typeface="Calibri"/>
                        </a:rPr>
                        <a:t> (p = 0.008)</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777240">
                <a:tc>
                  <a:txBody>
                    <a:bodyPr/>
                    <a:lstStyle/>
                    <a:p>
                      <a:pPr algn="l"/>
                      <a:r>
                        <a:rPr lang="en-US" sz="1350" b="0" i="0">
                          <a:solidFill>
                            <a:srgbClr val="22211F"/>
                          </a:solidFill>
                          <a:latin typeface="Calibri"/>
                        </a:rPr>
                        <a:t>A completely different instrument: air vs sea distance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350" b="1" i="0">
                          <a:solidFill>
                            <a:srgbClr val="22211F"/>
                          </a:solidFill>
                          <a:latin typeface="Calibri"/>
                        </a:rPr>
                        <a:t>Same answer</a:t>
                      </a:r>
                      <a:r>
                        <a:rPr lang="en-US" sz="1350" b="0" i="0">
                          <a:solidFill>
                            <a:srgbClr val="22211F"/>
                          </a:solidFill>
                          <a:latin typeface="Calibri"/>
                        </a:rPr>
                        <a:t> (2.30); both together 2.26</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3"/>
                  </a:ext>
                </a:extLst>
              </a:tr>
              <a:tr h="868680">
                <a:tc>
                  <a:txBody>
                    <a:bodyPr/>
                    <a:lstStyle/>
                    <a:p>
                      <a:pPr algn="l"/>
                      <a:r>
                        <a:rPr lang="en-US" sz="1350" b="0" i="0">
                          <a:solidFill>
                            <a:srgbClr val="22211F"/>
                          </a:solidFill>
                          <a:latin typeface="Calibri"/>
                        </a:rPr>
                        <a:t>Let the instrument affect trade directly a little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350" b="0" i="0">
                          <a:solidFill>
                            <a:srgbClr val="22211F"/>
                          </a:solidFill>
                          <a:latin typeface="Calibri"/>
                        </a:rPr>
                        <a:t>Holds unless that direct effect is over a third (36%) of its total effect; trade ÷ GDP: 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  ·  MECHANISM</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What changes: better-connected countries trade more parts and more high-value goods</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26</a:t>
            </a:r>
          </a:p>
        </p:txBody>
      </p:sp>
      <p:sp>
        <p:nvSpPr>
          <p:cNvPr id="5" name="TextBox 4"/>
          <p:cNvSpPr txBox="1"/>
          <p:nvPr/>
        </p:nvSpPr>
        <p:spPr>
          <a:xfrm>
            <a:off x="640080" y="1828800"/>
            <a:ext cx="475488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LOOKING INSIDE TRADE: PRODUCT-LEVEL DATA (BACI)</a:t>
            </a:r>
          </a:p>
        </p:txBody>
      </p:sp>
      <p:sp>
        <p:nvSpPr>
          <p:cNvPr id="6" name="TextBox 5"/>
          <p:cNvSpPr txBox="1"/>
          <p:nvPr/>
        </p:nvSpPr>
        <p:spPr>
          <a:xfrm>
            <a:off x="640080" y="2148840"/>
            <a:ext cx="4754880" cy="3566160"/>
          </a:xfrm>
          <a:prstGeom prst="rect">
            <a:avLst/>
          </a:prstGeom>
          <a:noFill/>
        </p:spPr>
        <p:txBody>
          <a:bodyPr wrap="square" lIns="0" tIns="0" rIns="0" bIns="0" anchor="t">
            <a:spAutoFit/>
          </a:bodyPr>
          <a:lstStyle/>
          <a:p>
            <a:pPr marL="201168" indent="-201168" algn="l">
              <a:lnSpc>
                <a:spcPct val="105000"/>
              </a:lnSpc>
              <a:spcAft>
                <a:spcPts val="1000"/>
              </a:spcAft>
              <a:buClr>
                <a:srgbClr val="B8862F"/>
              </a:buClr>
              <a:buFont typeface="Arial"/>
              <a:buChar char="•"/>
            </a:pPr>
            <a:r>
              <a:rPr lang="en-US" sz="1600" b="0" i="0">
                <a:solidFill>
                  <a:srgbClr val="22211F"/>
                </a:solidFill>
                <a:latin typeface="Calibri"/>
              </a:rPr>
              <a:t>About 5,000 products, about 200 countries, exports plus imports</a:t>
            </a:r>
          </a:p>
          <a:p>
            <a:pPr marL="201168" indent="-201168" algn="l">
              <a:lnSpc>
                <a:spcPct val="105000"/>
              </a:lnSpc>
              <a:spcAft>
                <a:spcPts val="1000"/>
              </a:spcAft>
              <a:buClr>
                <a:srgbClr val="B8862F"/>
              </a:buClr>
              <a:buFont typeface="Arial"/>
              <a:buChar char="•"/>
            </a:pPr>
            <a:r>
              <a:rPr lang="en-US" sz="1600" b="1" i="0">
                <a:solidFill>
                  <a:srgbClr val="1F3A32"/>
                </a:solidFill>
                <a:latin typeface="Calibri"/>
              </a:rPr>
              <a:t>Parts ratio: </a:t>
            </a:r>
            <a:r>
              <a:rPr lang="en-US" sz="1600" b="0" i="0">
                <a:solidFill>
                  <a:srgbClr val="22211F"/>
                </a:solidFill>
                <a:latin typeface="Calibri"/>
              </a:rPr>
              <a:t>intermediate inputs ÷ final consumer goods</a:t>
            </a:r>
          </a:p>
          <a:p>
            <a:pPr marL="201168" indent="-201168" algn="l">
              <a:lnSpc>
                <a:spcPct val="105000"/>
              </a:lnSpc>
              <a:spcAft>
                <a:spcPts val="1000"/>
              </a:spcAft>
              <a:buClr>
                <a:srgbClr val="B8862F"/>
              </a:buClr>
              <a:buFont typeface="Arial"/>
              <a:buChar char="•"/>
            </a:pPr>
            <a:r>
              <a:rPr lang="en-US" sz="1600" b="1" i="0">
                <a:solidFill>
                  <a:srgbClr val="1F3A32"/>
                </a:solidFill>
                <a:latin typeface="Calibri"/>
              </a:rPr>
              <a:t>Value ratio: </a:t>
            </a:r>
            <a:r>
              <a:rPr lang="en-US" sz="1600" b="0" i="0">
                <a:solidFill>
                  <a:srgbClr val="22211F"/>
                </a:solidFill>
                <a:latin typeface="Calibri"/>
              </a:rPr>
              <a:t>high-value ÷ low-value goods, by dollars per kilogram</a:t>
            </a:r>
          </a:p>
          <a:p>
            <a:pPr marL="201168" indent="-201168" algn="l">
              <a:lnSpc>
                <a:spcPct val="105000"/>
              </a:lnSpc>
              <a:spcAft>
                <a:spcPts val="1000"/>
              </a:spcAft>
              <a:buClr>
                <a:srgbClr val="B8862F"/>
              </a:buClr>
              <a:buFont typeface="Arial"/>
              <a:buChar char="•"/>
            </a:pPr>
            <a:r>
              <a:rPr lang="en-US" sz="1600" b="0" i="0">
                <a:solidFill>
                  <a:srgbClr val="22211F"/>
                </a:solidFill>
                <a:latin typeface="Calibri"/>
              </a:rPr>
              <a:t>Ratios cancel out anything that moves all of a country’s trade together</a:t>
            </a:r>
          </a:p>
        </p:txBody>
      </p:sp>
      <p:graphicFrame>
        <p:nvGraphicFramePr>
          <p:cNvPr id="7" name="Chart 6"/>
          <p:cNvGraphicFramePr>
            <a:graphicFrameLocks noGrp="1"/>
          </p:cNvGraphicFramePr>
          <p:nvPr/>
        </p:nvGraphicFramePr>
        <p:xfrm>
          <a:off x="5897880" y="1783080"/>
          <a:ext cx="566928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p:cNvSpPr/>
          <p:nvPr/>
        </p:nvSpPr>
        <p:spPr>
          <a:xfrm>
            <a:off x="5989320" y="5440680"/>
            <a:ext cx="5532120" cy="50292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172200" y="5440680"/>
            <a:ext cx="5303520" cy="502920"/>
          </a:xfrm>
          <a:prstGeom prst="rect">
            <a:avLst/>
          </a:prstGeom>
          <a:noFill/>
        </p:spPr>
        <p:txBody>
          <a:bodyPr wrap="square" lIns="0" tIns="0" rIns="0" bIns="0" anchor="ctr">
            <a:spAutoFit/>
          </a:bodyPr>
          <a:lstStyle/>
          <a:p>
            <a:pPr algn="l">
              <a:spcAft>
                <a:spcPts val="600"/>
              </a:spcAft>
            </a:pPr>
            <a:r>
              <a:rPr lang="en-US" sz="1500" b="1" i="0">
                <a:solidFill>
                  <a:srgbClr val="1F3A32"/>
                </a:solidFill>
                <a:latin typeface="Calibri"/>
              </a:rPr>
              <a:t>10% better connections: </a:t>
            </a:r>
            <a:r>
              <a:rPr lang="en-US" sz="1500" b="0" i="0">
                <a:solidFill>
                  <a:srgbClr val="22211F"/>
                </a:solidFill>
                <a:latin typeface="Calibri"/>
              </a:rPr>
              <a:t>parts ratio +15%, value ratio +19%</a:t>
            </a:r>
          </a:p>
        </p:txBody>
      </p:sp>
      <p:sp>
        <p:nvSpPr>
          <p:cNvPr id="10" name="TextBox 9"/>
          <p:cNvSpPr txBox="1"/>
          <p:nvPr/>
        </p:nvSpPr>
        <p:spPr>
          <a:xfrm>
            <a:off x="5897880" y="5989320"/>
            <a:ext cx="5669280" cy="27432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IV estimates with 95% CI; N = 4,785; strength test F = 22.1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  ·  MECHANISM</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Accounting for the goods mix shrinks the effect by about 30%</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27</a:t>
            </a:r>
          </a:p>
        </p:txBody>
      </p:sp>
      <p:graphicFrame>
        <p:nvGraphicFramePr>
          <p:cNvPr id="5" name="Chart 4"/>
          <p:cNvGraphicFramePr>
            <a:graphicFrameLocks noGrp="1"/>
          </p:cNvGraphicFramePr>
          <p:nvPr/>
        </p:nvGraphicFramePr>
        <p:xfrm>
          <a:off x="640080" y="2057400"/>
          <a:ext cx="6583680" cy="3749039"/>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0080" y="1783080"/>
            <a:ext cx="658368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EFFECT OF CONNECTIVITY ON TRADE ÷ GDP, 95% CI</a:t>
            </a:r>
          </a:p>
        </p:txBody>
      </p:sp>
      <p:sp>
        <p:nvSpPr>
          <p:cNvPr id="7" name="TextBox 6"/>
          <p:cNvSpPr txBox="1"/>
          <p:nvPr/>
        </p:nvSpPr>
        <p:spPr>
          <a:xfrm>
            <a:off x="7680960" y="1828800"/>
            <a:ext cx="3886200" cy="4114800"/>
          </a:xfrm>
          <a:prstGeom prst="rect">
            <a:avLst/>
          </a:prstGeom>
          <a:noFill/>
        </p:spPr>
        <p:txBody>
          <a:bodyPr wrap="square" lIns="0" tIns="0" rIns="0" bIns="0" anchor="t">
            <a:spAutoFit/>
          </a:bodyPr>
          <a:lstStyle/>
          <a:p>
            <a:pPr algn="l">
              <a:lnSpc>
                <a:spcPct val="105000"/>
              </a:lnSpc>
              <a:spcAft>
                <a:spcPts val="1200"/>
              </a:spcAft>
            </a:pPr>
            <a:r>
              <a:rPr lang="en-US" sz="1600" b="1" i="0">
                <a:solidFill>
                  <a:srgbClr val="1F3A32"/>
                </a:solidFill>
                <a:latin typeface="Calibri"/>
              </a:rPr>
              <a:t>Same countries and years in every bar </a:t>
            </a:r>
            <a:r>
              <a:rPr lang="en-US" sz="1600" b="0" i="0">
                <a:solidFill>
                  <a:srgbClr val="22211F"/>
                </a:solidFill>
                <a:latin typeface="Calibri"/>
              </a:rPr>
              <a:t>(4,785), so the drop comes from the added ratios.</a:t>
            </a:r>
          </a:p>
          <a:p>
            <a:pPr algn="l">
              <a:lnSpc>
                <a:spcPct val="105000"/>
              </a:lnSpc>
              <a:spcAft>
                <a:spcPts val="1200"/>
              </a:spcAft>
            </a:pPr>
            <a:r>
              <a:rPr lang="en-US" sz="1600" b="1" i="0">
                <a:solidFill>
                  <a:srgbClr val="1F3A32"/>
                </a:solidFill>
                <a:latin typeface="Calibri"/>
              </a:rPr>
              <a:t>With both ratios, </a:t>
            </a:r>
            <a:r>
              <a:rPr lang="en-US" sz="1600" b="0" i="0">
                <a:solidFill>
                  <a:srgbClr val="22211F"/>
                </a:solidFill>
                <a:latin typeface="Calibri"/>
              </a:rPr>
              <a:t>the effect falls from 1.18 to 0.83 and is no longer statistically clear.</a:t>
            </a:r>
          </a:p>
          <a:p>
            <a:pPr algn="l">
              <a:lnSpc>
                <a:spcPct val="105000"/>
              </a:lnSpc>
              <a:spcAft>
                <a:spcPts val="1200"/>
              </a:spcAft>
            </a:pPr>
            <a:r>
              <a:rPr lang="en-US" sz="1600" b="1" i="0">
                <a:solidFill>
                  <a:srgbClr val="1F3A32"/>
                </a:solidFill>
                <a:latin typeface="Calibri"/>
              </a:rPr>
              <a:t>In plain words: </a:t>
            </a:r>
            <a:r>
              <a:rPr lang="en-US" sz="1600" b="0" i="0">
                <a:solidFill>
                  <a:srgbClr val="22211F"/>
                </a:solidFill>
                <a:latin typeface="Calibri"/>
              </a:rPr>
              <a:t>the trade gain comes with, and runs through, a shift toward goods that fly.</a:t>
            </a:r>
          </a:p>
          <a:p>
            <a:pPr algn="l">
              <a:lnSpc>
                <a:spcPct val="105000"/>
              </a:lnSpc>
              <a:spcAft>
                <a:spcPts val="600"/>
              </a:spcAft>
            </a:pPr>
            <a:r>
              <a:rPr lang="en-US" sz="1600" b="0" i="1">
                <a:solidFill>
                  <a:srgbClr val="6F6A62"/>
                </a:solidFill>
                <a:latin typeface="Calibri"/>
              </a:rPr>
              <a:t>The mix is itself an outcome, so this supports the channel without proving it.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Poorer and less-connected countries gain the most</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28</a:t>
            </a:r>
          </a:p>
        </p:txBody>
      </p:sp>
      <p:sp>
        <p:nvSpPr>
          <p:cNvPr id="5" name="TextBox 4"/>
          <p:cNvSpPr txBox="1"/>
          <p:nvPr/>
        </p:nvSpPr>
        <p:spPr>
          <a:xfrm>
            <a:off x="640080" y="1783080"/>
            <a:ext cx="5303520" cy="274320"/>
          </a:xfrm>
          <a:prstGeom prst="rect">
            <a:avLst/>
          </a:prstGeom>
          <a:noFill/>
        </p:spPr>
        <p:txBody>
          <a:bodyPr wrap="square" lIns="0" tIns="0" rIns="0" bIns="0" anchor="t">
            <a:spAutoFit/>
          </a:bodyPr>
          <a:lstStyle/>
          <a:p>
            <a:pPr algn="l">
              <a:spcAft>
                <a:spcPts val="600"/>
              </a:spcAft>
            </a:pPr>
            <a:r>
              <a:rPr lang="en-US" sz="1050" b="1" i="0" spc="60">
                <a:solidFill>
                  <a:srgbClr val="6F6A62"/>
                </a:solidFill>
                <a:latin typeface="Calibri"/>
              </a:rPr>
              <a:t>BY INCOME IN 1996</a:t>
            </a:r>
          </a:p>
        </p:txBody>
      </p:sp>
      <p:graphicFrame>
        <p:nvGraphicFramePr>
          <p:cNvPr id="6" name="Chart 5"/>
          <p:cNvGraphicFramePr>
            <a:graphicFrameLocks noGrp="1"/>
          </p:cNvGraphicFramePr>
          <p:nvPr/>
        </p:nvGraphicFramePr>
        <p:xfrm>
          <a:off x="640080" y="2057400"/>
          <a:ext cx="53035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731519" y="5120640"/>
            <a:ext cx="5120640" cy="548640"/>
          </a:xfrm>
          <a:prstGeom prst="rect">
            <a:avLst/>
          </a:prstGeom>
          <a:noFill/>
        </p:spPr>
        <p:txBody>
          <a:bodyPr wrap="square" lIns="0" tIns="0" rIns="0" bIns="0" anchor="t">
            <a:spAutoFit/>
          </a:bodyPr>
          <a:lstStyle/>
          <a:p>
            <a:pPr algn="l">
              <a:lnSpc>
                <a:spcPct val="100000"/>
              </a:lnSpc>
              <a:spcAft>
                <a:spcPts val="600"/>
              </a:spcAft>
            </a:pPr>
            <a:r>
              <a:rPr lang="en-US" sz="1350" b="1" i="0">
                <a:solidFill>
                  <a:srgbClr val="1F3A32"/>
                </a:solidFill>
                <a:latin typeface="Calibri"/>
              </a:rPr>
              <a:t>10% better connections: </a:t>
            </a:r>
            <a:r>
              <a:rPr lang="en-US" sz="1350" b="0" i="0">
                <a:solidFill>
                  <a:srgbClr val="22211F"/>
                </a:solidFill>
                <a:latin typeface="Calibri"/>
              </a:rPr>
              <a:t>+16% trade ÷ GDP for the poorest quarter, +7% for the richest</a:t>
            </a:r>
          </a:p>
        </p:txBody>
      </p:sp>
      <p:sp>
        <p:nvSpPr>
          <p:cNvPr id="8" name="TextBox 7"/>
          <p:cNvSpPr txBox="1"/>
          <p:nvPr/>
        </p:nvSpPr>
        <p:spPr>
          <a:xfrm>
            <a:off x="6217920" y="1783080"/>
            <a:ext cx="5303520" cy="274320"/>
          </a:xfrm>
          <a:prstGeom prst="rect">
            <a:avLst/>
          </a:prstGeom>
          <a:noFill/>
        </p:spPr>
        <p:txBody>
          <a:bodyPr wrap="square" lIns="0" tIns="0" rIns="0" bIns="0" anchor="t">
            <a:spAutoFit/>
          </a:bodyPr>
          <a:lstStyle/>
          <a:p>
            <a:pPr algn="l">
              <a:spcAft>
                <a:spcPts val="600"/>
              </a:spcAft>
            </a:pPr>
            <a:r>
              <a:rPr lang="en-US" sz="1050" b="1" i="0" spc="60">
                <a:solidFill>
                  <a:srgbClr val="6F6A62"/>
                </a:solidFill>
                <a:latin typeface="Calibri"/>
              </a:rPr>
              <a:t>BY AIR CONNECTIVITY IN 1996</a:t>
            </a:r>
          </a:p>
        </p:txBody>
      </p:sp>
      <p:graphicFrame>
        <p:nvGraphicFramePr>
          <p:cNvPr id="9" name="Chart 8"/>
          <p:cNvGraphicFramePr>
            <a:graphicFrameLocks noGrp="1"/>
          </p:cNvGraphicFramePr>
          <p:nvPr/>
        </p:nvGraphicFramePr>
        <p:xfrm>
          <a:off x="6217920" y="2057400"/>
          <a:ext cx="530352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6309359" y="5120640"/>
            <a:ext cx="5120640" cy="548640"/>
          </a:xfrm>
          <a:prstGeom prst="rect">
            <a:avLst/>
          </a:prstGeom>
          <a:noFill/>
        </p:spPr>
        <p:txBody>
          <a:bodyPr wrap="square" lIns="0" tIns="0" rIns="0" bIns="0" anchor="t">
            <a:spAutoFit/>
          </a:bodyPr>
          <a:lstStyle/>
          <a:p>
            <a:pPr algn="l">
              <a:lnSpc>
                <a:spcPct val="100000"/>
              </a:lnSpc>
              <a:spcAft>
                <a:spcPts val="600"/>
              </a:spcAft>
            </a:pPr>
            <a:r>
              <a:rPr lang="en-US" sz="1350" b="1" i="0">
                <a:solidFill>
                  <a:srgbClr val="1F3A32"/>
                </a:solidFill>
                <a:latin typeface="Calibri"/>
              </a:rPr>
              <a:t>10% better connections: </a:t>
            </a:r>
            <a:r>
              <a:rPr lang="en-US" sz="1350" b="0" i="0">
                <a:solidFill>
                  <a:srgbClr val="22211F"/>
                </a:solidFill>
                <a:latin typeface="Calibri"/>
              </a:rPr>
              <a:t>+26% for the least connected quarter, +15% for the best connected</a:t>
            </a:r>
          </a:p>
        </p:txBody>
      </p:sp>
      <p:sp>
        <p:nvSpPr>
          <p:cNvPr id="11" name="TextBox 10"/>
          <p:cNvSpPr txBox="1"/>
          <p:nvPr/>
        </p:nvSpPr>
        <p:spPr>
          <a:xfrm>
            <a:off x="640080" y="5760720"/>
            <a:ext cx="10911535" cy="457200"/>
          </a:xfrm>
          <a:prstGeom prst="rect">
            <a:avLst/>
          </a:prstGeom>
          <a:noFill/>
        </p:spPr>
        <p:txBody>
          <a:bodyPr wrap="square" lIns="0" tIns="0" rIns="0" bIns="0" anchor="t">
            <a:spAutoFit/>
          </a:bodyPr>
          <a:lstStyle/>
          <a:p>
            <a:pPr algn="l">
              <a:lnSpc>
                <a:spcPct val="100000"/>
              </a:lnSpc>
              <a:spcAft>
                <a:spcPts val="600"/>
              </a:spcAft>
            </a:pPr>
            <a:r>
              <a:rPr lang="en-US" sz="1100" b="0" i="0">
                <a:solidFill>
                  <a:srgbClr val="6F6A62"/>
                </a:solidFill>
                <a:latin typeface="Calibri"/>
              </a:rPr>
              <a:t>Effect of hub quality on trade ÷ GDP by quarter of countries, 95% CI. These estimates are less precise (strength test F ≈ 6–10), so the slope matters more than each number. A simpler check without this weakness shows the same slope.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  ·  MAGNITUDES</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Better air links since 1996 add about $10 trillion to 2024 trade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29</a:t>
            </a:r>
          </a:p>
        </p:txBody>
      </p:sp>
      <p:graphicFrame>
        <p:nvGraphicFramePr>
          <p:cNvPr id="5" name="Chart 4"/>
          <p:cNvGraphicFramePr>
            <a:graphicFrameLocks noGrp="1"/>
          </p:cNvGraphicFramePr>
          <p:nvPr/>
        </p:nvGraphicFramePr>
        <p:xfrm>
          <a:off x="640080" y="2057400"/>
          <a:ext cx="64008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0080" y="1783080"/>
            <a:ext cx="640080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EXTRA TRADE ÷ GDP FROM CONNECTIVITY GAINS SINCE 1996 (%)</a:t>
            </a:r>
          </a:p>
        </p:txBody>
      </p:sp>
      <p:sp>
        <p:nvSpPr>
          <p:cNvPr id="7" name="TextBox 6"/>
          <p:cNvSpPr txBox="1"/>
          <p:nvPr/>
        </p:nvSpPr>
        <p:spPr>
          <a:xfrm>
            <a:off x="640080" y="5715000"/>
            <a:ext cx="6400800" cy="411480"/>
          </a:xfrm>
          <a:prstGeom prst="rect">
            <a:avLst/>
          </a:prstGeom>
          <a:noFill/>
        </p:spPr>
        <p:txBody>
          <a:bodyPr wrap="square" lIns="0" tIns="0" rIns="0" bIns="0" anchor="t">
            <a:spAutoFit/>
          </a:bodyPr>
          <a:lstStyle/>
          <a:p>
            <a:pPr algn="l">
              <a:spcAft>
                <a:spcPts val="600"/>
              </a:spcAft>
            </a:pPr>
            <a:r>
              <a:rPr lang="en-US" sz="1200" b="0" i="1">
                <a:solidFill>
                  <a:srgbClr val="6F6A62"/>
                </a:solidFill>
                <a:latin typeface="Calibri"/>
              </a:rPr>
              <a:t>Each country: 2024 trade × the share implied by its own connectivity gain since 1996 (elasticity 1.21).</a:t>
            </a:r>
          </a:p>
        </p:txBody>
      </p:sp>
      <p:graphicFrame>
        <p:nvGraphicFramePr>
          <p:cNvPr id="8" name="Table 7"/>
          <p:cNvGraphicFramePr>
            <a:graphicFrameLocks noGrp="1"/>
          </p:cNvGraphicFramePr>
          <p:nvPr/>
        </p:nvGraphicFramePr>
        <p:xfrm>
          <a:off x="7452360" y="2103120"/>
          <a:ext cx="4114800" cy="2514600"/>
        </p:xfrm>
        <a:graphic>
          <a:graphicData uri="http://schemas.openxmlformats.org/drawingml/2006/table">
            <a:tbl>
              <a:tblPr>
                <a:tableStyleId>{2D5ABB26-0587-4C30-8999-92F81FD0307C}</a:tableStyleId>
              </a:tblPr>
              <a:tblGrid>
                <a:gridCol w="27889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502920">
                <a:tc>
                  <a:txBody>
                    <a:bodyPr/>
                    <a:lstStyle/>
                    <a:p>
                      <a:pPr algn="l"/>
                      <a:r>
                        <a:rPr lang="en-US" sz="1500" b="0" i="0">
                          <a:solidFill>
                            <a:srgbClr val="22211F"/>
                          </a:solidFill>
                          <a:latin typeface="Calibri"/>
                        </a:rPr>
                        <a:t>Extra 2024 goods trade</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tc>
                  <a:txBody>
                    <a:bodyPr/>
                    <a:lstStyle/>
                    <a:p>
                      <a:pPr algn="r"/>
                      <a:r>
                        <a:rPr lang="en-US" sz="1500" b="1" i="0">
                          <a:solidFill>
                            <a:srgbClr val="1F3A32"/>
                          </a:solidFill>
                          <a:latin typeface="Calibri"/>
                        </a:rPr>
                        <a:t>$10.0 tn</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extLst>
                  <a:ext uri="{0D108BD9-81ED-4DB2-BD59-A6C34878D82A}">
                    <a16:rowId xmlns:a16="http://schemas.microsoft.com/office/drawing/2014/main" val="10000"/>
                  </a:ext>
                </a:extLst>
              </a:tr>
              <a:tr h="502920">
                <a:tc>
                  <a:txBody>
                    <a:bodyPr/>
                    <a:lstStyle/>
                    <a:p>
                      <a:pPr algn="l"/>
                      <a:r>
                        <a:rPr lang="en-US" sz="1500" b="0" i="0">
                          <a:solidFill>
                            <a:srgbClr val="22211F"/>
                          </a:solidFill>
                          <a:latin typeface="Calibri"/>
                        </a:rPr>
                        <a:t>Share of world goods trade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500" b="1" i="0">
                          <a:solidFill>
                            <a:srgbClr val="1F3A32"/>
                          </a:solidFill>
                          <a:latin typeface="Calibri"/>
                        </a:rPr>
                        <a:t>21%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502920">
                <a:tc>
                  <a:txBody>
                    <a:bodyPr/>
                    <a:lstStyle/>
                    <a:p>
                      <a:pPr algn="l"/>
                      <a:r>
                        <a:rPr lang="en-US" sz="1500" b="0" i="0">
                          <a:solidFill>
                            <a:srgbClr val="22211F"/>
                          </a:solidFill>
                          <a:latin typeface="Calibri"/>
                        </a:rPr>
                        <a:t>Share of world GDP</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r"/>
                      <a:r>
                        <a:rPr lang="en-US" sz="1500" b="1" i="0">
                          <a:solidFill>
                            <a:srgbClr val="1F3A32"/>
                          </a:solidFill>
                          <a:latin typeface="Calibri"/>
                        </a:rPr>
                        <a:t>9.2%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extLst>
                  <a:ext uri="{0D108BD9-81ED-4DB2-BD59-A6C34878D82A}">
                    <a16:rowId xmlns:a16="http://schemas.microsoft.com/office/drawing/2014/main" val="10002"/>
                  </a:ext>
                </a:extLst>
              </a:tr>
              <a:tr h="502920">
                <a:tc>
                  <a:txBody>
                    <a:bodyPr/>
                    <a:lstStyle/>
                    <a:p>
                      <a:pPr algn="l"/>
                      <a:r>
                        <a:rPr lang="en-US" sz="1500" b="0" i="0">
                          <a:solidFill>
                            <a:srgbClr val="22211F"/>
                          </a:solidFill>
                          <a:latin typeface="Calibri"/>
                        </a:rPr>
                        <a:t>Plausible range (95% CI)</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500" b="0" i="0">
                          <a:solidFill>
                            <a:srgbClr val="22211F"/>
                          </a:solidFill>
                          <a:latin typeface="Calibri"/>
                        </a:rPr>
                        <a:t>$0.5–15.9 tn</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3"/>
                  </a:ext>
                </a:extLst>
              </a:tr>
              <a:tr h="502920">
                <a:tc>
                  <a:txBody>
                    <a:bodyPr/>
                    <a:lstStyle/>
                    <a:p>
                      <a:pPr algn="l"/>
                      <a:r>
                        <a:rPr lang="en-US" sz="1500" b="0" i="0">
                          <a:solidFill>
                            <a:srgbClr val="22211F"/>
                          </a:solidFill>
                          <a:latin typeface="Calibri"/>
                        </a:rPr>
                        <a:t>Using the other two measures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r"/>
                      <a:r>
                        <a:rPr lang="en-US" sz="1500" b="0" i="0">
                          <a:solidFill>
                            <a:srgbClr val="22211F"/>
                          </a:solidFill>
                          <a:latin typeface="Calibri"/>
                        </a:rPr>
                        <a:t>$8.0–10.0 tn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4"/>
                  </a:ext>
                </a:extLst>
              </a:tr>
            </a:tbl>
          </a:graphicData>
        </a:graphic>
      </p:graphicFrame>
      <p:sp>
        <p:nvSpPr>
          <p:cNvPr id="9" name="TextBox 8"/>
          <p:cNvSpPr txBox="1"/>
          <p:nvPr/>
        </p:nvSpPr>
        <p:spPr>
          <a:xfrm>
            <a:off x="7452360" y="4800600"/>
            <a:ext cx="4114800" cy="1097280"/>
          </a:xfrm>
          <a:prstGeom prst="rect">
            <a:avLst/>
          </a:prstGeom>
          <a:noFill/>
        </p:spPr>
        <p:txBody>
          <a:bodyPr wrap="square" lIns="0" tIns="0" rIns="0" bIns="0" anchor="t">
            <a:spAutoFit/>
          </a:bodyPr>
          <a:lstStyle/>
          <a:p>
            <a:pPr algn="l">
              <a:lnSpc>
                <a:spcPct val="105000"/>
              </a:lnSpc>
              <a:spcAft>
                <a:spcPts val="600"/>
              </a:spcAft>
            </a:pPr>
            <a:r>
              <a:rPr lang="en-US" sz="1300" b="0" i="1">
                <a:solidFill>
                  <a:srgbClr val="6F6A62"/>
                </a:solidFill>
                <a:latin typeface="Calibri"/>
              </a:rPr>
              <a:t>A rough figure: it holds other countries and prices fixed, and applies an effect measured after 2010 back to 1996.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  ·  MAGNITUDES</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China gains most, then Korea and Japan; 18 countries lost ground</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30</a:t>
            </a:r>
          </a:p>
        </p:txBody>
      </p:sp>
      <p:pic>
        <p:nvPicPr>
          <p:cNvPr id="5" name="Picture 4" descr="map_contrib_trade_2024.png"/>
          <p:cNvPicPr>
            <a:picLocks noChangeAspect="1"/>
          </p:cNvPicPr>
          <p:nvPr/>
        </p:nvPicPr>
        <p:blipFill>
          <a:blip r:embed="rId3"/>
          <a:stretch>
            <a:fillRect/>
          </a:stretch>
        </p:blipFill>
        <p:spPr>
          <a:xfrm>
            <a:off x="411480" y="1783080"/>
            <a:ext cx="7863840" cy="3598706"/>
          </a:xfrm>
          <a:prstGeom prst="rect">
            <a:avLst/>
          </a:prstGeom>
        </p:spPr>
      </p:pic>
      <p:graphicFrame>
        <p:nvGraphicFramePr>
          <p:cNvPr id="6" name="Chart 5"/>
          <p:cNvGraphicFramePr>
            <a:graphicFrameLocks noGrp="1"/>
          </p:cNvGraphicFramePr>
          <p:nvPr/>
        </p:nvGraphicFramePr>
        <p:xfrm>
          <a:off x="8412480" y="2011680"/>
          <a:ext cx="320040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p:cNvSpPr txBox="1"/>
          <p:nvPr/>
        </p:nvSpPr>
        <p:spPr>
          <a:xfrm>
            <a:off x="8412480" y="1783080"/>
            <a:ext cx="320040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EXTRA 2024 TRADE, US$ BILLION</a:t>
            </a:r>
          </a:p>
        </p:txBody>
      </p:sp>
      <p:sp>
        <p:nvSpPr>
          <p:cNvPr id="8" name="TextBox 7"/>
          <p:cNvSpPr txBox="1"/>
          <p:nvPr/>
        </p:nvSpPr>
        <p:spPr>
          <a:xfrm>
            <a:off x="640080" y="5532120"/>
            <a:ext cx="10881360" cy="731520"/>
          </a:xfrm>
          <a:prstGeom prst="rect">
            <a:avLst/>
          </a:prstGeom>
          <a:noFill/>
        </p:spPr>
        <p:txBody>
          <a:bodyPr wrap="square" lIns="0" tIns="0" rIns="0" bIns="0" anchor="t">
            <a:spAutoFit/>
          </a:bodyPr>
          <a:lstStyle/>
          <a:p>
            <a:pPr algn="l">
              <a:lnSpc>
                <a:spcPct val="105000"/>
              </a:lnSpc>
              <a:spcAft>
                <a:spcPts val="600"/>
              </a:spcAft>
            </a:pPr>
            <a:r>
              <a:rPr lang="en-US" sz="1200" b="0" i="0">
                <a:solidFill>
                  <a:srgbClr val="6F6A62"/>
                </a:solidFill>
                <a:latin typeface="Calibri"/>
              </a:rPr>
              <a:t>Biggest losses, where connectivity fell: Germany (−$202 bn), Ukraine (−$119 bn), Belgium (−$69 bn). Grey: no 2024 trade data (31 economies, incl. UAE and Qatar), counted as zero.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  ·  MAGNITUDES</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The same logic in reverse: the 2020 collapse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31</a:t>
            </a:r>
          </a:p>
        </p:txBody>
      </p:sp>
      <p:pic>
        <p:nvPicPr>
          <p:cNvPr id="5" name="Picture 4" descr="map_covid_2019_2020.png"/>
          <p:cNvPicPr>
            <a:picLocks noChangeAspect="1"/>
          </p:cNvPicPr>
          <p:nvPr/>
        </p:nvPicPr>
        <p:blipFill>
          <a:blip r:embed="rId3"/>
          <a:stretch>
            <a:fillRect/>
          </a:stretch>
        </p:blipFill>
        <p:spPr>
          <a:xfrm>
            <a:off x="411480" y="1783080"/>
            <a:ext cx="7863840" cy="3598706"/>
          </a:xfrm>
          <a:prstGeom prst="rect">
            <a:avLst/>
          </a:prstGeom>
        </p:spPr>
      </p:pic>
      <p:sp>
        <p:nvSpPr>
          <p:cNvPr id="6" name="TextBox 5"/>
          <p:cNvSpPr txBox="1"/>
          <p:nvPr/>
        </p:nvSpPr>
        <p:spPr>
          <a:xfrm>
            <a:off x="8503920" y="1828800"/>
            <a:ext cx="306324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ROUGH ONE-YEAR TRADE LOSS</a:t>
            </a:r>
          </a:p>
        </p:txBody>
      </p:sp>
      <p:graphicFrame>
        <p:nvGraphicFramePr>
          <p:cNvPr id="7" name="Table 6"/>
          <p:cNvGraphicFramePr>
            <a:graphicFrameLocks noGrp="1"/>
          </p:cNvGraphicFramePr>
          <p:nvPr/>
        </p:nvGraphicFramePr>
        <p:xfrm>
          <a:off x="8503920" y="2148840"/>
          <a:ext cx="3063240" cy="1234440"/>
        </p:xfrm>
        <a:graphic>
          <a:graphicData uri="http://schemas.openxmlformats.org/drawingml/2006/table">
            <a:tbl>
              <a:tblPr>
                <a:tableStyleId>{2D5ABB26-0587-4C30-8999-92F81FD0307C}</a:tableStyleId>
              </a:tblPr>
              <a:tblGrid>
                <a:gridCol w="17830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411480">
                <a:tc>
                  <a:txBody>
                    <a:bodyPr/>
                    <a:lstStyle/>
                    <a:p>
                      <a:pPr algn="l"/>
                      <a:r>
                        <a:rPr lang="en-US" sz="1500" b="0" i="0">
                          <a:solidFill>
                            <a:srgbClr val="22211F"/>
                          </a:solidFill>
                          <a:latin typeface="Calibri"/>
                        </a:rPr>
                        <a:t>Main measure</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tc>
                  <a:txBody>
                    <a:bodyPr/>
                    <a:lstStyle/>
                    <a:p>
                      <a:pPr algn="r"/>
                      <a:r>
                        <a:rPr lang="en-US" sz="1500" b="1" i="0">
                          <a:solidFill>
                            <a:srgbClr val="1F3A32"/>
                          </a:solidFill>
                          <a:latin typeface="Calibri"/>
                        </a:rPr>
                        <a:t>$7.1 tn</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extLst>
                  <a:ext uri="{0D108BD9-81ED-4DB2-BD59-A6C34878D82A}">
                    <a16:rowId xmlns:a16="http://schemas.microsoft.com/office/drawing/2014/main" val="10000"/>
                  </a:ext>
                </a:extLst>
              </a:tr>
              <a:tr h="411480">
                <a:tc>
                  <a:txBody>
                    <a:bodyPr/>
                    <a:lstStyle/>
                    <a:p>
                      <a:pPr algn="l"/>
                      <a:r>
                        <a:rPr lang="en-US" sz="1500" b="0" i="0">
                          <a:solidFill>
                            <a:srgbClr val="22211F"/>
                          </a:solidFill>
                          <a:latin typeface="Calibri"/>
                        </a:rPr>
                        <a:t>Best airport only</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500" b="0" i="0">
                          <a:solidFill>
                            <a:srgbClr val="22211F"/>
                          </a:solidFill>
                          <a:latin typeface="Calibri"/>
                        </a:rPr>
                        <a:t>$6.3 tn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411480">
                <a:tc>
                  <a:txBody>
                    <a:bodyPr/>
                    <a:lstStyle/>
                    <a:p>
                      <a:pPr algn="l"/>
                      <a:r>
                        <a:rPr lang="en-US" sz="1500" b="0" i="0">
                          <a:solidFill>
                            <a:srgbClr val="22211F"/>
                          </a:solidFill>
                          <a:latin typeface="Calibri"/>
                        </a:rPr>
                        <a:t>All airports summed</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r"/>
                      <a:r>
                        <a:rPr lang="en-US" sz="1500" b="0" i="0">
                          <a:solidFill>
                            <a:srgbClr val="22211F"/>
                          </a:solidFill>
                          <a:latin typeface="Calibri"/>
                        </a:rPr>
                        <a:t>$1.7 tn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2"/>
                  </a:ext>
                </a:extLst>
              </a:tr>
            </a:tbl>
          </a:graphicData>
        </a:graphic>
      </p:graphicFrame>
      <p:sp>
        <p:nvSpPr>
          <p:cNvPr id="8" name="TextBox 7"/>
          <p:cNvSpPr txBox="1"/>
          <p:nvPr/>
        </p:nvSpPr>
        <p:spPr>
          <a:xfrm>
            <a:off x="8503920" y="3566160"/>
            <a:ext cx="3063240" cy="2377440"/>
          </a:xfrm>
          <a:prstGeom prst="rect">
            <a:avLst/>
          </a:prstGeom>
          <a:noFill/>
        </p:spPr>
        <p:txBody>
          <a:bodyPr wrap="square" lIns="0" tIns="0" rIns="0" bIns="0" anchor="t">
            <a:spAutoFit/>
          </a:bodyPr>
          <a:lstStyle/>
          <a:p>
            <a:pPr algn="l">
              <a:lnSpc>
                <a:spcPct val="105000"/>
              </a:lnSpc>
              <a:spcAft>
                <a:spcPts val="1000"/>
              </a:spcAft>
            </a:pPr>
            <a:r>
              <a:rPr lang="en-US" sz="1400" b="0" i="0">
                <a:solidFill>
                  <a:srgbClr val="22211F"/>
                </a:solidFill>
                <a:latin typeface="Calibri"/>
              </a:rPr>
              <a:t>Connections fell in 154 of 175 countries. Biggest losses: United States, Germany, Hong Kong, Korea, Japan.</a:t>
            </a:r>
          </a:p>
          <a:p>
            <a:pPr algn="l">
              <a:lnSpc>
                <a:spcPct val="105000"/>
              </a:lnSpc>
              <a:spcAft>
                <a:spcPts val="0"/>
              </a:spcAft>
            </a:pPr>
            <a:r>
              <a:rPr lang="en-US" sz="1400" b="1" i="0">
                <a:solidFill>
                  <a:srgbClr val="1F3A32"/>
                </a:solidFill>
                <a:latin typeface="Calibri"/>
              </a:rPr>
              <a:t>Treat as an upper range. </a:t>
            </a:r>
            <a:r>
              <a:rPr lang="en-US" sz="1400" b="0" i="0">
                <a:solidFill>
                  <a:srgbClr val="22211F"/>
                </a:solidFill>
                <a:latin typeface="Calibri"/>
              </a:rPr>
              <a:t>In 2020 the pandemic cut trade and flights at the same time, so not all of this loss is due to fewer flights.</a:t>
            </a:r>
          </a:p>
        </p:txBody>
      </p:sp>
      <p:sp>
        <p:nvSpPr>
          <p:cNvPr id="9" name="TextBox 8"/>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Main measure (hub quality), 2019 to 2020. This assumes the effect works the same way when connectivity falls as when it rises.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CONCLUSION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Better air links raise trade, through goods that fly, most where links are scarce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32</a:t>
            </a:r>
          </a:p>
        </p:txBody>
      </p:sp>
      <p:sp>
        <p:nvSpPr>
          <p:cNvPr id="5" name="TextBox 4"/>
          <p:cNvSpPr txBox="1"/>
          <p:nvPr/>
        </p:nvSpPr>
        <p:spPr>
          <a:xfrm>
            <a:off x="640080" y="1783079"/>
            <a:ext cx="640080" cy="731520"/>
          </a:xfrm>
          <a:prstGeom prst="rect">
            <a:avLst/>
          </a:prstGeom>
          <a:noFill/>
        </p:spPr>
        <p:txBody>
          <a:bodyPr wrap="square" lIns="0" tIns="0" rIns="0" bIns="0" anchor="t">
            <a:spAutoFit/>
          </a:bodyPr>
          <a:lstStyle/>
          <a:p>
            <a:pPr algn="l">
              <a:spcAft>
                <a:spcPts val="600"/>
              </a:spcAft>
            </a:pPr>
            <a:r>
              <a:rPr lang="en-US" sz="3400" b="0" i="0">
                <a:solidFill>
                  <a:srgbClr val="B8862F"/>
                </a:solidFill>
                <a:latin typeface="Georgia"/>
              </a:rPr>
              <a:t>1</a:t>
            </a:r>
          </a:p>
        </p:txBody>
      </p:sp>
      <p:sp>
        <p:nvSpPr>
          <p:cNvPr id="6" name="TextBox 5"/>
          <p:cNvSpPr txBox="1"/>
          <p:nvPr/>
        </p:nvSpPr>
        <p:spPr>
          <a:xfrm>
            <a:off x="1280160" y="1874519"/>
            <a:ext cx="5943600" cy="365760"/>
          </a:xfrm>
          <a:prstGeom prst="rect">
            <a:avLst/>
          </a:prstGeom>
          <a:noFill/>
        </p:spPr>
        <p:txBody>
          <a:bodyPr wrap="square" lIns="0" tIns="0" rIns="0" bIns="0" anchor="t">
            <a:spAutoFit/>
          </a:bodyPr>
          <a:lstStyle/>
          <a:p>
            <a:pPr algn="l">
              <a:spcAft>
                <a:spcPts val="600"/>
              </a:spcAft>
            </a:pPr>
            <a:r>
              <a:rPr lang="en-US" sz="1800" b="1" i="0">
                <a:solidFill>
                  <a:srgbClr val="1F3A32"/>
                </a:solidFill>
                <a:latin typeface="Calibri"/>
              </a:rPr>
              <a:t>Air links cause more trade</a:t>
            </a:r>
          </a:p>
        </p:txBody>
      </p:sp>
      <p:sp>
        <p:nvSpPr>
          <p:cNvPr id="7" name="TextBox 6"/>
          <p:cNvSpPr txBox="1"/>
          <p:nvPr/>
        </p:nvSpPr>
        <p:spPr>
          <a:xfrm>
            <a:off x="1280160" y="2240279"/>
            <a:ext cx="5943600" cy="457200"/>
          </a:xfrm>
          <a:prstGeom prst="rect">
            <a:avLst/>
          </a:prstGeom>
          <a:noFill/>
        </p:spPr>
        <p:txBody>
          <a:bodyPr wrap="square" lIns="0" tIns="0" rIns="0" bIns="0" anchor="t">
            <a:spAutoFit/>
          </a:bodyPr>
          <a:lstStyle/>
          <a:p>
            <a:pPr algn="l">
              <a:spcAft>
                <a:spcPts val="600"/>
              </a:spcAft>
            </a:pPr>
            <a:r>
              <a:rPr lang="en-US" sz="1500" b="0" i="0">
                <a:solidFill>
                  <a:srgbClr val="22211F"/>
                </a:solidFill>
                <a:latin typeface="Calibri"/>
              </a:rPr>
              <a:t>10% better connections: about 12% more trade relative to GDP.</a:t>
            </a:r>
          </a:p>
        </p:txBody>
      </p:sp>
      <p:sp>
        <p:nvSpPr>
          <p:cNvPr id="8" name="TextBox 7"/>
          <p:cNvSpPr txBox="1"/>
          <p:nvPr/>
        </p:nvSpPr>
        <p:spPr>
          <a:xfrm>
            <a:off x="640080" y="2743199"/>
            <a:ext cx="640080" cy="731520"/>
          </a:xfrm>
          <a:prstGeom prst="rect">
            <a:avLst/>
          </a:prstGeom>
          <a:noFill/>
        </p:spPr>
        <p:txBody>
          <a:bodyPr wrap="square" lIns="0" tIns="0" rIns="0" bIns="0" anchor="t">
            <a:spAutoFit/>
          </a:bodyPr>
          <a:lstStyle/>
          <a:p>
            <a:pPr algn="l">
              <a:spcAft>
                <a:spcPts val="600"/>
              </a:spcAft>
            </a:pPr>
            <a:r>
              <a:rPr lang="en-US" sz="3400" b="0" i="0">
                <a:solidFill>
                  <a:srgbClr val="B8862F"/>
                </a:solidFill>
                <a:latin typeface="Georgia"/>
              </a:rPr>
              <a:t>2</a:t>
            </a:r>
          </a:p>
        </p:txBody>
      </p:sp>
      <p:sp>
        <p:nvSpPr>
          <p:cNvPr id="9" name="TextBox 8"/>
          <p:cNvSpPr txBox="1"/>
          <p:nvPr/>
        </p:nvSpPr>
        <p:spPr>
          <a:xfrm>
            <a:off x="1280160" y="2834639"/>
            <a:ext cx="5943600" cy="365760"/>
          </a:xfrm>
          <a:prstGeom prst="rect">
            <a:avLst/>
          </a:prstGeom>
          <a:noFill/>
        </p:spPr>
        <p:txBody>
          <a:bodyPr wrap="square" lIns="0" tIns="0" rIns="0" bIns="0" anchor="t">
            <a:spAutoFit/>
          </a:bodyPr>
          <a:lstStyle/>
          <a:p>
            <a:pPr algn="l">
              <a:spcAft>
                <a:spcPts val="600"/>
              </a:spcAft>
            </a:pPr>
            <a:r>
              <a:rPr lang="en-US" sz="1800" b="1" i="0">
                <a:solidFill>
                  <a:srgbClr val="1F3A32"/>
                </a:solidFill>
                <a:latin typeface="Calibri"/>
              </a:rPr>
              <a:t>It works through what is traded</a:t>
            </a:r>
          </a:p>
        </p:txBody>
      </p:sp>
      <p:sp>
        <p:nvSpPr>
          <p:cNvPr id="10" name="TextBox 9"/>
          <p:cNvSpPr txBox="1"/>
          <p:nvPr/>
        </p:nvSpPr>
        <p:spPr>
          <a:xfrm>
            <a:off x="1280160" y="3200399"/>
            <a:ext cx="5943600" cy="457200"/>
          </a:xfrm>
          <a:prstGeom prst="rect">
            <a:avLst/>
          </a:prstGeom>
          <a:noFill/>
        </p:spPr>
        <p:txBody>
          <a:bodyPr wrap="square" lIns="0" tIns="0" rIns="0" bIns="0" anchor="t">
            <a:spAutoFit/>
          </a:bodyPr>
          <a:lstStyle/>
          <a:p>
            <a:pPr algn="l">
              <a:spcAft>
                <a:spcPts val="600"/>
              </a:spcAft>
            </a:pPr>
            <a:r>
              <a:rPr lang="en-US" sz="1500" b="0" i="0">
                <a:solidFill>
                  <a:srgbClr val="22211F"/>
                </a:solidFill>
                <a:latin typeface="Calibri"/>
              </a:rPr>
              <a:t>More parts and more high-value goods, the goods that fly.</a:t>
            </a:r>
          </a:p>
        </p:txBody>
      </p:sp>
      <p:sp>
        <p:nvSpPr>
          <p:cNvPr id="11" name="TextBox 10"/>
          <p:cNvSpPr txBox="1"/>
          <p:nvPr/>
        </p:nvSpPr>
        <p:spPr>
          <a:xfrm>
            <a:off x="640080" y="3703320"/>
            <a:ext cx="640080" cy="731520"/>
          </a:xfrm>
          <a:prstGeom prst="rect">
            <a:avLst/>
          </a:prstGeom>
          <a:noFill/>
        </p:spPr>
        <p:txBody>
          <a:bodyPr wrap="square" lIns="0" tIns="0" rIns="0" bIns="0" anchor="t">
            <a:spAutoFit/>
          </a:bodyPr>
          <a:lstStyle/>
          <a:p>
            <a:pPr algn="l">
              <a:spcAft>
                <a:spcPts val="600"/>
              </a:spcAft>
            </a:pPr>
            <a:r>
              <a:rPr lang="en-US" sz="3400" b="0" i="0">
                <a:solidFill>
                  <a:srgbClr val="B8862F"/>
                </a:solidFill>
                <a:latin typeface="Georgia"/>
              </a:rPr>
              <a:t>3</a:t>
            </a:r>
          </a:p>
        </p:txBody>
      </p:sp>
      <p:sp>
        <p:nvSpPr>
          <p:cNvPr id="12" name="TextBox 11"/>
          <p:cNvSpPr txBox="1"/>
          <p:nvPr/>
        </p:nvSpPr>
        <p:spPr>
          <a:xfrm>
            <a:off x="1280160" y="3794759"/>
            <a:ext cx="5943600" cy="365760"/>
          </a:xfrm>
          <a:prstGeom prst="rect">
            <a:avLst/>
          </a:prstGeom>
          <a:noFill/>
        </p:spPr>
        <p:txBody>
          <a:bodyPr wrap="square" lIns="0" tIns="0" rIns="0" bIns="0" anchor="t">
            <a:spAutoFit/>
          </a:bodyPr>
          <a:lstStyle/>
          <a:p>
            <a:pPr algn="l">
              <a:spcAft>
                <a:spcPts val="600"/>
              </a:spcAft>
            </a:pPr>
            <a:r>
              <a:rPr lang="en-US" sz="1800" b="1" i="0">
                <a:solidFill>
                  <a:srgbClr val="1F3A32"/>
                </a:solidFill>
                <a:latin typeface="Calibri"/>
              </a:rPr>
              <a:t>Poorer, less-connected countries gain most</a:t>
            </a:r>
          </a:p>
        </p:txBody>
      </p:sp>
      <p:sp>
        <p:nvSpPr>
          <p:cNvPr id="13" name="TextBox 12"/>
          <p:cNvSpPr txBox="1"/>
          <p:nvPr/>
        </p:nvSpPr>
        <p:spPr>
          <a:xfrm>
            <a:off x="1280160" y="4160520"/>
            <a:ext cx="5943600" cy="457200"/>
          </a:xfrm>
          <a:prstGeom prst="rect">
            <a:avLst/>
          </a:prstGeom>
          <a:noFill/>
        </p:spPr>
        <p:txBody>
          <a:bodyPr wrap="square" lIns="0" tIns="0" rIns="0" bIns="0" anchor="t">
            <a:spAutoFit/>
          </a:bodyPr>
          <a:lstStyle/>
          <a:p>
            <a:pPr algn="l">
              <a:spcAft>
                <a:spcPts val="600"/>
              </a:spcAft>
            </a:pPr>
            <a:r>
              <a:rPr lang="en-US" sz="1500" b="0" i="0">
                <a:solidFill>
                  <a:srgbClr val="22211F"/>
                </a:solidFill>
                <a:latin typeface="Calibri"/>
              </a:rPr>
              <a:t>The payoff falls as income and connectivity rise.</a:t>
            </a:r>
          </a:p>
        </p:txBody>
      </p:sp>
      <p:sp>
        <p:nvSpPr>
          <p:cNvPr id="14" name="TextBox 13"/>
          <p:cNvSpPr txBox="1"/>
          <p:nvPr/>
        </p:nvSpPr>
        <p:spPr>
          <a:xfrm>
            <a:off x="640080" y="4663440"/>
            <a:ext cx="640080" cy="731520"/>
          </a:xfrm>
          <a:prstGeom prst="rect">
            <a:avLst/>
          </a:prstGeom>
          <a:noFill/>
        </p:spPr>
        <p:txBody>
          <a:bodyPr wrap="square" lIns="0" tIns="0" rIns="0" bIns="0" anchor="t">
            <a:spAutoFit/>
          </a:bodyPr>
          <a:lstStyle/>
          <a:p>
            <a:pPr algn="l">
              <a:spcAft>
                <a:spcPts val="600"/>
              </a:spcAft>
            </a:pPr>
            <a:r>
              <a:rPr lang="en-US" sz="3400" b="0" i="0">
                <a:solidFill>
                  <a:srgbClr val="B8862F"/>
                </a:solidFill>
                <a:latin typeface="Georgia"/>
              </a:rPr>
              <a:t>4</a:t>
            </a:r>
          </a:p>
        </p:txBody>
      </p:sp>
      <p:sp>
        <p:nvSpPr>
          <p:cNvPr id="15" name="TextBox 14"/>
          <p:cNvSpPr txBox="1"/>
          <p:nvPr/>
        </p:nvSpPr>
        <p:spPr>
          <a:xfrm>
            <a:off x="1280160" y="4754879"/>
            <a:ext cx="5943600" cy="365760"/>
          </a:xfrm>
          <a:prstGeom prst="rect">
            <a:avLst/>
          </a:prstGeom>
          <a:noFill/>
        </p:spPr>
        <p:txBody>
          <a:bodyPr wrap="square" lIns="0" tIns="0" rIns="0" bIns="0" anchor="t">
            <a:spAutoFit/>
          </a:bodyPr>
          <a:lstStyle/>
          <a:p>
            <a:pPr algn="l">
              <a:spcAft>
                <a:spcPts val="600"/>
              </a:spcAft>
            </a:pPr>
            <a:r>
              <a:rPr lang="en-US" sz="1800" b="1" i="0">
                <a:solidFill>
                  <a:srgbClr val="1F3A32"/>
                </a:solidFill>
                <a:latin typeface="Calibri"/>
              </a:rPr>
              <a:t>The total is large</a:t>
            </a:r>
          </a:p>
        </p:txBody>
      </p:sp>
      <p:sp>
        <p:nvSpPr>
          <p:cNvPr id="16" name="TextBox 15"/>
          <p:cNvSpPr txBox="1"/>
          <p:nvPr/>
        </p:nvSpPr>
        <p:spPr>
          <a:xfrm>
            <a:off x="1280160" y="5120640"/>
            <a:ext cx="5943600" cy="457200"/>
          </a:xfrm>
          <a:prstGeom prst="rect">
            <a:avLst/>
          </a:prstGeom>
          <a:noFill/>
        </p:spPr>
        <p:txBody>
          <a:bodyPr wrap="square" lIns="0" tIns="0" rIns="0" bIns="0" anchor="t">
            <a:spAutoFit/>
          </a:bodyPr>
          <a:lstStyle/>
          <a:p>
            <a:pPr algn="l">
              <a:spcAft>
                <a:spcPts val="600"/>
              </a:spcAft>
            </a:pPr>
            <a:r>
              <a:rPr lang="en-US" sz="1500" b="0" i="0">
                <a:solidFill>
                  <a:srgbClr val="22211F"/>
                </a:solidFill>
                <a:latin typeface="Calibri"/>
              </a:rPr>
              <a:t>Roughly $10 tn of 2024 trade since 1996 (a rough estimate).</a:t>
            </a:r>
          </a:p>
        </p:txBody>
      </p:sp>
      <p:sp>
        <p:nvSpPr>
          <p:cNvPr id="17" name="TextBox 16"/>
          <p:cNvSpPr txBox="1"/>
          <p:nvPr/>
        </p:nvSpPr>
        <p:spPr>
          <a:xfrm>
            <a:off x="7452360" y="1828800"/>
            <a:ext cx="4114800" cy="274320"/>
          </a:xfrm>
          <a:prstGeom prst="rect">
            <a:avLst/>
          </a:prstGeom>
          <a:noFill/>
        </p:spPr>
        <p:txBody>
          <a:bodyPr wrap="square" lIns="0" tIns="0" rIns="0" bIns="0" anchor="t">
            <a:spAutoFit/>
          </a:bodyPr>
          <a:lstStyle/>
          <a:p>
            <a:pPr algn="l">
              <a:spcAft>
                <a:spcPts val="600"/>
              </a:spcAft>
            </a:pPr>
            <a:r>
              <a:rPr lang="en-US" sz="1050" b="1" i="0" spc="100">
                <a:solidFill>
                  <a:srgbClr val="B8862F"/>
                </a:solidFill>
                <a:latin typeface="Calibri"/>
              </a:rPr>
              <a:t>POLICY</a:t>
            </a:r>
          </a:p>
        </p:txBody>
      </p:sp>
      <p:sp>
        <p:nvSpPr>
          <p:cNvPr id="18" name="TextBox 17"/>
          <p:cNvSpPr txBox="1"/>
          <p:nvPr/>
        </p:nvSpPr>
        <p:spPr>
          <a:xfrm>
            <a:off x="7452360" y="2103120"/>
            <a:ext cx="4114800" cy="1097280"/>
          </a:xfrm>
          <a:prstGeom prst="rect">
            <a:avLst/>
          </a:prstGeom>
          <a:noFill/>
        </p:spPr>
        <p:txBody>
          <a:bodyPr wrap="square" lIns="0" tIns="0" rIns="0" bIns="0" anchor="t">
            <a:spAutoFit/>
          </a:bodyPr>
          <a:lstStyle/>
          <a:p>
            <a:pPr algn="l">
              <a:lnSpc>
                <a:spcPct val="105000"/>
              </a:lnSpc>
              <a:spcAft>
                <a:spcPts val="600"/>
              </a:spcAft>
            </a:pPr>
            <a:r>
              <a:rPr lang="en-US" sz="1500" b="0" i="0">
                <a:solidFill>
                  <a:srgbClr val="22211F"/>
                </a:solidFill>
                <a:latin typeface="Calibri"/>
              </a:rPr>
              <a:t>Investing in airports and routes, and opening air markets, are practical ways to raise trade, especially where connections are poor.</a:t>
            </a:r>
          </a:p>
        </p:txBody>
      </p:sp>
      <p:cxnSp>
        <p:nvCxnSpPr>
          <p:cNvPr id="19" name="Connector 18"/>
          <p:cNvCxnSpPr/>
          <p:nvPr/>
        </p:nvCxnSpPr>
        <p:spPr>
          <a:xfrm>
            <a:off x="7452360" y="3291840"/>
            <a:ext cx="4096512" cy="0"/>
          </a:xfrm>
          <a:prstGeom prst="line">
            <a:avLst/>
          </a:prstGeom>
          <a:ln w="9525">
            <a:solidFill>
              <a:srgbClr val="D9D5C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452360" y="3429000"/>
            <a:ext cx="4114800" cy="274320"/>
          </a:xfrm>
          <a:prstGeom prst="rect">
            <a:avLst/>
          </a:prstGeom>
          <a:noFill/>
        </p:spPr>
        <p:txBody>
          <a:bodyPr wrap="square" lIns="0" tIns="0" rIns="0" bIns="0" anchor="t">
            <a:spAutoFit/>
          </a:bodyPr>
          <a:lstStyle/>
          <a:p>
            <a:pPr algn="l">
              <a:spcAft>
                <a:spcPts val="600"/>
              </a:spcAft>
            </a:pPr>
            <a:r>
              <a:rPr lang="en-US" sz="1050" b="1" i="0" spc="100">
                <a:solidFill>
                  <a:srgbClr val="6F6A62"/>
                </a:solidFill>
                <a:latin typeface="Calibri"/>
              </a:rPr>
              <a:t>LIMITS</a:t>
            </a:r>
          </a:p>
        </p:txBody>
      </p:sp>
      <p:sp>
        <p:nvSpPr>
          <p:cNvPr id="21" name="TextBox 20"/>
          <p:cNvSpPr txBox="1"/>
          <p:nvPr/>
        </p:nvSpPr>
        <p:spPr>
          <a:xfrm>
            <a:off x="7452360" y="3703320"/>
            <a:ext cx="4114800" cy="1188720"/>
          </a:xfrm>
          <a:prstGeom prst="rect">
            <a:avLst/>
          </a:prstGeom>
          <a:noFill/>
        </p:spPr>
        <p:txBody>
          <a:bodyPr wrap="square" lIns="0" tIns="0" rIns="0" bIns="0" anchor="t">
            <a:spAutoFit/>
          </a:bodyPr>
          <a:lstStyle/>
          <a:p>
            <a:pPr marL="201168" indent="-201168" algn="l">
              <a:spcAft>
                <a:spcPts val="300"/>
              </a:spcAft>
              <a:buClr>
                <a:srgbClr val="B8862F"/>
              </a:buClr>
              <a:buFont typeface="Arial"/>
              <a:buChar char="•"/>
            </a:pPr>
            <a:r>
              <a:rPr lang="en-US" sz="1400" b="0" i="0">
                <a:solidFill>
                  <a:srgbClr val="22211F"/>
                </a:solidFill>
                <a:latin typeface="Calibri"/>
              </a:rPr>
              <a:t>Totals are rough, one country at a time</a:t>
            </a:r>
          </a:p>
          <a:p>
            <a:pPr marL="201168" indent="-201168" algn="l">
              <a:spcAft>
                <a:spcPts val="300"/>
              </a:spcAft>
              <a:buClr>
                <a:srgbClr val="B8862F"/>
              </a:buClr>
              <a:buFont typeface="Arial"/>
              <a:buChar char="•"/>
            </a:pPr>
            <a:r>
              <a:rPr lang="en-US" sz="1400" b="0" i="0">
                <a:solidFill>
                  <a:srgbClr val="22211F"/>
                </a:solidFill>
                <a:latin typeface="Calibri"/>
              </a:rPr>
              <a:t>Evidence comes mainly from 2010 onward</a:t>
            </a:r>
          </a:p>
          <a:p>
            <a:pPr marL="201168" indent="-201168" algn="l">
              <a:spcAft>
                <a:spcPts val="300"/>
              </a:spcAft>
              <a:buClr>
                <a:srgbClr val="B8862F"/>
              </a:buClr>
              <a:buFont typeface="Arial"/>
              <a:buChar char="•"/>
            </a:pPr>
            <a:r>
              <a:rPr lang="en-US" sz="1400" b="0" i="0">
                <a:solidFill>
                  <a:srgbClr val="22211F"/>
                </a:solidFill>
                <a:latin typeface="Calibri"/>
              </a:rPr>
              <a:t>Rich-versus-poor comparison is less precise</a:t>
            </a:r>
          </a:p>
        </p:txBody>
      </p:sp>
      <p:cxnSp>
        <p:nvCxnSpPr>
          <p:cNvPr id="22" name="Connector 21"/>
          <p:cNvCxnSpPr/>
          <p:nvPr/>
        </p:nvCxnSpPr>
        <p:spPr>
          <a:xfrm>
            <a:off x="7452360" y="4754880"/>
            <a:ext cx="4096512" cy="0"/>
          </a:xfrm>
          <a:prstGeom prst="line">
            <a:avLst/>
          </a:prstGeom>
          <a:ln w="9525">
            <a:solidFill>
              <a:srgbClr val="D9D5C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52360" y="4892040"/>
            <a:ext cx="4114800" cy="274320"/>
          </a:xfrm>
          <a:prstGeom prst="rect">
            <a:avLst/>
          </a:prstGeom>
          <a:noFill/>
        </p:spPr>
        <p:txBody>
          <a:bodyPr wrap="square" lIns="0" tIns="0" rIns="0" bIns="0" anchor="t">
            <a:spAutoFit/>
          </a:bodyPr>
          <a:lstStyle/>
          <a:p>
            <a:pPr algn="l">
              <a:spcAft>
                <a:spcPts val="600"/>
              </a:spcAft>
            </a:pPr>
            <a:r>
              <a:rPr lang="en-US" sz="1050" b="1" i="0" spc="100">
                <a:solidFill>
                  <a:srgbClr val="6F6A62"/>
                </a:solidFill>
                <a:latin typeface="Calibri"/>
              </a:rPr>
              <a:t>NEXT</a:t>
            </a:r>
          </a:p>
        </p:txBody>
      </p:sp>
      <p:sp>
        <p:nvSpPr>
          <p:cNvPr id="24" name="TextBox 23"/>
          <p:cNvSpPr txBox="1"/>
          <p:nvPr/>
        </p:nvSpPr>
        <p:spPr>
          <a:xfrm>
            <a:off x="7452360" y="5166360"/>
            <a:ext cx="4114800" cy="914400"/>
          </a:xfrm>
          <a:prstGeom prst="rect">
            <a:avLst/>
          </a:prstGeom>
          <a:noFill/>
        </p:spPr>
        <p:txBody>
          <a:bodyPr wrap="square" lIns="0" tIns="0" rIns="0" bIns="0" anchor="t">
            <a:spAutoFit/>
          </a:bodyPr>
          <a:lstStyle/>
          <a:p>
            <a:pPr marL="201168" indent="-201168" algn="l">
              <a:spcAft>
                <a:spcPts val="300"/>
              </a:spcAft>
              <a:buClr>
                <a:srgbClr val="B8862F"/>
              </a:buClr>
              <a:buFont typeface="Arial"/>
              <a:buChar char="•"/>
            </a:pPr>
            <a:r>
              <a:rPr lang="en-US" sz="1400" b="0" i="0">
                <a:solidFill>
                  <a:srgbClr val="22211F"/>
                </a:solidFill>
                <a:latin typeface="Calibri"/>
              </a:rPr>
              <a:t>Trade between country pairs (gravity)</a:t>
            </a:r>
          </a:p>
          <a:p>
            <a:pPr marL="201168" indent="-201168" algn="l">
              <a:spcAft>
                <a:spcPts val="300"/>
              </a:spcAft>
              <a:buClr>
                <a:srgbClr val="B8862F"/>
              </a:buClr>
              <a:buFont typeface="Arial"/>
              <a:buChar char="•"/>
            </a:pPr>
            <a:r>
              <a:rPr lang="en-US" sz="1400" b="0" i="0">
                <a:solidFill>
                  <a:srgbClr val="22211F"/>
                </a:solidFill>
                <a:latin typeface="Calibri"/>
              </a:rPr>
              <a:t>A full model where prices and partners adjust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F3A32"/>
        </a:solidFill>
        <a:effectLst/>
      </p:bgPr>
    </p:bg>
    <p:spTree>
      <p:nvGrpSpPr>
        <p:cNvPr id="1" name=""/>
        <p:cNvGrpSpPr/>
        <p:nvPr/>
      </p:nvGrpSpPr>
      <p:grpSpPr>
        <a:xfrm>
          <a:off x="0" y="0"/>
          <a:ext cx="0" cy="0"/>
          <a:chOff x="0" y="0"/>
          <a:chExt cx="0" cy="0"/>
        </a:xfrm>
      </p:grpSpPr>
      <p:pic>
        <p:nvPicPr>
          <p:cNvPr id="2" name="Picture 1" descr="title_airports_2024.png"/>
          <p:cNvPicPr>
            <a:picLocks noChangeAspect="1"/>
          </p:cNvPicPr>
          <p:nvPr/>
        </p:nvPicPr>
        <p:blipFill>
          <a:blip r:embed="rId3">
            <a:alphaModFix amt="55000"/>
          </a:blip>
          <a:stretch>
            <a:fillRect/>
          </a:stretch>
        </p:blipFill>
        <p:spPr>
          <a:xfrm>
            <a:off x="0" y="0"/>
            <a:ext cx="12191695" cy="6858000"/>
          </a:xfrm>
          <a:prstGeom prst="rect">
            <a:avLst/>
          </a:prstGeom>
        </p:spPr>
      </p:pic>
      <p:sp>
        <p:nvSpPr>
          <p:cNvPr id="3" name="TextBox 2"/>
          <p:cNvSpPr txBox="1"/>
          <p:nvPr/>
        </p:nvSpPr>
        <p:spPr>
          <a:xfrm>
            <a:off x="822960" y="2103120"/>
            <a:ext cx="7315200" cy="1097280"/>
          </a:xfrm>
          <a:prstGeom prst="rect">
            <a:avLst/>
          </a:prstGeom>
          <a:noFill/>
        </p:spPr>
        <p:txBody>
          <a:bodyPr wrap="square" lIns="0" tIns="0" rIns="0" bIns="0" anchor="t">
            <a:spAutoFit/>
          </a:bodyPr>
          <a:lstStyle/>
          <a:p>
            <a:pPr algn="l">
              <a:spcAft>
                <a:spcPts val="600"/>
              </a:spcAft>
            </a:pPr>
            <a:r>
              <a:rPr lang="en-US" sz="5400" b="0" i="0">
                <a:solidFill>
                  <a:srgbClr val="FFFFFF"/>
                </a:solidFill>
                <a:latin typeface="Georgia"/>
              </a:rPr>
              <a:t>Thank you</a:t>
            </a:r>
          </a:p>
        </p:txBody>
      </p:sp>
      <p:sp>
        <p:nvSpPr>
          <p:cNvPr id="4" name="TextBox 3"/>
          <p:cNvSpPr txBox="1"/>
          <p:nvPr/>
        </p:nvSpPr>
        <p:spPr>
          <a:xfrm>
            <a:off x="822960" y="3246120"/>
            <a:ext cx="6858000" cy="548640"/>
          </a:xfrm>
          <a:prstGeom prst="rect">
            <a:avLst/>
          </a:prstGeom>
          <a:noFill/>
        </p:spPr>
        <p:txBody>
          <a:bodyPr wrap="square" lIns="0" tIns="0" rIns="0" bIns="0" anchor="t">
            <a:spAutoFit/>
          </a:bodyPr>
          <a:lstStyle/>
          <a:p>
            <a:pPr algn="l">
              <a:spcAft>
                <a:spcPts val="600"/>
              </a:spcAft>
            </a:pPr>
            <a:r>
              <a:rPr lang="en-US" sz="1900" b="0" i="1">
                <a:solidFill>
                  <a:srgbClr val="C9D6CF"/>
                </a:solidFill>
                <a:latin typeface="Calibri"/>
              </a:rPr>
              <a:t>Global Air Connectivity and Trade Openness, 1996–2024</a:t>
            </a:r>
          </a:p>
        </p:txBody>
      </p:sp>
      <p:sp>
        <p:nvSpPr>
          <p:cNvPr id="5" name="TextBox 4"/>
          <p:cNvSpPr txBox="1"/>
          <p:nvPr/>
        </p:nvSpPr>
        <p:spPr>
          <a:xfrm>
            <a:off x="822960" y="4069080"/>
            <a:ext cx="7498079" cy="731520"/>
          </a:xfrm>
          <a:prstGeom prst="rect">
            <a:avLst/>
          </a:prstGeom>
          <a:noFill/>
        </p:spPr>
        <p:txBody>
          <a:bodyPr wrap="square" lIns="0" tIns="0" rIns="0" bIns="0" anchor="t">
            <a:spAutoFit/>
          </a:bodyPr>
          <a:lstStyle/>
          <a:p>
            <a:pPr algn="l">
              <a:lnSpc>
                <a:spcPct val="110000"/>
              </a:lnSpc>
              <a:spcAft>
                <a:spcPts val="600"/>
              </a:spcAft>
            </a:pPr>
            <a:r>
              <a:rPr lang="en-US" sz="1400" b="0" i="0">
                <a:solidFill>
                  <a:srgbClr val="FFFFFF"/>
                </a:solidFill>
                <a:latin typeface="Calibri"/>
              </a:rPr>
              <a:t>Sunbin YOO, Junya KUMAGAI, Longfei ZHENG, Chunan WANG, Jinwoo LEE, Anming ZHANG</a:t>
            </a:r>
          </a:p>
        </p:txBody>
      </p:sp>
      <p:sp>
        <p:nvSpPr>
          <p:cNvPr id="6" name="TextBox 5"/>
          <p:cNvSpPr txBox="1"/>
          <p:nvPr/>
        </p:nvSpPr>
        <p:spPr>
          <a:xfrm>
            <a:off x="822960" y="5029200"/>
            <a:ext cx="6400800" cy="365760"/>
          </a:xfrm>
          <a:prstGeom prst="rect">
            <a:avLst/>
          </a:prstGeom>
          <a:noFill/>
        </p:spPr>
        <p:txBody>
          <a:bodyPr wrap="square" lIns="0" tIns="0" rIns="0" bIns="0" anchor="t">
            <a:spAutoFit/>
          </a:bodyPr>
          <a:lstStyle/>
          <a:p>
            <a:pPr algn="l">
              <a:spcAft>
                <a:spcPts val="600"/>
              </a:spcAft>
            </a:pPr>
            <a:r>
              <a:rPr lang="en-US" sz="1500" b="0" i="0">
                <a:solidFill>
                  <a:srgbClr val="B8862F"/>
                </a:solidFill>
                <a:latin typeface="Calibri"/>
              </a:rPr>
              <a:t>Comments and questions are very welcome.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8229600" cy="274320"/>
          </a:xfrm>
          <a:prstGeom prst="rect">
            <a:avLst/>
          </a:prstGeom>
          <a:noFill/>
        </p:spPr>
        <p:txBody>
          <a:bodyPr wrap="square" lIns="0" rIns="0" tIns="0" bIns="0" anchor="t">
            <a:spAutoFit/>
          </a:bodyPr>
          <a:lstStyle/>
          <a:p>
            <a:pPr algn="l">
              <a:spcAft>
                <a:spcPts val="600"/>
              </a:spcAft>
            </a:pPr>
            <a:r>
              <a:rPr sz="1050" b="1" i="0" spc="120" lang="en-US">
                <a:solidFill>
                  <a:srgbClr val="B8862F"/>
                </a:solidFill>
                <a:latin typeface="Calibri"/>
              </a:rPr>
              <a:t>WHY AVIATION</a:t>
            </a:r>
          </a:p>
        </p:txBody>
      </p:sp>
      <p:sp>
        <p:nvSpPr>
          <p:cNvPr id="3" name="TextBox 2"/>
          <p:cNvSpPr txBox="1"/>
          <p:nvPr/>
        </p:nvSpPr>
        <p:spPr>
          <a:xfrm>
            <a:off x="640080" y="603504"/>
            <a:ext cx="10911535" cy="1005840"/>
          </a:xfrm>
          <a:prstGeom prst="rect">
            <a:avLst/>
          </a:prstGeom>
          <a:noFill/>
        </p:spPr>
        <p:txBody>
          <a:bodyPr wrap="square" lIns="0" rIns="0" tIns="0" bIns="0" anchor="t">
            <a:spAutoFit/>
          </a:bodyPr>
          <a:lstStyle/>
          <a:p>
            <a:pPr algn="l">
              <a:lnSpc>
                <a:spcPct val="95000"/>
              </a:lnSpc>
              <a:spcAft>
                <a:spcPts val="600"/>
              </a:spcAft>
            </a:pPr>
            <a:r>
              <a:rPr sz="2800" b="0" i="0" lang="en-US">
                <a:solidFill>
                  <a:srgbClr val="22211F"/>
                </a:solidFill>
                <a:latin typeface="Georgia"/>
              </a:rPr>
              <a:t>Why aviation? One global network, rebuilt every year and recorded seat by seat</a:t>
            </a:r>
          </a:p>
        </p:txBody>
      </p:sp>
      <p:sp>
        <p:nvSpPr>
          <p:cNvPr id="4" name="TextBox 3"/>
          <p:cNvSpPr txBox="1"/>
          <p:nvPr/>
        </p:nvSpPr>
        <p:spPr>
          <a:xfrm>
            <a:off x="11094415" y="6446520"/>
            <a:ext cx="548640" cy="274320"/>
          </a:xfrm>
          <a:prstGeom prst="rect">
            <a:avLst/>
          </a:prstGeom>
          <a:noFill/>
        </p:spPr>
        <p:txBody>
          <a:bodyPr wrap="square" lIns="0" rIns="0" tIns="0" bIns="0" anchor="t">
            <a:spAutoFit/>
          </a:bodyPr>
          <a:lstStyle/>
          <a:p>
            <a:pPr algn="r">
              <a:spcAft>
                <a:spcPts val="600"/>
              </a:spcAft>
            </a:pPr>
            <a:r>
              <a:rPr sz="1000" b="0" i="0" lang="en-US">
                <a:solidFill>
                  <a:srgbClr val="6F6A62"/>
                </a:solidFill>
                <a:latin typeface="Calibri"/>
              </a:rPr>
              <a:t>4</a:t>
            </a:r>
          </a:p>
        </p:txBody>
      </p:sp>
      <p:sp>
        <p:nvSpPr>
          <p:cNvPr id="5" name="TextBox 4"/>
          <p:cNvSpPr txBox="1"/>
          <p:nvPr/>
        </p:nvSpPr>
        <p:spPr>
          <a:xfrm>
            <a:off x="640080" y="1810512"/>
            <a:ext cx="4572000" cy="274320"/>
          </a:xfrm>
          <a:prstGeom prst="rect">
            <a:avLst/>
          </a:prstGeom>
          <a:noFill/>
        </p:spPr>
        <p:txBody>
          <a:bodyPr wrap="square" lIns="0" rIns="0" tIns="0" bIns="0" anchor="t">
            <a:spAutoFit/>
          </a:bodyPr>
          <a:lstStyle/>
          <a:p>
            <a:pPr algn="l">
              <a:spcAft>
                <a:spcPts val="600"/>
              </a:spcAft>
            </a:pPr>
            <a:r>
              <a:rPr sz="1050" b="1" i="0" spc="100" lang="en-US">
                <a:solidFill>
                  <a:srgbClr val="6F6A62"/>
                </a:solidFill>
                <a:latin typeface="Calibri"/>
              </a:rPr>
              <a:t>SHOCKS HIT EVERYWHERE AT ONCE</a:t>
            </a:r>
          </a:p>
        </p:txBody>
      </p:sp>
      <p:sp>
        <p:nvSpPr>
          <p:cNvPr id="6" name="TextBox 5"/>
          <p:cNvSpPr txBox="1"/>
          <p:nvPr/>
        </p:nvSpPr>
        <p:spPr>
          <a:xfrm>
            <a:off x="640080" y="2048256"/>
            <a:ext cx="5943600" cy="274320"/>
          </a:xfrm>
          <a:prstGeom prst="rect">
            <a:avLst/>
          </a:prstGeom>
          <a:noFill/>
        </p:spPr>
        <p:txBody>
          <a:bodyPr wrap="square" lIns="0" rIns="0" tIns="0" bIns="0" anchor="t">
            <a:spAutoFit/>
          </a:bodyPr>
          <a:lstStyle/>
          <a:p>
            <a:pPr algn="l">
              <a:spcAft>
                <a:spcPts val="600"/>
              </a:spcAft>
            </a:pPr>
            <a:r>
              <a:rPr sz="1300" b="0" i="0" lang="en-US">
                <a:solidFill>
                  <a:srgbClr val="6F6A62"/>
                </a:solidFill>
                <a:latin typeface="Calibri"/>
              </a:rPr>
              <a:t>World scheduled seats, 2019 = 100</a:t>
            </a:r>
          </a:p>
        </p:txBody>
      </p:sp>
      <p:graphicFrame>
        <p:nvGraphicFramePr>
          <p:cNvPr id="7" name="Chart 6"/>
          <p:cNvGraphicFramePr>
            <a:graphicFrameLocks noGrp="1"/>
          </p:cNvGraphicFramePr>
          <p:nvPr/>
        </p:nvGraphicFramePr>
        <p:xfrm>
          <a:off x="548640" y="2286000"/>
          <a:ext cx="6355080" cy="2560320"/>
        </p:xfrm>
        <a:graphic>
          <a:graphicData uri="http://schemas.openxmlformats.org/drawingml/2006/chart">
            <c:chart xmlns:c="http://schemas.openxmlformats.org/drawingml/2006/chart" r:id="rId2"/>
          </a:graphicData>
        </a:graphic>
      </p:graphicFrame>
      <p:sp>
        <p:nvSpPr>
          <p:cNvPr id="8" name="TextBox 7"/>
          <p:cNvSpPr txBox="1"/>
          <p:nvPr/>
        </p:nvSpPr>
        <p:spPr>
          <a:xfrm>
            <a:off x="7360920" y="1810512"/>
            <a:ext cx="4572000" cy="274320"/>
          </a:xfrm>
          <a:prstGeom prst="rect">
            <a:avLst/>
          </a:prstGeom>
          <a:noFill/>
        </p:spPr>
        <p:txBody>
          <a:bodyPr wrap="square" lIns="0" rIns="0" tIns="0" bIns="0" anchor="t">
            <a:spAutoFit/>
          </a:bodyPr>
          <a:lstStyle/>
          <a:p>
            <a:pPr algn="l">
              <a:spcAft>
                <a:spcPts val="600"/>
              </a:spcAft>
            </a:pPr>
            <a:r>
              <a:rPr sz="1050" b="1" i="0" spc="100" lang="en-US">
                <a:solidFill>
                  <a:srgbClr val="6F6A62"/>
                </a:solidFill>
                <a:latin typeface="Calibri"/>
              </a:rPr>
              <a:t>AIRPORTS COME AND GO</a:t>
            </a:r>
          </a:p>
        </p:txBody>
      </p:sp>
      <p:sp>
        <p:nvSpPr>
          <p:cNvPr id="9" name="Rectangle 8"/>
          <p:cNvSpPr/>
          <p:nvPr/>
        </p:nvSpPr>
        <p:spPr>
          <a:xfrm>
            <a:off x="7360920" y="2157984"/>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360920" y="2364638"/>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360920" y="2571292"/>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360920" y="2777947"/>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360920" y="2984601"/>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567574" y="2157984"/>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567574" y="2364638"/>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567574" y="2571292"/>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567574" y="2777947"/>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567574" y="2984601"/>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4228" y="2157984"/>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774228" y="2364638"/>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774228" y="2571292"/>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4228" y="2777947"/>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4228" y="2984601"/>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980883" y="2157984"/>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980883" y="2364638"/>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7980883" y="2571292"/>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980883" y="2777947"/>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980883" y="2984601"/>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187537" y="2157984"/>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8187537" y="2364638"/>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187537" y="2571292"/>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8187537" y="2777947"/>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8187537" y="2984601"/>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394192" y="2157984"/>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8394192" y="2364638"/>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8394192" y="2571292"/>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8394192" y="2777947"/>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8394192" y="2984601"/>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8600846" y="2157984"/>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600846" y="2364638"/>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8600846" y="2571292"/>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600846" y="2777947"/>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8600846" y="2984601"/>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8807500" y="2157984"/>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8807500" y="2364638"/>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8807500" y="2571292"/>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807500" y="2777947"/>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807500" y="2984601"/>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014155" y="2157984"/>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9014155" y="2364638"/>
            <a:ext cx="173736" cy="173736"/>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014155" y="2571292"/>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014155" y="2777947"/>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9014155" y="2984601"/>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9220809" y="2157984"/>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9220809" y="2364638"/>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9220809" y="2571292"/>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9220809" y="2777947"/>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9220809" y="2984601"/>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9427464" y="2157984"/>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9427464" y="2364638"/>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9427464" y="2571292"/>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9427464" y="2777947"/>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9427464" y="2984601"/>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9634118" y="2157984"/>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9634118" y="2364638"/>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9634118" y="2571292"/>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9634118" y="2777947"/>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9634118" y="2984601"/>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9840772" y="2157984"/>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9840772" y="2364638"/>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9840772" y="2571292"/>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9840772" y="2777947"/>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9840772" y="2984601"/>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0047427" y="2157984"/>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0047427" y="2364638"/>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0047427" y="2571292"/>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0047427" y="2777947"/>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10047427" y="2984601"/>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0254081" y="2157984"/>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10254081" y="2364638"/>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10254081" y="2571292"/>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10254081" y="2777947"/>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10254081" y="2984601"/>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10460736" y="2157984"/>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10460736" y="2364638"/>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10460736" y="2571292"/>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10460736" y="2777947"/>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10460736" y="2984601"/>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10667390" y="2157984"/>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10667390" y="2364638"/>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10667390" y="2571292"/>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10667390" y="2777947"/>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10667390" y="2984601"/>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10874044" y="2157984"/>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10874044" y="2364638"/>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10874044" y="2571292"/>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10874044" y="2777947"/>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10874044" y="2984601"/>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11080699" y="2157984"/>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11080699" y="2364638"/>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11080699" y="2571292"/>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11080699" y="2777947"/>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11080699" y="2984601"/>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11287353" y="2157984"/>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11287353" y="2364638"/>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11287353" y="2571292"/>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11287353" y="2777947"/>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11287353" y="2984601"/>
            <a:ext cx="173736" cy="173736"/>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7360920" y="3401568"/>
            <a:ext cx="146304" cy="14630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7598664" y="3337560"/>
            <a:ext cx="3931920" cy="274320"/>
          </a:xfrm>
          <a:prstGeom prst="rect">
            <a:avLst/>
          </a:prstGeom>
          <a:noFill/>
        </p:spPr>
        <p:txBody>
          <a:bodyPr wrap="square" lIns="0" rIns="0" tIns="0" bIns="0" anchor="t">
            <a:spAutoFit/>
          </a:bodyPr>
          <a:lstStyle/>
          <a:p>
            <a:pPr algn="l">
              <a:spcAft>
                <a:spcPts val="600"/>
              </a:spcAft>
            </a:pPr>
            <a:r>
              <a:rPr sz="1350" b="1" i="0" lang="en-US">
                <a:solidFill>
                  <a:srgbClr val="22211F"/>
                </a:solidFill>
                <a:latin typeface="Calibri"/>
              </a:rPr>
              <a:t>2,253</a:t>
            </a:r>
            <a:r>
              <a:rPr sz="1350" b="0" i="0" lang="en-US">
                <a:solidFill>
                  <a:srgbClr val="22211F"/>
                </a:solidFill>
                <a:latin typeface="Calibri"/>
              </a:rPr>
              <a:t> served in all 29 years</a:t>
            </a:r>
          </a:p>
        </p:txBody>
      </p:sp>
      <p:sp>
        <p:nvSpPr>
          <p:cNvPr id="111" name="Rectangle 110"/>
          <p:cNvSpPr/>
          <p:nvPr/>
        </p:nvSpPr>
        <p:spPr>
          <a:xfrm>
            <a:off x="7360920" y="3721608"/>
            <a:ext cx="146304" cy="146304"/>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7598664" y="3657600"/>
            <a:ext cx="3931920" cy="274320"/>
          </a:xfrm>
          <a:prstGeom prst="rect">
            <a:avLst/>
          </a:prstGeom>
          <a:noFill/>
        </p:spPr>
        <p:txBody>
          <a:bodyPr wrap="square" lIns="0" rIns="0" tIns="0" bIns="0" anchor="t">
            <a:spAutoFit/>
          </a:bodyPr>
          <a:lstStyle/>
          <a:p>
            <a:pPr algn="l">
              <a:spcAft>
                <a:spcPts val="600"/>
              </a:spcAft>
            </a:pPr>
            <a:r>
              <a:rPr sz="1350" b="1" i="0" lang="en-US">
                <a:solidFill>
                  <a:srgbClr val="22211F"/>
                </a:solidFill>
                <a:latin typeface="Calibri"/>
              </a:rPr>
              <a:t>3,175</a:t>
            </a:r>
            <a:r>
              <a:rPr sz="1350" b="0" i="0" lang="en-US">
                <a:solidFill>
                  <a:srgbClr val="22211F"/>
                </a:solidFill>
                <a:latin typeface="Calibri"/>
              </a:rPr>
              <a:t> opened, closed or paused along the way</a:t>
            </a:r>
          </a:p>
        </p:txBody>
      </p:sp>
      <p:sp>
        <p:nvSpPr>
          <p:cNvPr id="113" name="TextBox 112"/>
          <p:cNvSpPr txBox="1"/>
          <p:nvPr/>
        </p:nvSpPr>
        <p:spPr>
          <a:xfrm>
            <a:off x="7360920" y="4087368"/>
            <a:ext cx="4160520" cy="548640"/>
          </a:xfrm>
          <a:prstGeom prst="rect">
            <a:avLst/>
          </a:prstGeom>
          <a:noFill/>
        </p:spPr>
        <p:txBody>
          <a:bodyPr wrap="square" lIns="0" rIns="0" tIns="0" bIns="0" anchor="t">
            <a:spAutoFit/>
          </a:bodyPr>
          <a:lstStyle/>
          <a:p>
            <a:pPr algn="l">
              <a:lnSpc>
                <a:spcPct val="102000"/>
              </a:lnSpc>
              <a:spcAft>
                <a:spcPts val="600"/>
              </a:spcAft>
            </a:pPr>
            <a:r>
              <a:rPr sz="1200" b="0" i="1" lang="en-US">
                <a:solidFill>
                  <a:srgbClr val="6F6A62"/>
                </a:solidFill>
                <a:latin typeface="Calibri"/>
              </a:rPr>
              <a:t>5,428 airports had scheduled flights in at least one year since 1996. One square is about 54 airports.</a:t>
            </a:r>
          </a:p>
        </p:txBody>
      </p:sp>
      <p:sp>
        <p:nvSpPr>
          <p:cNvPr id="114" name="TextBox 113"/>
          <p:cNvSpPr txBox="1"/>
          <p:nvPr/>
        </p:nvSpPr>
        <p:spPr>
          <a:xfrm>
            <a:off x="640080" y="5029200"/>
            <a:ext cx="4572000" cy="274320"/>
          </a:xfrm>
          <a:prstGeom prst="rect">
            <a:avLst/>
          </a:prstGeom>
          <a:noFill/>
        </p:spPr>
        <p:txBody>
          <a:bodyPr wrap="square" lIns="0" rIns="0" tIns="0" bIns="0" anchor="t">
            <a:spAutoFit/>
          </a:bodyPr>
          <a:lstStyle/>
          <a:p>
            <a:pPr algn="l">
              <a:spcAft>
                <a:spcPts val="600"/>
              </a:spcAft>
            </a:pPr>
            <a:r>
              <a:rPr sz="1050" b="1" i="0" spc="100" lang="en-US">
                <a:solidFill>
                  <a:srgbClr val="6F6A62"/>
                </a:solidFill>
                <a:latin typeface="Calibri"/>
              </a:rPr>
              <a:t>NUMBER ONE AIRPORT, EACH YEAR</a:t>
            </a:r>
          </a:p>
        </p:txBody>
      </p:sp>
      <p:sp>
        <p:nvSpPr>
          <p:cNvPr id="115" name="TextBox 114"/>
          <p:cNvSpPr txBox="1"/>
          <p:nvPr/>
        </p:nvSpPr>
        <p:spPr>
          <a:xfrm>
            <a:off x="6522415" y="5001768"/>
            <a:ext cx="5029200" cy="274320"/>
          </a:xfrm>
          <a:prstGeom prst="rect">
            <a:avLst/>
          </a:prstGeom>
          <a:noFill/>
        </p:spPr>
        <p:txBody>
          <a:bodyPr wrap="square" lIns="0" rIns="0" tIns="0" bIns="0" anchor="t">
            <a:spAutoFit/>
          </a:bodyPr>
          <a:lstStyle/>
          <a:p>
            <a:pPr algn="r">
              <a:spcAft>
                <a:spcPts val="600"/>
              </a:spcAft>
            </a:pPr>
            <a:r>
              <a:rPr sz="1250" b="0" i="1" lang="en-US">
                <a:solidFill>
                  <a:srgbClr val="6F6A62"/>
                </a:solidFill>
                <a:latin typeface="Calibri"/>
              </a:rPr>
              <a:t>Six airports have held the top spot</a:t>
            </a:r>
          </a:p>
        </p:txBody>
      </p:sp>
      <p:sp>
        <p:nvSpPr>
          <p:cNvPr id="116" name="Rectangle 115"/>
          <p:cNvSpPr/>
          <p:nvPr/>
        </p:nvSpPr>
        <p:spPr>
          <a:xfrm>
            <a:off x="653796" y="5321808"/>
            <a:ext cx="348827" cy="420624"/>
          </a:xfrm>
          <a:prstGeom prst="rect">
            <a:avLst/>
          </a:prstGeom>
          <a:solidFill>
            <a:srgbClr val="7F9A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LAX</a:t>
            </a:r>
          </a:p>
        </p:txBody>
      </p:sp>
      <p:sp>
        <p:nvSpPr>
          <p:cNvPr id="117" name="TextBox 116"/>
          <p:cNvSpPr txBox="1"/>
          <p:nvPr/>
        </p:nvSpPr>
        <p:spPr>
          <a:xfrm>
            <a:off x="457199" y="5769864"/>
            <a:ext cx="742019" cy="228600"/>
          </a:xfrm>
          <a:prstGeom prst="rect">
            <a:avLst/>
          </a:prstGeom>
          <a:noFill/>
        </p:spPr>
        <p:txBody>
          <a:bodyPr wrap="square" lIns="0" rIns="0" tIns="0" bIns="0" anchor="t">
            <a:spAutoFit/>
          </a:bodyPr>
          <a:lstStyle/>
          <a:p>
            <a:pPr algn="ctr">
              <a:spcAft>
                <a:spcPts val="600"/>
              </a:spcAft>
            </a:pPr>
            <a:r>
              <a:rPr sz="1100" b="0" i="0" lang="en-US">
                <a:solidFill>
                  <a:srgbClr val="6F6A62"/>
                </a:solidFill>
                <a:latin typeface="Calibri"/>
              </a:rPr>
              <a:t>1996</a:t>
            </a:r>
          </a:p>
        </p:txBody>
      </p:sp>
      <p:sp>
        <p:nvSpPr>
          <p:cNvPr id="118" name="Rectangle 117"/>
          <p:cNvSpPr/>
          <p:nvPr/>
        </p:nvSpPr>
        <p:spPr>
          <a:xfrm>
            <a:off x="1030055" y="5321808"/>
            <a:ext cx="348827" cy="42062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FRA</a:t>
            </a:r>
          </a:p>
        </p:txBody>
      </p:sp>
      <p:sp>
        <p:nvSpPr>
          <p:cNvPr id="119" name="Rectangle 118"/>
          <p:cNvSpPr/>
          <p:nvPr/>
        </p:nvSpPr>
        <p:spPr>
          <a:xfrm>
            <a:off x="1406315" y="5321808"/>
            <a:ext cx="348827" cy="420624"/>
          </a:xfrm>
          <a:prstGeom prst="rect">
            <a:avLst/>
          </a:prstGeom>
          <a:solidFill>
            <a:srgbClr val="7F9A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LAX</a:t>
            </a:r>
          </a:p>
        </p:txBody>
      </p:sp>
      <p:sp>
        <p:nvSpPr>
          <p:cNvPr id="120" name="Rectangle 119"/>
          <p:cNvSpPr/>
          <p:nvPr/>
        </p:nvSpPr>
        <p:spPr>
          <a:xfrm>
            <a:off x="1782575" y="5321808"/>
            <a:ext cx="348827" cy="420624"/>
          </a:xfrm>
          <a:prstGeom prst="rect">
            <a:avLst/>
          </a:prstGeom>
          <a:solidFill>
            <a:srgbClr val="7F9A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LAX</a:t>
            </a:r>
          </a:p>
        </p:txBody>
      </p:sp>
      <p:sp>
        <p:nvSpPr>
          <p:cNvPr id="121" name="Rectangle 120"/>
          <p:cNvSpPr/>
          <p:nvPr/>
        </p:nvSpPr>
        <p:spPr>
          <a:xfrm>
            <a:off x="2158835" y="5321808"/>
            <a:ext cx="348827" cy="420624"/>
          </a:xfrm>
          <a:prstGeom prst="rect">
            <a:avLst/>
          </a:prstGeom>
          <a:solidFill>
            <a:srgbClr val="7F9A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LAX</a:t>
            </a:r>
          </a:p>
        </p:txBody>
      </p:sp>
      <p:sp>
        <p:nvSpPr>
          <p:cNvPr id="122" name="TextBox 121"/>
          <p:cNvSpPr txBox="1"/>
          <p:nvPr/>
        </p:nvSpPr>
        <p:spPr>
          <a:xfrm>
            <a:off x="1962239" y="5769864"/>
            <a:ext cx="742019" cy="228600"/>
          </a:xfrm>
          <a:prstGeom prst="rect">
            <a:avLst/>
          </a:prstGeom>
          <a:noFill/>
        </p:spPr>
        <p:txBody>
          <a:bodyPr wrap="square" lIns="0" rIns="0" tIns="0" bIns="0" anchor="t">
            <a:spAutoFit/>
          </a:bodyPr>
          <a:lstStyle/>
          <a:p>
            <a:pPr algn="ctr">
              <a:spcAft>
                <a:spcPts val="600"/>
              </a:spcAft>
            </a:pPr>
            <a:r>
              <a:rPr sz="1100" b="0" i="0" lang="en-US">
                <a:solidFill>
                  <a:srgbClr val="6F6A62"/>
                </a:solidFill>
                <a:latin typeface="Calibri"/>
              </a:rPr>
              <a:t>2000</a:t>
            </a:r>
          </a:p>
        </p:txBody>
      </p:sp>
      <p:sp>
        <p:nvSpPr>
          <p:cNvPr id="123" name="Rectangle 122"/>
          <p:cNvSpPr/>
          <p:nvPr/>
        </p:nvSpPr>
        <p:spPr>
          <a:xfrm>
            <a:off x="2535095" y="5321808"/>
            <a:ext cx="348827" cy="420624"/>
          </a:xfrm>
          <a:prstGeom prst="rect">
            <a:avLst/>
          </a:prstGeom>
          <a:solidFill>
            <a:srgbClr val="7F9A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LAX</a:t>
            </a:r>
          </a:p>
        </p:txBody>
      </p:sp>
      <p:sp>
        <p:nvSpPr>
          <p:cNvPr id="124" name="Rectangle 123"/>
          <p:cNvSpPr/>
          <p:nvPr/>
        </p:nvSpPr>
        <p:spPr>
          <a:xfrm>
            <a:off x="2911355" y="5321808"/>
            <a:ext cx="348827" cy="42062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FRA</a:t>
            </a:r>
          </a:p>
        </p:txBody>
      </p:sp>
      <p:sp>
        <p:nvSpPr>
          <p:cNvPr id="125" name="Rectangle 124"/>
          <p:cNvSpPr/>
          <p:nvPr/>
        </p:nvSpPr>
        <p:spPr>
          <a:xfrm>
            <a:off x="3287614" y="5321808"/>
            <a:ext cx="348827" cy="42062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FRA</a:t>
            </a:r>
          </a:p>
        </p:txBody>
      </p:sp>
      <p:sp>
        <p:nvSpPr>
          <p:cNvPr id="126" name="Rectangle 125"/>
          <p:cNvSpPr/>
          <p:nvPr/>
        </p:nvSpPr>
        <p:spPr>
          <a:xfrm>
            <a:off x="3663874" y="5321808"/>
            <a:ext cx="348827" cy="42062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FRA</a:t>
            </a:r>
          </a:p>
        </p:txBody>
      </p:sp>
      <p:sp>
        <p:nvSpPr>
          <p:cNvPr id="127" name="Rectangle 126"/>
          <p:cNvSpPr/>
          <p:nvPr/>
        </p:nvSpPr>
        <p:spPr>
          <a:xfrm>
            <a:off x="4040134" y="5321808"/>
            <a:ext cx="348827" cy="42062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FRA</a:t>
            </a:r>
          </a:p>
        </p:txBody>
      </p:sp>
      <p:sp>
        <p:nvSpPr>
          <p:cNvPr id="128" name="TextBox 127"/>
          <p:cNvSpPr txBox="1"/>
          <p:nvPr/>
        </p:nvSpPr>
        <p:spPr>
          <a:xfrm>
            <a:off x="3843538" y="5769864"/>
            <a:ext cx="742019" cy="228600"/>
          </a:xfrm>
          <a:prstGeom prst="rect">
            <a:avLst/>
          </a:prstGeom>
          <a:noFill/>
        </p:spPr>
        <p:txBody>
          <a:bodyPr wrap="square" lIns="0" rIns="0" tIns="0" bIns="0" anchor="t">
            <a:spAutoFit/>
          </a:bodyPr>
          <a:lstStyle/>
          <a:p>
            <a:pPr algn="ctr">
              <a:spcAft>
                <a:spcPts val="600"/>
              </a:spcAft>
            </a:pPr>
            <a:r>
              <a:rPr sz="1100" b="0" i="0" lang="en-US">
                <a:solidFill>
                  <a:srgbClr val="6F6A62"/>
                </a:solidFill>
                <a:latin typeface="Calibri"/>
              </a:rPr>
              <a:t>2005</a:t>
            </a:r>
          </a:p>
        </p:txBody>
      </p:sp>
      <p:sp>
        <p:nvSpPr>
          <p:cNvPr id="129" name="Rectangle 128"/>
          <p:cNvSpPr/>
          <p:nvPr/>
        </p:nvSpPr>
        <p:spPr>
          <a:xfrm>
            <a:off x="4416394" y="5321808"/>
            <a:ext cx="348827" cy="42062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FRA</a:t>
            </a:r>
          </a:p>
        </p:txBody>
      </p:sp>
      <p:sp>
        <p:nvSpPr>
          <p:cNvPr id="130" name="Rectangle 129"/>
          <p:cNvSpPr/>
          <p:nvPr/>
        </p:nvSpPr>
        <p:spPr>
          <a:xfrm>
            <a:off x="4792654" y="5321808"/>
            <a:ext cx="348827" cy="42062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FRA</a:t>
            </a:r>
          </a:p>
        </p:txBody>
      </p:sp>
      <p:sp>
        <p:nvSpPr>
          <p:cNvPr id="131" name="Rectangle 130"/>
          <p:cNvSpPr/>
          <p:nvPr/>
        </p:nvSpPr>
        <p:spPr>
          <a:xfrm>
            <a:off x="5168914" y="5321808"/>
            <a:ext cx="348827" cy="420624"/>
          </a:xfrm>
          <a:prstGeom prst="rect">
            <a:avLst/>
          </a:prstGeom>
          <a:solidFill>
            <a:srgbClr val="7F9A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LAX</a:t>
            </a:r>
          </a:p>
        </p:txBody>
      </p:sp>
      <p:sp>
        <p:nvSpPr>
          <p:cNvPr id="132" name="Rectangle 131"/>
          <p:cNvSpPr/>
          <p:nvPr/>
        </p:nvSpPr>
        <p:spPr>
          <a:xfrm>
            <a:off x="5545173" y="5321808"/>
            <a:ext cx="348827" cy="420624"/>
          </a:xfrm>
          <a:prstGeom prst="rect">
            <a:avLst/>
          </a:prstGeom>
          <a:solidFill>
            <a:srgbClr val="7F9A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LAX</a:t>
            </a:r>
          </a:p>
        </p:txBody>
      </p:sp>
      <p:sp>
        <p:nvSpPr>
          <p:cNvPr id="133" name="Rectangle 132"/>
          <p:cNvSpPr/>
          <p:nvPr/>
        </p:nvSpPr>
        <p:spPr>
          <a:xfrm>
            <a:off x="5921433" y="5321808"/>
            <a:ext cx="348827" cy="42062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FRA</a:t>
            </a:r>
          </a:p>
        </p:txBody>
      </p:sp>
      <p:sp>
        <p:nvSpPr>
          <p:cNvPr id="134" name="TextBox 133"/>
          <p:cNvSpPr txBox="1"/>
          <p:nvPr/>
        </p:nvSpPr>
        <p:spPr>
          <a:xfrm>
            <a:off x="5724837" y="5769864"/>
            <a:ext cx="742019" cy="228600"/>
          </a:xfrm>
          <a:prstGeom prst="rect">
            <a:avLst/>
          </a:prstGeom>
          <a:noFill/>
        </p:spPr>
        <p:txBody>
          <a:bodyPr wrap="square" lIns="0" rIns="0" tIns="0" bIns="0" anchor="t">
            <a:spAutoFit/>
          </a:bodyPr>
          <a:lstStyle/>
          <a:p>
            <a:pPr algn="ctr">
              <a:spcAft>
                <a:spcPts val="600"/>
              </a:spcAft>
            </a:pPr>
            <a:r>
              <a:rPr sz="1100" b="0" i="0" lang="en-US">
                <a:solidFill>
                  <a:srgbClr val="6F6A62"/>
                </a:solidFill>
                <a:latin typeface="Calibri"/>
              </a:rPr>
              <a:t>2010</a:t>
            </a:r>
          </a:p>
        </p:txBody>
      </p:sp>
      <p:sp>
        <p:nvSpPr>
          <p:cNvPr id="135" name="Rectangle 134"/>
          <p:cNvSpPr/>
          <p:nvPr/>
        </p:nvSpPr>
        <p:spPr>
          <a:xfrm>
            <a:off x="6297693" y="5321808"/>
            <a:ext cx="348827" cy="42062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FRA</a:t>
            </a:r>
          </a:p>
        </p:txBody>
      </p:sp>
      <p:sp>
        <p:nvSpPr>
          <p:cNvPr id="136" name="Rectangle 135"/>
          <p:cNvSpPr/>
          <p:nvPr/>
        </p:nvSpPr>
        <p:spPr>
          <a:xfrm>
            <a:off x="6673953" y="5321808"/>
            <a:ext cx="348827" cy="42062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FRA</a:t>
            </a:r>
          </a:p>
        </p:txBody>
      </p:sp>
      <p:sp>
        <p:nvSpPr>
          <p:cNvPr id="137" name="Rectangle 136"/>
          <p:cNvSpPr/>
          <p:nvPr/>
        </p:nvSpPr>
        <p:spPr>
          <a:xfrm>
            <a:off x="7050213" y="5321808"/>
            <a:ext cx="348827" cy="420624"/>
          </a:xfrm>
          <a:prstGeom prst="rect">
            <a:avLst/>
          </a:prstGeom>
          <a:solidFill>
            <a:srgbClr val="7F9A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LAX</a:t>
            </a:r>
          </a:p>
        </p:txBody>
      </p:sp>
      <p:sp>
        <p:nvSpPr>
          <p:cNvPr id="138" name="Rectangle 137"/>
          <p:cNvSpPr/>
          <p:nvPr/>
        </p:nvSpPr>
        <p:spPr>
          <a:xfrm>
            <a:off x="7426473" y="5321808"/>
            <a:ext cx="348827" cy="420624"/>
          </a:xfrm>
          <a:prstGeom prst="rect">
            <a:avLst/>
          </a:prstGeom>
          <a:solidFill>
            <a:srgbClr val="8C877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CDG</a:t>
            </a:r>
          </a:p>
        </p:txBody>
      </p:sp>
      <p:sp>
        <p:nvSpPr>
          <p:cNvPr id="139" name="Rectangle 138"/>
          <p:cNvSpPr/>
          <p:nvPr/>
        </p:nvSpPr>
        <p:spPr>
          <a:xfrm>
            <a:off x="7802732" y="5321808"/>
            <a:ext cx="348827" cy="420624"/>
          </a:xfrm>
          <a:prstGeom prst="rect">
            <a:avLst/>
          </a:prstGeom>
          <a:solidFill>
            <a:srgbClr val="3F5A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PEK</a:t>
            </a:r>
          </a:p>
        </p:txBody>
      </p:sp>
      <p:sp>
        <p:nvSpPr>
          <p:cNvPr id="140" name="TextBox 139"/>
          <p:cNvSpPr txBox="1"/>
          <p:nvPr/>
        </p:nvSpPr>
        <p:spPr>
          <a:xfrm>
            <a:off x="7606136" y="5769864"/>
            <a:ext cx="742019" cy="228600"/>
          </a:xfrm>
          <a:prstGeom prst="rect">
            <a:avLst/>
          </a:prstGeom>
          <a:noFill/>
        </p:spPr>
        <p:txBody>
          <a:bodyPr wrap="square" lIns="0" rIns="0" tIns="0" bIns="0" anchor="t">
            <a:spAutoFit/>
          </a:bodyPr>
          <a:lstStyle/>
          <a:p>
            <a:pPr algn="ctr">
              <a:spcAft>
                <a:spcPts val="600"/>
              </a:spcAft>
            </a:pPr>
            <a:r>
              <a:rPr sz="1100" b="0" i="0" lang="en-US">
                <a:solidFill>
                  <a:srgbClr val="6F6A62"/>
                </a:solidFill>
                <a:latin typeface="Calibri"/>
              </a:rPr>
              <a:t>2015</a:t>
            </a:r>
          </a:p>
        </p:txBody>
      </p:sp>
      <p:sp>
        <p:nvSpPr>
          <p:cNvPr id="141" name="Rectangle 140"/>
          <p:cNvSpPr/>
          <p:nvPr/>
        </p:nvSpPr>
        <p:spPr>
          <a:xfrm>
            <a:off x="8178992" y="5321808"/>
            <a:ext cx="348827" cy="420624"/>
          </a:xfrm>
          <a:prstGeom prst="rect">
            <a:avLst/>
          </a:prstGeom>
          <a:solidFill>
            <a:srgbClr val="3F5A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PEK</a:t>
            </a:r>
          </a:p>
        </p:txBody>
      </p:sp>
      <p:sp>
        <p:nvSpPr>
          <p:cNvPr id="142" name="Rectangle 141"/>
          <p:cNvSpPr/>
          <p:nvPr/>
        </p:nvSpPr>
        <p:spPr>
          <a:xfrm>
            <a:off x="8555252" y="5321808"/>
            <a:ext cx="348827" cy="420624"/>
          </a:xfrm>
          <a:prstGeom prst="rect">
            <a:avLst/>
          </a:prstGeom>
          <a:solidFill>
            <a:srgbClr val="3F5A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PEK</a:t>
            </a:r>
          </a:p>
        </p:txBody>
      </p:sp>
      <p:sp>
        <p:nvSpPr>
          <p:cNvPr id="143" name="Rectangle 142"/>
          <p:cNvSpPr/>
          <p:nvPr/>
        </p:nvSpPr>
        <p:spPr>
          <a:xfrm>
            <a:off x="8931512" y="5321808"/>
            <a:ext cx="348827" cy="420624"/>
          </a:xfrm>
          <a:prstGeom prst="rect">
            <a:avLst/>
          </a:prstGeom>
          <a:solidFill>
            <a:srgbClr val="3F5A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PEK</a:t>
            </a:r>
          </a:p>
        </p:txBody>
      </p:sp>
      <p:sp>
        <p:nvSpPr>
          <p:cNvPr id="144" name="Rectangle 143"/>
          <p:cNvSpPr/>
          <p:nvPr/>
        </p:nvSpPr>
        <p:spPr>
          <a:xfrm>
            <a:off x="9307772" y="5321808"/>
            <a:ext cx="348827" cy="420624"/>
          </a:xfrm>
          <a:prstGeom prst="rect">
            <a:avLst/>
          </a:prstGeom>
          <a:solidFill>
            <a:srgbClr val="3F5A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PEK</a:t>
            </a:r>
          </a:p>
        </p:txBody>
      </p:sp>
      <p:sp>
        <p:nvSpPr>
          <p:cNvPr id="145" name="Rectangle 144"/>
          <p:cNvSpPr/>
          <p:nvPr/>
        </p:nvSpPr>
        <p:spPr>
          <a:xfrm>
            <a:off x="9684032" y="5321808"/>
            <a:ext cx="348827" cy="420624"/>
          </a:xfrm>
          <a:prstGeom prst="rect">
            <a:avLst/>
          </a:prstGeom>
          <a:solidFill>
            <a:srgbClr val="3F5A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PEK</a:t>
            </a:r>
          </a:p>
        </p:txBody>
      </p:sp>
      <p:sp>
        <p:nvSpPr>
          <p:cNvPr id="146" name="TextBox 145"/>
          <p:cNvSpPr txBox="1"/>
          <p:nvPr/>
        </p:nvSpPr>
        <p:spPr>
          <a:xfrm>
            <a:off x="9487436" y="5769864"/>
            <a:ext cx="742019" cy="228600"/>
          </a:xfrm>
          <a:prstGeom prst="rect">
            <a:avLst/>
          </a:prstGeom>
          <a:noFill/>
        </p:spPr>
        <p:txBody>
          <a:bodyPr wrap="square" lIns="0" rIns="0" tIns="0" bIns="0" anchor="t">
            <a:spAutoFit/>
          </a:bodyPr>
          <a:lstStyle/>
          <a:p>
            <a:pPr algn="ctr">
              <a:spcAft>
                <a:spcPts val="600"/>
              </a:spcAft>
            </a:pPr>
            <a:r>
              <a:rPr sz="1100" b="0" i="0" lang="en-US">
                <a:solidFill>
                  <a:srgbClr val="6F6A62"/>
                </a:solidFill>
                <a:latin typeface="Calibri"/>
              </a:rPr>
              <a:t>2020</a:t>
            </a:r>
          </a:p>
        </p:txBody>
      </p:sp>
      <p:sp>
        <p:nvSpPr>
          <p:cNvPr id="147" name="Rectangle 146"/>
          <p:cNvSpPr/>
          <p:nvPr/>
        </p:nvSpPr>
        <p:spPr>
          <a:xfrm>
            <a:off x="10060291" y="5321808"/>
            <a:ext cx="348827" cy="420624"/>
          </a:xfrm>
          <a:prstGeom prst="rect">
            <a:avLst/>
          </a:prstGeom>
          <a:solidFill>
            <a:srgbClr val="8FA2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CAN</a:t>
            </a:r>
          </a:p>
        </p:txBody>
      </p:sp>
      <p:sp>
        <p:nvSpPr>
          <p:cNvPr id="148" name="Rectangle 147"/>
          <p:cNvSpPr/>
          <p:nvPr/>
        </p:nvSpPr>
        <p:spPr>
          <a:xfrm>
            <a:off x="10436551" y="5321808"/>
            <a:ext cx="348827" cy="42062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FRA</a:t>
            </a:r>
          </a:p>
        </p:txBody>
      </p:sp>
      <p:sp>
        <p:nvSpPr>
          <p:cNvPr id="149" name="Rectangle 148"/>
          <p:cNvSpPr/>
          <p:nvPr/>
        </p:nvSpPr>
        <p:spPr>
          <a:xfrm>
            <a:off x="10812811" y="5321808"/>
            <a:ext cx="348827" cy="420624"/>
          </a:xfrm>
          <a:prstGeom prst="rect">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FRA</a:t>
            </a:r>
          </a:p>
        </p:txBody>
      </p:sp>
      <p:sp>
        <p:nvSpPr>
          <p:cNvPr id="150" name="Rectangle 149"/>
          <p:cNvSpPr/>
          <p:nvPr/>
        </p:nvSpPr>
        <p:spPr>
          <a:xfrm>
            <a:off x="11189071" y="5321808"/>
            <a:ext cx="348827" cy="420624"/>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DXB</a:t>
            </a:r>
          </a:p>
        </p:txBody>
      </p:sp>
      <p:sp>
        <p:nvSpPr>
          <p:cNvPr id="151" name="TextBox 150"/>
          <p:cNvSpPr txBox="1"/>
          <p:nvPr/>
        </p:nvSpPr>
        <p:spPr>
          <a:xfrm>
            <a:off x="10992475" y="5769864"/>
            <a:ext cx="742019" cy="228600"/>
          </a:xfrm>
          <a:prstGeom prst="rect">
            <a:avLst/>
          </a:prstGeom>
          <a:noFill/>
        </p:spPr>
        <p:txBody>
          <a:bodyPr wrap="square" lIns="0" rIns="0" tIns="0" bIns="0" anchor="t">
            <a:spAutoFit/>
          </a:bodyPr>
          <a:lstStyle/>
          <a:p>
            <a:pPr algn="ctr">
              <a:spcAft>
                <a:spcPts val="600"/>
              </a:spcAft>
            </a:pPr>
            <a:r>
              <a:rPr sz="1100" b="0" i="0" lang="en-US">
                <a:solidFill>
                  <a:srgbClr val="6F6A62"/>
                </a:solidFill>
                <a:latin typeface="Calibri"/>
              </a:rPr>
              <a:t>2024</a:t>
            </a:r>
          </a:p>
        </p:txBody>
      </p:sp>
      <p:sp>
        <p:nvSpPr>
          <p:cNvPr id="152" name="TextBox 151"/>
          <p:cNvSpPr txBox="1"/>
          <p:nvPr/>
        </p:nvSpPr>
        <p:spPr>
          <a:xfrm>
            <a:off x="640080" y="6428232"/>
            <a:ext cx="10424160" cy="320040"/>
          </a:xfrm>
          <a:prstGeom prst="rect">
            <a:avLst/>
          </a:prstGeom>
          <a:noFill/>
        </p:spPr>
        <p:txBody>
          <a:bodyPr wrap="square" lIns="0" rIns="0" tIns="0" bIns="0" anchor="t">
            <a:spAutoFit/>
          </a:bodyPr>
          <a:lstStyle/>
          <a:p>
            <a:pPr algn="l">
              <a:spcAft>
                <a:spcPts val="600"/>
              </a:spcAft>
            </a:pPr>
            <a:r>
              <a:rPr sz="1000" b="0" i="0" lang="en-US">
                <a:solidFill>
                  <a:srgbClr val="6F6A62"/>
                </a:solidFill>
                <a:latin typeface="Calibri"/>
              </a:rPr>
              <a:t>Seats: all scheduled seats, summed over airports. Airports: IATA codes with scheduled service in the GACI panel, 1996 to 2024. Number one: highest airport GACI in that year.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8229600" cy="274320"/>
          </a:xfrm>
          <a:prstGeom prst="rect">
            <a:avLst/>
          </a:prstGeom>
          <a:noFill/>
        </p:spPr>
        <p:txBody>
          <a:bodyPr wrap="square" lIns="0" rIns="0" tIns="0" bIns="0" anchor="t">
            <a:spAutoFit/>
          </a:bodyPr>
          <a:lstStyle/>
          <a:p>
            <a:pPr algn="l">
              <a:spcAft>
                <a:spcPts val="600"/>
              </a:spcAft>
            </a:pPr>
            <a:r>
              <a:rPr sz="1050" b="1" i="0" spc="120" lang="en-US">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rIns="0" tIns="0" bIns="0" anchor="t">
            <a:spAutoFit/>
          </a:bodyPr>
          <a:lstStyle/>
          <a:p>
            <a:pPr algn="l">
              <a:lnSpc>
                <a:spcPct val="95000"/>
              </a:lnSpc>
              <a:spcAft>
                <a:spcPts val="600"/>
              </a:spcAft>
            </a:pPr>
            <a:r>
              <a:rPr sz="2800" b="0" i="0" lang="en-US">
                <a:solidFill>
                  <a:srgbClr val="22211F"/>
                </a:solidFill>
                <a:latin typeface="Georgia"/>
              </a:rPr>
              <a:t>Northeast Asia’s hub race: Chinese hubs rose to the top, Incheon and Haneda climbed</a:t>
            </a:r>
          </a:p>
        </p:txBody>
      </p:sp>
      <p:sp>
        <p:nvSpPr>
          <p:cNvPr id="4" name="TextBox 3"/>
          <p:cNvSpPr txBox="1"/>
          <p:nvPr/>
        </p:nvSpPr>
        <p:spPr>
          <a:xfrm>
            <a:off x="11094415" y="6446520"/>
            <a:ext cx="548640" cy="274320"/>
          </a:xfrm>
          <a:prstGeom prst="rect">
            <a:avLst/>
          </a:prstGeom>
          <a:noFill/>
        </p:spPr>
        <p:txBody>
          <a:bodyPr wrap="square" lIns="0" rIns="0" tIns="0" bIns="0" anchor="t">
            <a:spAutoFit/>
          </a:bodyPr>
          <a:lstStyle/>
          <a:p>
            <a:pPr algn="r">
              <a:spcAft>
                <a:spcPts val="600"/>
              </a:spcAft>
            </a:pPr>
            <a:r>
              <a:rPr sz="1000" b="0" i="0" lang="en-US">
                <a:solidFill>
                  <a:srgbClr val="6F6A62"/>
                </a:solidFill>
                <a:latin typeface="Calibri"/>
              </a:rPr>
              <a:t>16</a:t>
            </a:r>
          </a:p>
        </p:txBody>
      </p:sp>
      <p:graphicFrame>
        <p:nvGraphicFramePr>
          <p:cNvPr id="5" name="Chart 4"/>
          <p:cNvGraphicFramePr>
            <a:graphicFrameLocks noGrp="1"/>
          </p:cNvGraphicFramePr>
          <p:nvPr/>
        </p:nvGraphicFramePr>
        <p:xfrm>
          <a:off x="640080" y="1783080"/>
          <a:ext cx="7635240" cy="4343400"/>
        </p:xfrm>
        <a:graphic>
          <a:graphicData uri="http://schemas.openxmlformats.org/drawingml/2006/chart">
            <c:chart xmlns:c="http://schemas.openxmlformats.org/drawingml/2006/chart" r:id="rId2"/>
          </a:graphicData>
        </a:graphic>
      </p:graphicFrame>
      <p:sp>
        <p:nvSpPr>
          <p:cNvPr id="6" name="TextBox 5"/>
          <p:cNvSpPr txBox="1"/>
          <p:nvPr/>
        </p:nvSpPr>
        <p:spPr>
          <a:xfrm>
            <a:off x="530352" y="1803653"/>
            <a:ext cx="566928" cy="228600"/>
          </a:xfrm>
          <a:prstGeom prst="rect">
            <a:avLst/>
          </a:prstGeom>
          <a:noFill/>
        </p:spPr>
        <p:txBody>
          <a:bodyPr wrap="square" lIns="0" rIns="0" tIns="0" bIns="0" anchor="t">
            <a:spAutoFit/>
          </a:bodyPr>
          <a:lstStyle/>
          <a:p>
            <a:pPr algn="r">
              <a:spcAft>
                <a:spcPts val="600"/>
              </a:spcAft>
            </a:pPr>
            <a:r>
              <a:rPr sz="1100" b="0" i="0" lang="en-US">
                <a:solidFill>
                  <a:srgbClr val="6F6A62"/>
                </a:solidFill>
                <a:latin typeface="Calibri"/>
              </a:rPr>
              <a:t>1</a:t>
            </a:r>
          </a:p>
        </p:txBody>
      </p:sp>
      <p:sp>
        <p:nvSpPr>
          <p:cNvPr id="7" name="TextBox 6"/>
          <p:cNvSpPr txBox="1"/>
          <p:nvPr/>
        </p:nvSpPr>
        <p:spPr>
          <a:xfrm>
            <a:off x="530352" y="2235790"/>
            <a:ext cx="566928" cy="228600"/>
          </a:xfrm>
          <a:prstGeom prst="rect">
            <a:avLst/>
          </a:prstGeom>
          <a:noFill/>
        </p:spPr>
        <p:txBody>
          <a:bodyPr wrap="square" lIns="0" rIns="0" tIns="0" bIns="0" anchor="t">
            <a:spAutoFit/>
          </a:bodyPr>
          <a:lstStyle/>
          <a:p>
            <a:pPr algn="r">
              <a:spcAft>
                <a:spcPts val="600"/>
              </a:spcAft>
            </a:pPr>
            <a:r>
              <a:rPr sz="1100" b="0" i="0" lang="en-US">
                <a:solidFill>
                  <a:srgbClr val="6F6A62"/>
                </a:solidFill>
                <a:latin typeface="Calibri"/>
              </a:rPr>
              <a:t>2</a:t>
            </a:r>
          </a:p>
        </p:txBody>
      </p:sp>
      <p:sp>
        <p:nvSpPr>
          <p:cNvPr id="8" name="TextBox 7"/>
          <p:cNvSpPr txBox="1"/>
          <p:nvPr/>
        </p:nvSpPr>
        <p:spPr>
          <a:xfrm>
            <a:off x="530352" y="2807043"/>
            <a:ext cx="566928" cy="228600"/>
          </a:xfrm>
          <a:prstGeom prst="rect">
            <a:avLst/>
          </a:prstGeom>
          <a:noFill/>
        </p:spPr>
        <p:txBody>
          <a:bodyPr wrap="square" lIns="0" rIns="0" tIns="0" bIns="0" anchor="t">
            <a:spAutoFit/>
          </a:bodyPr>
          <a:lstStyle/>
          <a:p>
            <a:pPr algn="r">
              <a:spcAft>
                <a:spcPts val="600"/>
              </a:spcAft>
            </a:pPr>
            <a:r>
              <a:rPr sz="1100" b="0" i="0" lang="en-US">
                <a:solidFill>
                  <a:srgbClr val="6F6A62"/>
                </a:solidFill>
                <a:latin typeface="Calibri"/>
              </a:rPr>
              <a:t>5</a:t>
            </a:r>
          </a:p>
        </p:txBody>
      </p:sp>
      <p:sp>
        <p:nvSpPr>
          <p:cNvPr id="9" name="TextBox 8"/>
          <p:cNvSpPr txBox="1"/>
          <p:nvPr/>
        </p:nvSpPr>
        <p:spPr>
          <a:xfrm>
            <a:off x="530352" y="3239179"/>
            <a:ext cx="566928" cy="228600"/>
          </a:xfrm>
          <a:prstGeom prst="rect">
            <a:avLst/>
          </a:prstGeom>
          <a:noFill/>
        </p:spPr>
        <p:txBody>
          <a:bodyPr wrap="square" lIns="0" rIns="0" tIns="0" bIns="0" anchor="t">
            <a:spAutoFit/>
          </a:bodyPr>
          <a:lstStyle/>
          <a:p>
            <a:pPr algn="r">
              <a:spcAft>
                <a:spcPts val="600"/>
              </a:spcAft>
            </a:pPr>
            <a:r>
              <a:rPr sz="1100" b="0" i="0" lang="en-US">
                <a:solidFill>
                  <a:srgbClr val="6F6A62"/>
                </a:solidFill>
                <a:latin typeface="Calibri"/>
              </a:rPr>
              <a:t>10</a:t>
            </a:r>
          </a:p>
        </p:txBody>
      </p:sp>
      <p:sp>
        <p:nvSpPr>
          <p:cNvPr id="10" name="TextBox 9"/>
          <p:cNvSpPr txBox="1"/>
          <p:nvPr/>
        </p:nvSpPr>
        <p:spPr>
          <a:xfrm>
            <a:off x="530352" y="3671315"/>
            <a:ext cx="566928" cy="228600"/>
          </a:xfrm>
          <a:prstGeom prst="rect">
            <a:avLst/>
          </a:prstGeom>
          <a:noFill/>
        </p:spPr>
        <p:txBody>
          <a:bodyPr wrap="square" lIns="0" rIns="0" tIns="0" bIns="0" anchor="t">
            <a:spAutoFit/>
          </a:bodyPr>
          <a:lstStyle/>
          <a:p>
            <a:pPr algn="r">
              <a:spcAft>
                <a:spcPts val="600"/>
              </a:spcAft>
            </a:pPr>
            <a:r>
              <a:rPr sz="1100" b="0" i="0" lang="en-US">
                <a:solidFill>
                  <a:srgbClr val="6F6A62"/>
                </a:solidFill>
                <a:latin typeface="Calibri"/>
              </a:rPr>
              <a:t>20</a:t>
            </a:r>
          </a:p>
        </p:txBody>
      </p:sp>
      <p:sp>
        <p:nvSpPr>
          <p:cNvPr id="11" name="TextBox 10"/>
          <p:cNvSpPr txBox="1"/>
          <p:nvPr/>
        </p:nvSpPr>
        <p:spPr>
          <a:xfrm>
            <a:off x="530352" y="4242569"/>
            <a:ext cx="566928" cy="228600"/>
          </a:xfrm>
          <a:prstGeom prst="rect">
            <a:avLst/>
          </a:prstGeom>
          <a:noFill/>
        </p:spPr>
        <p:txBody>
          <a:bodyPr wrap="square" lIns="0" rIns="0" tIns="0" bIns="0" anchor="t">
            <a:spAutoFit/>
          </a:bodyPr>
          <a:lstStyle/>
          <a:p>
            <a:pPr algn="r">
              <a:spcAft>
                <a:spcPts val="600"/>
              </a:spcAft>
            </a:pPr>
            <a:r>
              <a:rPr sz="1100" b="0" i="0" lang="en-US">
                <a:solidFill>
                  <a:srgbClr val="6F6A62"/>
                </a:solidFill>
                <a:latin typeface="Calibri"/>
              </a:rPr>
              <a:t>50</a:t>
            </a:r>
          </a:p>
        </p:txBody>
      </p:sp>
      <p:sp>
        <p:nvSpPr>
          <p:cNvPr id="12" name="TextBox 11"/>
          <p:cNvSpPr txBox="1"/>
          <p:nvPr/>
        </p:nvSpPr>
        <p:spPr>
          <a:xfrm>
            <a:off x="530352" y="4674705"/>
            <a:ext cx="566928" cy="228600"/>
          </a:xfrm>
          <a:prstGeom prst="rect">
            <a:avLst/>
          </a:prstGeom>
          <a:noFill/>
        </p:spPr>
        <p:txBody>
          <a:bodyPr wrap="square" lIns="0" rIns="0" tIns="0" bIns="0" anchor="t">
            <a:spAutoFit/>
          </a:bodyPr>
          <a:lstStyle/>
          <a:p>
            <a:pPr algn="r">
              <a:spcAft>
                <a:spcPts val="600"/>
              </a:spcAft>
            </a:pPr>
            <a:r>
              <a:rPr sz="1100" b="0" i="0" lang="en-US">
                <a:solidFill>
                  <a:srgbClr val="6F6A62"/>
                </a:solidFill>
                <a:latin typeface="Calibri"/>
              </a:rPr>
              <a:t>100</a:t>
            </a:r>
          </a:p>
        </p:txBody>
      </p:sp>
      <p:sp>
        <p:nvSpPr>
          <p:cNvPr id="13" name="TextBox 12"/>
          <p:cNvSpPr txBox="1"/>
          <p:nvPr/>
        </p:nvSpPr>
        <p:spPr>
          <a:xfrm>
            <a:off x="530352" y="5106841"/>
            <a:ext cx="566928" cy="228600"/>
          </a:xfrm>
          <a:prstGeom prst="rect">
            <a:avLst/>
          </a:prstGeom>
          <a:noFill/>
        </p:spPr>
        <p:txBody>
          <a:bodyPr wrap="square" lIns="0" rIns="0" tIns="0" bIns="0" anchor="t">
            <a:spAutoFit/>
          </a:bodyPr>
          <a:lstStyle/>
          <a:p>
            <a:pPr algn="r">
              <a:spcAft>
                <a:spcPts val="600"/>
              </a:spcAft>
            </a:pPr>
            <a:r>
              <a:rPr sz="1100" b="0" i="0" lang="en-US">
                <a:solidFill>
                  <a:srgbClr val="6F6A62"/>
                </a:solidFill>
                <a:latin typeface="Calibri"/>
              </a:rPr>
              <a:t>200</a:t>
            </a:r>
          </a:p>
        </p:txBody>
      </p:sp>
      <p:sp>
        <p:nvSpPr>
          <p:cNvPr id="14" name="TextBox 13"/>
          <p:cNvSpPr txBox="1"/>
          <p:nvPr/>
        </p:nvSpPr>
        <p:spPr>
          <a:xfrm>
            <a:off x="457199" y="1508760"/>
            <a:ext cx="1645920" cy="228600"/>
          </a:xfrm>
          <a:prstGeom prst="rect">
            <a:avLst/>
          </a:prstGeom>
          <a:noFill/>
        </p:spPr>
        <p:txBody>
          <a:bodyPr wrap="square" lIns="0" rIns="0" tIns="0" bIns="0" anchor="t">
            <a:spAutoFit/>
          </a:bodyPr>
          <a:lstStyle/>
          <a:p>
            <a:pPr algn="l">
              <a:spcAft>
                <a:spcPts val="600"/>
              </a:spcAft>
            </a:pPr>
            <a:r>
              <a:rPr sz="1100" b="0" i="0" lang="en-US">
                <a:solidFill>
                  <a:srgbClr val="6F6A62"/>
                </a:solidFill>
                <a:latin typeface="Calibri"/>
              </a:rPr>
              <a:t>World rank</a:t>
            </a:r>
          </a:p>
        </p:txBody>
      </p:sp>
      <p:sp>
        <p:nvSpPr>
          <p:cNvPr id="15" name="TextBox 14"/>
          <p:cNvSpPr txBox="1"/>
          <p:nvPr/>
        </p:nvSpPr>
        <p:spPr>
          <a:xfrm>
            <a:off x="7375779" y="2816187"/>
            <a:ext cx="914400" cy="201168"/>
          </a:xfrm>
          <a:prstGeom prst="rect">
            <a:avLst/>
          </a:prstGeom>
          <a:noFill/>
        </p:spPr>
        <p:txBody>
          <a:bodyPr wrap="square" lIns="0" rIns="0" tIns="0" bIns="0" anchor="t">
            <a:spAutoFit/>
          </a:bodyPr>
          <a:lstStyle/>
          <a:p>
            <a:pPr algn="l">
              <a:spcAft>
                <a:spcPts val="600"/>
              </a:spcAft>
            </a:pPr>
            <a:r>
              <a:rPr sz="1100" b="1" i="0" lang="en-US">
                <a:solidFill>
                  <a:srgbClr val="1F3A32"/>
                </a:solidFill>
                <a:latin typeface="Calibri"/>
              </a:rPr>
              <a:t>Pudong</a:t>
            </a:r>
          </a:p>
        </p:txBody>
      </p:sp>
      <p:sp>
        <p:nvSpPr>
          <p:cNvPr id="16" name="TextBox 15"/>
          <p:cNvSpPr txBox="1"/>
          <p:nvPr/>
        </p:nvSpPr>
        <p:spPr>
          <a:xfrm>
            <a:off x="7375779" y="3182637"/>
            <a:ext cx="914400" cy="201168"/>
          </a:xfrm>
          <a:prstGeom prst="rect">
            <a:avLst/>
          </a:prstGeom>
          <a:noFill/>
        </p:spPr>
        <p:txBody>
          <a:bodyPr wrap="square" lIns="0" rIns="0" tIns="0" bIns="0" anchor="t">
            <a:spAutoFit/>
          </a:bodyPr>
          <a:lstStyle/>
          <a:p>
            <a:pPr algn="l">
              <a:spcAft>
                <a:spcPts val="600"/>
              </a:spcAft>
            </a:pPr>
            <a:r>
              <a:rPr sz="1100" b="1" i="0" lang="en-US">
                <a:solidFill>
                  <a:srgbClr val="1F3A32"/>
                </a:solidFill>
                <a:latin typeface="Calibri"/>
              </a:rPr>
              <a:t>Beijing</a:t>
            </a:r>
          </a:p>
        </p:txBody>
      </p:sp>
      <p:sp>
        <p:nvSpPr>
          <p:cNvPr id="17" name="TextBox 16"/>
          <p:cNvSpPr txBox="1"/>
          <p:nvPr/>
        </p:nvSpPr>
        <p:spPr>
          <a:xfrm>
            <a:off x="7375779" y="3365517"/>
            <a:ext cx="914400" cy="201168"/>
          </a:xfrm>
          <a:prstGeom prst="rect">
            <a:avLst/>
          </a:prstGeom>
          <a:noFill/>
        </p:spPr>
        <p:txBody>
          <a:bodyPr wrap="square" lIns="0" rIns="0" tIns="0" bIns="0" anchor="t">
            <a:spAutoFit/>
          </a:bodyPr>
          <a:lstStyle/>
          <a:p>
            <a:pPr algn="l">
              <a:spcAft>
                <a:spcPts val="600"/>
              </a:spcAft>
            </a:pPr>
            <a:r>
              <a:rPr sz="1100" b="1" i="0" lang="en-US">
                <a:solidFill>
                  <a:srgbClr val="1F3A32"/>
                </a:solidFill>
                <a:latin typeface="Calibri"/>
              </a:rPr>
              <a:t>Guangzhou</a:t>
            </a:r>
          </a:p>
        </p:txBody>
      </p:sp>
      <p:sp>
        <p:nvSpPr>
          <p:cNvPr id="18" name="TextBox 17"/>
          <p:cNvSpPr txBox="1"/>
          <p:nvPr/>
        </p:nvSpPr>
        <p:spPr>
          <a:xfrm>
            <a:off x="7375779" y="3548397"/>
            <a:ext cx="914400" cy="201168"/>
          </a:xfrm>
          <a:prstGeom prst="rect">
            <a:avLst/>
          </a:prstGeom>
          <a:noFill/>
        </p:spPr>
        <p:txBody>
          <a:bodyPr wrap="square" lIns="0" rIns="0" tIns="0" bIns="0" anchor="t">
            <a:spAutoFit/>
          </a:bodyPr>
          <a:lstStyle/>
          <a:p>
            <a:pPr algn="l">
              <a:spcAft>
                <a:spcPts val="600"/>
              </a:spcAft>
            </a:pPr>
            <a:r>
              <a:rPr sz="1100" b="1" i="0" lang="en-US">
                <a:solidFill>
                  <a:srgbClr val="B8862F"/>
                </a:solidFill>
                <a:latin typeface="Calibri"/>
              </a:rPr>
              <a:t>Incheon</a:t>
            </a:r>
          </a:p>
        </p:txBody>
      </p:sp>
      <p:sp>
        <p:nvSpPr>
          <p:cNvPr id="19" name="TextBox 18"/>
          <p:cNvSpPr txBox="1"/>
          <p:nvPr/>
        </p:nvSpPr>
        <p:spPr>
          <a:xfrm>
            <a:off x="7375779" y="3794126"/>
            <a:ext cx="914400" cy="201168"/>
          </a:xfrm>
          <a:prstGeom prst="rect">
            <a:avLst/>
          </a:prstGeom>
          <a:noFill/>
        </p:spPr>
        <p:txBody>
          <a:bodyPr wrap="square" lIns="0" rIns="0" tIns="0" bIns="0" anchor="t">
            <a:spAutoFit/>
          </a:bodyPr>
          <a:lstStyle/>
          <a:p>
            <a:pPr algn="l">
              <a:spcAft>
                <a:spcPts val="600"/>
              </a:spcAft>
            </a:pPr>
            <a:r>
              <a:rPr sz="1100" b="0" i="0" lang="en-US">
                <a:solidFill>
                  <a:srgbClr val="22211F"/>
                </a:solidFill>
                <a:latin typeface="Calibri"/>
              </a:rPr>
              <a:t>Hong Kong</a:t>
            </a:r>
          </a:p>
        </p:txBody>
      </p:sp>
      <p:sp>
        <p:nvSpPr>
          <p:cNvPr id="20" name="TextBox 19"/>
          <p:cNvSpPr txBox="1"/>
          <p:nvPr/>
        </p:nvSpPr>
        <p:spPr>
          <a:xfrm>
            <a:off x="7375779" y="3977006"/>
            <a:ext cx="914400" cy="201168"/>
          </a:xfrm>
          <a:prstGeom prst="rect">
            <a:avLst/>
          </a:prstGeom>
          <a:noFill/>
        </p:spPr>
        <p:txBody>
          <a:bodyPr wrap="square" lIns="0" rIns="0" tIns="0" bIns="0" anchor="t">
            <a:spAutoFit/>
          </a:bodyPr>
          <a:lstStyle/>
          <a:p>
            <a:pPr algn="l">
              <a:spcAft>
                <a:spcPts val="600"/>
              </a:spcAft>
            </a:pPr>
            <a:r>
              <a:rPr sz="1100" b="1" i="0" lang="en-US">
                <a:solidFill>
                  <a:srgbClr val="B8862F"/>
                </a:solidFill>
                <a:latin typeface="Calibri"/>
              </a:rPr>
              <a:t>Haneda</a:t>
            </a:r>
          </a:p>
        </p:txBody>
      </p:sp>
      <p:sp>
        <p:nvSpPr>
          <p:cNvPr id="21" name="TextBox 20"/>
          <p:cNvSpPr txBox="1"/>
          <p:nvPr/>
        </p:nvSpPr>
        <p:spPr>
          <a:xfrm>
            <a:off x="7375779" y="4159886"/>
            <a:ext cx="914400" cy="201168"/>
          </a:xfrm>
          <a:prstGeom prst="rect">
            <a:avLst/>
          </a:prstGeom>
          <a:noFill/>
        </p:spPr>
        <p:txBody>
          <a:bodyPr wrap="square" lIns="0" rIns="0" tIns="0" bIns="0" anchor="t">
            <a:spAutoFit/>
          </a:bodyPr>
          <a:lstStyle/>
          <a:p>
            <a:pPr algn="l">
              <a:spcAft>
                <a:spcPts val="600"/>
              </a:spcAft>
            </a:pPr>
            <a:r>
              <a:rPr sz="1100" b="0" i="0" lang="en-US">
                <a:solidFill>
                  <a:srgbClr val="22211F"/>
                </a:solidFill>
                <a:latin typeface="Calibri"/>
              </a:rPr>
              <a:t>Narita</a:t>
            </a:r>
          </a:p>
        </p:txBody>
      </p:sp>
      <p:sp>
        <p:nvSpPr>
          <p:cNvPr id="22" name="TextBox 21"/>
          <p:cNvSpPr txBox="1"/>
          <p:nvPr/>
        </p:nvSpPr>
        <p:spPr>
          <a:xfrm>
            <a:off x="7375779" y="4342766"/>
            <a:ext cx="914400" cy="201168"/>
          </a:xfrm>
          <a:prstGeom prst="rect">
            <a:avLst/>
          </a:prstGeom>
          <a:noFill/>
        </p:spPr>
        <p:txBody>
          <a:bodyPr wrap="square" lIns="0" rIns="0" tIns="0" bIns="0" anchor="t">
            <a:spAutoFit/>
          </a:bodyPr>
          <a:lstStyle/>
          <a:p>
            <a:pPr algn="l">
              <a:spcAft>
                <a:spcPts val="600"/>
              </a:spcAft>
            </a:pPr>
            <a:r>
              <a:rPr sz="1100" b="0" i="0" lang="en-US">
                <a:solidFill>
                  <a:srgbClr val="22211F"/>
                </a:solidFill>
                <a:latin typeface="Calibri"/>
              </a:rPr>
              <a:t>Taipei</a:t>
            </a:r>
          </a:p>
        </p:txBody>
      </p:sp>
      <p:sp>
        <p:nvSpPr>
          <p:cNvPr id="23" name="TextBox 22"/>
          <p:cNvSpPr txBox="1"/>
          <p:nvPr/>
        </p:nvSpPr>
        <p:spPr>
          <a:xfrm>
            <a:off x="7375779" y="4604152"/>
            <a:ext cx="914400" cy="201168"/>
          </a:xfrm>
          <a:prstGeom prst="rect">
            <a:avLst/>
          </a:prstGeom>
          <a:noFill/>
        </p:spPr>
        <p:txBody>
          <a:bodyPr wrap="square" lIns="0" rIns="0" tIns="0" bIns="0" anchor="t">
            <a:spAutoFit/>
          </a:bodyPr>
          <a:lstStyle/>
          <a:p>
            <a:pPr algn="l">
              <a:spcAft>
                <a:spcPts val="600"/>
              </a:spcAft>
            </a:pPr>
            <a:r>
              <a:rPr sz="1100" b="0" i="0" lang="en-US">
                <a:solidFill>
                  <a:srgbClr val="22211F"/>
                </a:solidFill>
                <a:latin typeface="Calibri"/>
              </a:rPr>
              <a:t>Kansai</a:t>
            </a:r>
          </a:p>
        </p:txBody>
      </p:sp>
      <p:sp>
        <p:nvSpPr>
          <p:cNvPr id="24" name="TextBox 23"/>
          <p:cNvSpPr txBox="1"/>
          <p:nvPr/>
        </p:nvSpPr>
        <p:spPr>
          <a:xfrm>
            <a:off x="1045293" y="4261886"/>
            <a:ext cx="1280160" cy="274320"/>
          </a:xfrm>
          <a:prstGeom prst="rect">
            <a:avLst/>
          </a:prstGeom>
          <a:noFill/>
        </p:spPr>
        <p:txBody>
          <a:bodyPr wrap="square" lIns="0" rIns="0" tIns="0" bIns="0" anchor="t">
            <a:spAutoFit/>
          </a:bodyPr>
          <a:lstStyle/>
          <a:p>
            <a:pPr algn="r">
              <a:spcAft>
                <a:spcPts val="600"/>
              </a:spcAft>
            </a:pPr>
            <a:r>
              <a:rPr sz="1100" b="0" i="1" lang="en-US">
                <a:solidFill>
                  <a:srgbClr val="B8862F"/>
                </a:solidFill>
                <a:latin typeface="Calibri"/>
              </a:rPr>
              <a:t>Incheon opens</a:t>
            </a:r>
          </a:p>
        </p:txBody>
      </p:sp>
      <p:sp>
        <p:nvSpPr>
          <p:cNvPr id="25" name="TextBox 24"/>
          <p:cNvSpPr txBox="1"/>
          <p:nvPr/>
        </p:nvSpPr>
        <p:spPr>
          <a:xfrm>
            <a:off x="8796528" y="1810512"/>
            <a:ext cx="4572000" cy="274320"/>
          </a:xfrm>
          <a:prstGeom prst="rect">
            <a:avLst/>
          </a:prstGeom>
          <a:noFill/>
        </p:spPr>
        <p:txBody>
          <a:bodyPr wrap="square" lIns="0" rIns="0" tIns="0" bIns="0" anchor="t">
            <a:spAutoFit/>
          </a:bodyPr>
          <a:lstStyle/>
          <a:p>
            <a:pPr algn="l">
              <a:spcAft>
                <a:spcPts val="600"/>
              </a:spcAft>
            </a:pPr>
            <a:r>
              <a:rPr sz="1050" b="1" i="0" spc="100" lang="en-US">
                <a:solidFill>
                  <a:srgbClr val="6F6A62"/>
                </a:solidFill>
                <a:latin typeface="Calibri"/>
              </a:rPr>
              <a:t>WORLD RANK BY AIRPORT GACI</a:t>
            </a:r>
          </a:p>
        </p:txBody>
      </p:sp>
      <p:graphicFrame>
        <p:nvGraphicFramePr>
          <p:cNvPr id="26" name="Table 25"/>
          <p:cNvGraphicFramePr>
            <a:graphicFrameLocks noGrp="1"/>
          </p:cNvGraphicFramePr>
          <p:nvPr/>
        </p:nvGraphicFramePr>
        <p:xfrm>
          <a:off x="8796528" y="2103120"/>
          <a:ext cx="2743200" cy="3063240"/>
        </p:xfrm>
        <a:graphic>
          <a:graphicData uri="http://schemas.openxmlformats.org/drawingml/2006/table">
            <a:tbl>
              <a:tblPr firstRow="0" bandRow="0">
                <a:tableStyleId>{2D5ABB26-0587-4C30-8999-92F81FD0307C}</a:tableStyleId>
              </a:tblPr>
              <a:tblGrid>
                <a:gridCol w="1371600"/>
                <a:gridCol w="438912"/>
                <a:gridCol w="457200"/>
                <a:gridCol w="475488"/>
              </a:tblGrid>
              <a:tr h="306324">
                <a:tc>
                  <a:txBody>
                    <a:bodyPr wrap="square"/>
                    <a:lstStyle/>
                    <a:p>
                      <a:pPr algn="l"/>
                      <a:r>
                        <a:rPr sz="1250" b="1" i="0" lang="en-US">
                          <a:solidFill>
                            <a:srgbClr val="6F6A62"/>
                          </a:solidFill>
                          <a:latin typeface="Calibri"/>
                        </a:rPr>
                        <a:t>Airport</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wrap="square"/>
                    <a:lstStyle/>
                    <a:p>
                      <a:pPr algn="r"/>
                      <a:r>
                        <a:rPr sz="1250" b="1" i="0" lang="en-US">
                          <a:solidFill>
                            <a:srgbClr val="6F6A62"/>
                          </a:solidFill>
                          <a:latin typeface="Calibri"/>
                        </a:rPr>
                        <a:t>1996</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wrap="square"/>
                    <a:lstStyle/>
                    <a:p>
                      <a:pPr algn="r"/>
                      <a:r>
                        <a:rPr sz="1250" b="1" i="0" lang="en-US">
                          <a:solidFill>
                            <a:srgbClr val="6F6A62"/>
                          </a:solidFill>
                          <a:latin typeface="Calibri"/>
                        </a:rPr>
                        <a:t>Best</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wrap="square"/>
                    <a:lstStyle/>
                    <a:p>
                      <a:pPr algn="r"/>
                      <a:r>
                        <a:rPr sz="1250" b="1" i="0" lang="en-US">
                          <a:solidFill>
                            <a:srgbClr val="6F6A62"/>
                          </a:solidFill>
                          <a:latin typeface="Calibri"/>
                        </a:rPr>
                        <a:t>2024</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r>
              <a:tr h="306324">
                <a:tc>
                  <a:txBody>
                    <a:bodyPr wrap="square"/>
                    <a:lstStyle/>
                    <a:p>
                      <a:pPr algn="l"/>
                      <a:r>
                        <a:rPr sz="1250" b="0" i="0" lang="en-US">
                          <a:solidFill>
                            <a:srgbClr val="22211F"/>
                          </a:solidFill>
                          <a:latin typeface="Calibri"/>
                        </a:rPr>
                        <a:t>Shanghai Pudong</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n.a.</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3</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1" i="0" lang="en-US">
                          <a:solidFill>
                            <a:srgbClr val="22211F"/>
                          </a:solidFill>
                          <a:latin typeface="Calibri"/>
                        </a:rPr>
                        <a:t>5</a:t>
                      </a:r>
                    </a:p>
                  </a:txBody>
                  <a:tcPr marL="54864" marR="54864" marT="18288" marB="18288" anchor="ctr">
                    <a:lnL w="0">
                      <a:noFill/>
                    </a:lnL>
                    <a:lnR w="0">
                      <a:noFill/>
                    </a:lnR>
                    <a:lnT w="0">
                      <a:noFill/>
                    </a:lnT>
                    <a:lnB w="7620" cap="flat" cmpd="sng" algn="ctr">
                      <a:solidFill>
                        <a:srgbClr val="D9D5CC"/>
                      </a:solidFill>
                      <a:prstDash val="solid"/>
                    </a:lnB>
                    <a:noFill/>
                  </a:tcPr>
                </a:tc>
              </a:tr>
              <a:tr h="306324">
                <a:tc>
                  <a:txBody>
                    <a:bodyPr wrap="square"/>
                    <a:lstStyle/>
                    <a:p>
                      <a:pPr algn="l"/>
                      <a:r>
                        <a:rPr sz="1250" b="0" i="0" lang="en-US">
                          <a:solidFill>
                            <a:srgbClr val="22211F"/>
                          </a:solidFill>
                          <a:latin typeface="Calibri"/>
                        </a:rPr>
                        <a:t>Beijing Capital</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47</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1</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1" i="0" lang="en-US">
                          <a:solidFill>
                            <a:srgbClr val="22211F"/>
                          </a:solidFill>
                          <a:latin typeface="Calibri"/>
                        </a:rPr>
                        <a:t>9</a:t>
                      </a:r>
                    </a:p>
                  </a:txBody>
                  <a:tcPr marL="54864" marR="54864" marT="18288" marB="18288" anchor="ctr">
                    <a:lnL w="0">
                      <a:noFill/>
                    </a:lnL>
                    <a:lnR w="0">
                      <a:noFill/>
                    </a:lnR>
                    <a:lnT w="0">
                      <a:noFill/>
                    </a:lnT>
                    <a:lnB w="7620" cap="flat" cmpd="sng" algn="ctr">
                      <a:solidFill>
                        <a:srgbClr val="D9D5CC"/>
                      </a:solidFill>
                      <a:prstDash val="solid"/>
                    </a:lnB>
                    <a:noFill/>
                  </a:tcPr>
                </a:tc>
              </a:tr>
              <a:tr h="306324">
                <a:tc>
                  <a:txBody>
                    <a:bodyPr wrap="square"/>
                    <a:lstStyle/>
                    <a:p>
                      <a:pPr algn="l"/>
                      <a:r>
                        <a:rPr sz="1250" b="0" i="0" lang="en-US">
                          <a:solidFill>
                            <a:srgbClr val="22211F"/>
                          </a:solidFill>
                          <a:latin typeface="Calibri"/>
                        </a:rPr>
                        <a:t>Guangzhou</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155</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1</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1" i="0" lang="en-US">
                          <a:solidFill>
                            <a:srgbClr val="22211F"/>
                          </a:solidFill>
                          <a:latin typeface="Calibri"/>
                        </a:rPr>
                        <a:t>10</a:t>
                      </a:r>
                    </a:p>
                  </a:txBody>
                  <a:tcPr marL="54864" marR="54864" marT="18288" marB="18288" anchor="ctr">
                    <a:lnL w="0">
                      <a:noFill/>
                    </a:lnL>
                    <a:lnR w="0">
                      <a:noFill/>
                    </a:lnR>
                    <a:lnT w="0">
                      <a:noFill/>
                    </a:lnT>
                    <a:lnB w="7620" cap="flat" cmpd="sng" algn="ctr">
                      <a:solidFill>
                        <a:srgbClr val="D9D5CC"/>
                      </a:solidFill>
                      <a:prstDash val="solid"/>
                    </a:lnB>
                    <a:noFill/>
                  </a:tcPr>
                </a:tc>
              </a:tr>
              <a:tr h="306324">
                <a:tc>
                  <a:txBody>
                    <a:bodyPr wrap="square"/>
                    <a:lstStyle/>
                    <a:p>
                      <a:pPr algn="l"/>
                      <a:r>
                        <a:rPr sz="1250" b="1" i="0" lang="en-US">
                          <a:solidFill>
                            <a:srgbClr val="22211F"/>
                          </a:solidFill>
                          <a:latin typeface="Calibri"/>
                        </a:rPr>
                        <a:t>Incheon</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n.a.</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15</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1" i="0" lang="en-US">
                          <a:solidFill>
                            <a:srgbClr val="22211F"/>
                          </a:solidFill>
                          <a:latin typeface="Calibri"/>
                        </a:rPr>
                        <a:t>15</a:t>
                      </a:r>
                    </a:p>
                  </a:txBody>
                  <a:tcPr marL="54864" marR="54864" marT="18288" marB="18288" anchor="ctr">
                    <a:lnL w="0">
                      <a:noFill/>
                    </a:lnL>
                    <a:lnR w="0">
                      <a:noFill/>
                    </a:lnR>
                    <a:lnT w="0">
                      <a:noFill/>
                    </a:lnT>
                    <a:lnB w="7620" cap="flat" cmpd="sng" algn="ctr">
                      <a:solidFill>
                        <a:srgbClr val="D9D5CC"/>
                      </a:solidFill>
                      <a:prstDash val="solid"/>
                    </a:lnB>
                    <a:noFill/>
                  </a:tcPr>
                </a:tc>
              </a:tr>
              <a:tr h="306324">
                <a:tc>
                  <a:txBody>
                    <a:bodyPr wrap="square"/>
                    <a:lstStyle/>
                    <a:p>
                      <a:pPr algn="l"/>
                      <a:r>
                        <a:rPr sz="1250" b="0" i="0" lang="en-US">
                          <a:solidFill>
                            <a:srgbClr val="22211F"/>
                          </a:solidFill>
                          <a:latin typeface="Calibri"/>
                        </a:rPr>
                        <a:t>Hong Kong</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28</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11</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1" i="0" lang="en-US">
                          <a:solidFill>
                            <a:srgbClr val="22211F"/>
                          </a:solidFill>
                          <a:latin typeface="Calibri"/>
                        </a:rPr>
                        <a:t>24</a:t>
                      </a:r>
                    </a:p>
                  </a:txBody>
                  <a:tcPr marL="54864" marR="54864" marT="18288" marB="18288" anchor="ctr">
                    <a:lnL w="0">
                      <a:noFill/>
                    </a:lnL>
                    <a:lnR w="0">
                      <a:noFill/>
                    </a:lnR>
                    <a:lnT w="0">
                      <a:noFill/>
                    </a:lnT>
                    <a:lnB w="7620" cap="flat" cmpd="sng" algn="ctr">
                      <a:solidFill>
                        <a:srgbClr val="D9D5CC"/>
                      </a:solidFill>
                      <a:prstDash val="solid"/>
                    </a:lnB>
                    <a:noFill/>
                  </a:tcPr>
                </a:tc>
              </a:tr>
              <a:tr h="306324">
                <a:tc>
                  <a:txBody>
                    <a:bodyPr wrap="square"/>
                    <a:lstStyle/>
                    <a:p>
                      <a:pPr algn="l"/>
                      <a:r>
                        <a:rPr sz="1250" b="1" i="0" lang="en-US">
                          <a:solidFill>
                            <a:srgbClr val="22211F"/>
                          </a:solidFill>
                          <a:latin typeface="Calibri"/>
                        </a:rPr>
                        <a:t>Tokyo Haneda</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151</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29</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1" i="0" lang="en-US">
                          <a:solidFill>
                            <a:srgbClr val="22211F"/>
                          </a:solidFill>
                          <a:latin typeface="Calibri"/>
                        </a:rPr>
                        <a:t>31</a:t>
                      </a:r>
                    </a:p>
                  </a:txBody>
                  <a:tcPr marL="54864" marR="54864" marT="18288" marB="18288" anchor="ctr">
                    <a:lnL w="0">
                      <a:noFill/>
                    </a:lnL>
                    <a:lnR w="0">
                      <a:noFill/>
                    </a:lnR>
                    <a:lnT w="0">
                      <a:noFill/>
                    </a:lnT>
                    <a:lnB w="7620" cap="flat" cmpd="sng" algn="ctr">
                      <a:solidFill>
                        <a:srgbClr val="D9D5CC"/>
                      </a:solidFill>
                      <a:prstDash val="solid"/>
                    </a:lnB>
                    <a:noFill/>
                  </a:tcPr>
                </a:tc>
              </a:tr>
              <a:tr h="306324">
                <a:tc>
                  <a:txBody>
                    <a:bodyPr wrap="square"/>
                    <a:lstStyle/>
                    <a:p>
                      <a:pPr algn="l"/>
                      <a:r>
                        <a:rPr sz="1250" b="0" i="0" lang="en-US">
                          <a:solidFill>
                            <a:srgbClr val="22211F"/>
                          </a:solidFill>
                          <a:latin typeface="Calibri"/>
                        </a:rPr>
                        <a:t>Tokyo Narita</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40</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21</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1" i="0" lang="en-US">
                          <a:solidFill>
                            <a:srgbClr val="22211F"/>
                          </a:solidFill>
                          <a:latin typeface="Calibri"/>
                        </a:rPr>
                        <a:t>33</a:t>
                      </a:r>
                    </a:p>
                  </a:txBody>
                  <a:tcPr marL="54864" marR="54864" marT="18288" marB="18288" anchor="ctr">
                    <a:lnL w="0">
                      <a:noFill/>
                    </a:lnL>
                    <a:lnR w="0">
                      <a:noFill/>
                    </a:lnR>
                    <a:lnT w="0">
                      <a:noFill/>
                    </a:lnT>
                    <a:lnB w="7620" cap="flat" cmpd="sng" algn="ctr">
                      <a:solidFill>
                        <a:srgbClr val="D9D5CC"/>
                      </a:solidFill>
                      <a:prstDash val="solid"/>
                    </a:lnB>
                    <a:noFill/>
                  </a:tcPr>
                </a:tc>
              </a:tr>
              <a:tr h="306324">
                <a:tc>
                  <a:txBody>
                    <a:bodyPr wrap="square"/>
                    <a:lstStyle/>
                    <a:p>
                      <a:pPr algn="l"/>
                      <a:r>
                        <a:rPr sz="1250" b="0" i="0" lang="en-US">
                          <a:solidFill>
                            <a:srgbClr val="22211F"/>
                          </a:solidFill>
                          <a:latin typeface="Calibri"/>
                        </a:rPr>
                        <a:t>Taipei Taoyuan</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80</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39</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1" i="0" lang="en-US">
                          <a:solidFill>
                            <a:srgbClr val="22211F"/>
                          </a:solidFill>
                          <a:latin typeface="Calibri"/>
                        </a:rPr>
                        <a:t>54</a:t>
                      </a:r>
                    </a:p>
                  </a:txBody>
                  <a:tcPr marL="54864" marR="54864" marT="18288" marB="18288" anchor="ctr">
                    <a:lnL w="0">
                      <a:noFill/>
                    </a:lnL>
                    <a:lnR w="0">
                      <a:noFill/>
                    </a:lnR>
                    <a:lnT w="0">
                      <a:noFill/>
                    </a:lnT>
                    <a:lnB w="7620" cap="flat" cmpd="sng" algn="ctr">
                      <a:solidFill>
                        <a:srgbClr val="D9D5CC"/>
                      </a:solidFill>
                      <a:prstDash val="solid"/>
                    </a:lnB>
                    <a:noFill/>
                  </a:tcPr>
                </a:tc>
              </a:tr>
              <a:tr h="306324">
                <a:tc>
                  <a:txBody>
                    <a:bodyPr wrap="square"/>
                    <a:lstStyle/>
                    <a:p>
                      <a:pPr algn="l"/>
                      <a:r>
                        <a:rPr sz="1250" b="0" i="0" lang="en-US">
                          <a:solidFill>
                            <a:srgbClr val="22211F"/>
                          </a:solidFill>
                          <a:latin typeface="Calibri"/>
                        </a:rPr>
                        <a:t>Osaka Kansai</a:t>
                      </a:r>
                    </a:p>
                  </a:txBody>
                  <a:tcPr marL="54864" marR="54864" marT="18288" marB="18288" anchor="ctr">
                    <a:lnL w="0">
                      <a:noFill/>
                    </a:lnL>
                    <a:lnR w="0">
                      <a:noFill/>
                    </a:lnR>
                    <a:lnT w="0">
                      <a:noFill/>
                    </a:lnT>
                    <a:lnB w="15875" cap="flat" cmpd="sng" algn="ctr">
                      <a:solidFill>
                        <a:srgbClr val="22211F"/>
                      </a:solidFill>
                      <a:prstDash val="solid"/>
                    </a:lnB>
                    <a:noFill/>
                  </a:tcPr>
                </a:tc>
                <a:tc>
                  <a:txBody>
                    <a:bodyPr wrap="square"/>
                    <a:lstStyle/>
                    <a:p>
                      <a:pPr algn="r"/>
                      <a:r>
                        <a:rPr sz="1250" b="0" i="0" lang="en-US">
                          <a:solidFill>
                            <a:srgbClr val="22211F"/>
                          </a:solidFill>
                          <a:latin typeface="Calibri"/>
                        </a:rPr>
                        <a:t>41</a:t>
                      </a:r>
                    </a:p>
                  </a:txBody>
                  <a:tcPr marL="54864" marR="54864" marT="18288" marB="18288" anchor="ctr">
                    <a:lnL w="0">
                      <a:noFill/>
                    </a:lnL>
                    <a:lnR w="0">
                      <a:noFill/>
                    </a:lnR>
                    <a:lnT w="0">
                      <a:noFill/>
                    </a:lnT>
                    <a:lnB w="15875" cap="flat" cmpd="sng" algn="ctr">
                      <a:solidFill>
                        <a:srgbClr val="22211F"/>
                      </a:solidFill>
                      <a:prstDash val="solid"/>
                    </a:lnB>
                    <a:noFill/>
                  </a:tcPr>
                </a:tc>
                <a:tc>
                  <a:txBody>
                    <a:bodyPr wrap="square"/>
                    <a:lstStyle/>
                    <a:p>
                      <a:pPr algn="r"/>
                      <a:r>
                        <a:rPr sz="1250" b="0" i="0" lang="en-US">
                          <a:solidFill>
                            <a:srgbClr val="22211F"/>
                          </a:solidFill>
                          <a:latin typeface="Calibri"/>
                        </a:rPr>
                        <a:t>35</a:t>
                      </a:r>
                    </a:p>
                  </a:txBody>
                  <a:tcPr marL="54864" marR="54864" marT="18288" marB="18288" anchor="ctr">
                    <a:lnL w="0">
                      <a:noFill/>
                    </a:lnL>
                    <a:lnR w="0">
                      <a:noFill/>
                    </a:lnR>
                    <a:lnT w="0">
                      <a:noFill/>
                    </a:lnT>
                    <a:lnB w="15875" cap="flat" cmpd="sng" algn="ctr">
                      <a:solidFill>
                        <a:srgbClr val="22211F"/>
                      </a:solidFill>
                      <a:prstDash val="solid"/>
                    </a:lnB>
                    <a:noFill/>
                  </a:tcPr>
                </a:tc>
                <a:tc>
                  <a:txBody>
                    <a:bodyPr wrap="square"/>
                    <a:lstStyle/>
                    <a:p>
                      <a:pPr algn="r"/>
                      <a:r>
                        <a:rPr sz="1250" b="1" i="0" lang="en-US">
                          <a:solidFill>
                            <a:srgbClr val="22211F"/>
                          </a:solidFill>
                          <a:latin typeface="Calibri"/>
                        </a:rPr>
                        <a:t>88</a:t>
                      </a:r>
                    </a:p>
                  </a:txBody>
                  <a:tcPr marL="54864" marR="54864" marT="18288" marB="18288" anchor="ctr">
                    <a:lnL w="0">
                      <a:noFill/>
                    </a:lnL>
                    <a:lnR w="0">
                      <a:noFill/>
                    </a:lnR>
                    <a:lnT w="0">
                      <a:noFill/>
                    </a:lnT>
                    <a:lnB w="15875" cap="flat" cmpd="sng" algn="ctr">
                      <a:solidFill>
                        <a:srgbClr val="22211F"/>
                      </a:solidFill>
                      <a:prstDash val="solid"/>
                    </a:lnB>
                    <a:noFill/>
                  </a:tcPr>
                </a:tc>
              </a:tr>
            </a:tbl>
          </a:graphicData>
        </a:graphic>
      </p:graphicFrame>
      <p:sp>
        <p:nvSpPr>
          <p:cNvPr id="27" name="TextBox 26"/>
          <p:cNvSpPr txBox="1"/>
          <p:nvPr/>
        </p:nvSpPr>
        <p:spPr>
          <a:xfrm>
            <a:off x="8796528" y="5303520"/>
            <a:ext cx="2743200" cy="731520"/>
          </a:xfrm>
          <a:prstGeom prst="rect">
            <a:avLst/>
          </a:prstGeom>
          <a:noFill/>
        </p:spPr>
        <p:txBody>
          <a:bodyPr wrap="square" lIns="0" rIns="0" tIns="0" bIns="0" anchor="t">
            <a:spAutoFit/>
          </a:bodyPr>
          <a:lstStyle/>
          <a:p>
            <a:pPr algn="l">
              <a:lnSpc>
                <a:spcPct val="102000"/>
              </a:lnSpc>
              <a:spcAft>
                <a:spcPts val="600"/>
              </a:spcAft>
            </a:pPr>
            <a:r>
              <a:rPr sz="1250" b="1" i="0" lang="en-US">
                <a:solidFill>
                  <a:srgbClr val="1F3A32"/>
                </a:solidFill>
                <a:latin typeface="Calibri"/>
              </a:rPr>
              <a:t>2020: </a:t>
            </a:r>
            <a:r>
              <a:rPr sz="1250" b="0" i="0" lang="en-US">
                <a:solidFill>
                  <a:srgbClr val="22211F"/>
                </a:solidFill>
                <a:latin typeface="Calibri"/>
              </a:rPr>
              <a:t>Beijing, Guangzhou and Shanghai Pudong ranked 1st, 2nd and 3rd in the world.</a:t>
            </a:r>
          </a:p>
        </p:txBody>
      </p:sp>
      <p:sp>
        <p:nvSpPr>
          <p:cNvPr id="28" name="TextBox 27"/>
          <p:cNvSpPr txBox="1"/>
          <p:nvPr/>
        </p:nvSpPr>
        <p:spPr>
          <a:xfrm>
            <a:off x="640080" y="6428232"/>
            <a:ext cx="10424160" cy="320040"/>
          </a:xfrm>
          <a:prstGeom prst="rect">
            <a:avLst/>
          </a:prstGeom>
          <a:noFill/>
        </p:spPr>
        <p:txBody>
          <a:bodyPr wrap="square" lIns="0" rIns="0" tIns="0" bIns="0" anchor="t">
            <a:spAutoFit/>
          </a:bodyPr>
          <a:lstStyle/>
          <a:p>
            <a:pPr algn="l">
              <a:spcAft>
                <a:spcPts val="600"/>
              </a:spcAft>
            </a:pPr>
            <a:r>
              <a:rPr sz="1000" b="0" i="0" lang="en-US">
                <a:solidFill>
                  <a:srgbClr val="6F6A62"/>
                </a:solidFill>
                <a:latin typeface="Calibri"/>
              </a:rPr>
              <a:t>Rank among all airports with scheduled service (3,171 to 3,863 a year), log scale. n.a.: not yet open in 1996 (Pudong opened in 1999, Incheon in 2001).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8229600" cy="274320"/>
          </a:xfrm>
          <a:prstGeom prst="rect">
            <a:avLst/>
          </a:prstGeom>
          <a:noFill/>
        </p:spPr>
        <p:txBody>
          <a:bodyPr wrap="square" lIns="0" rIns="0" tIns="0" bIns="0" anchor="t">
            <a:spAutoFit/>
          </a:bodyPr>
          <a:lstStyle/>
          <a:p>
            <a:pPr algn="l">
              <a:spcAft>
                <a:spcPts val="600"/>
              </a:spcAft>
            </a:pPr>
            <a:r>
              <a:rPr sz="1050" b="1" i="0" spc="120" lang="en-US">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rIns="0" tIns="0" bIns="0" anchor="t">
            <a:spAutoFit/>
          </a:bodyPr>
          <a:lstStyle/>
          <a:p>
            <a:pPr algn="l">
              <a:lnSpc>
                <a:spcPct val="95000"/>
              </a:lnSpc>
              <a:spcAft>
                <a:spcPts val="600"/>
              </a:spcAft>
            </a:pPr>
            <a:r>
              <a:rPr sz="2800" b="0" i="0" lang="en-US">
                <a:solidFill>
                  <a:srgbClr val="22211F"/>
                </a:solidFill>
                <a:latin typeface="Georgia"/>
              </a:rPr>
              <a:t>Hub quality rose in three of every four economies; Qatar, South Korea and the UAE gained most</a:t>
            </a:r>
          </a:p>
        </p:txBody>
      </p:sp>
      <p:sp>
        <p:nvSpPr>
          <p:cNvPr id="4" name="TextBox 3"/>
          <p:cNvSpPr txBox="1"/>
          <p:nvPr/>
        </p:nvSpPr>
        <p:spPr>
          <a:xfrm>
            <a:off x="11094415" y="6446520"/>
            <a:ext cx="548640" cy="274320"/>
          </a:xfrm>
          <a:prstGeom prst="rect">
            <a:avLst/>
          </a:prstGeom>
          <a:noFill/>
        </p:spPr>
        <p:txBody>
          <a:bodyPr wrap="square" lIns="0" rIns="0" tIns="0" bIns="0" anchor="t">
            <a:spAutoFit/>
          </a:bodyPr>
          <a:lstStyle/>
          <a:p>
            <a:pPr algn="r">
              <a:spcAft>
                <a:spcPts val="600"/>
              </a:spcAft>
            </a:pPr>
            <a:r>
              <a:rPr sz="1000" b="0" i="0" lang="en-US">
                <a:solidFill>
                  <a:srgbClr val="6F6A62"/>
                </a:solidFill>
                <a:latin typeface="Calibri"/>
              </a:rPr>
              <a:t>17</a:t>
            </a:r>
          </a:p>
        </p:txBody>
      </p:sp>
      <p:pic>
        <p:nvPicPr>
          <p:cNvPr id="5" name="Picture 4" descr="map_hubchange_1996_2024.png"/>
          <p:cNvPicPr>
            <a:picLocks noChangeAspect="1"/>
          </p:cNvPicPr>
          <p:nvPr/>
        </p:nvPicPr>
        <p:blipFill>
          <a:blip r:embed="rId2"/>
          <a:stretch>
            <a:fillRect/>
          </a:stretch>
        </p:blipFill>
        <p:spPr>
          <a:xfrm>
            <a:off x="274320" y="2057400"/>
            <a:ext cx="8092440" cy="3703320"/>
          </a:xfrm>
          <a:prstGeom prst="rect">
            <a:avLst/>
          </a:prstGeom>
        </p:spPr>
      </p:pic>
      <p:sp>
        <p:nvSpPr>
          <p:cNvPr id="6" name="TextBox 5"/>
          <p:cNvSpPr txBox="1"/>
          <p:nvPr/>
        </p:nvSpPr>
        <p:spPr>
          <a:xfrm>
            <a:off x="8686800" y="1810512"/>
            <a:ext cx="4572000" cy="274320"/>
          </a:xfrm>
          <a:prstGeom prst="rect">
            <a:avLst/>
          </a:prstGeom>
          <a:noFill/>
        </p:spPr>
        <p:txBody>
          <a:bodyPr wrap="square" lIns="0" rIns="0" tIns="0" bIns="0" anchor="t">
            <a:spAutoFit/>
          </a:bodyPr>
          <a:lstStyle/>
          <a:p>
            <a:pPr algn="l">
              <a:spcAft>
                <a:spcPts val="600"/>
              </a:spcAft>
            </a:pPr>
            <a:r>
              <a:rPr sz="1050" b="1" i="0" spc="100" lang="en-US">
                <a:solidFill>
                  <a:srgbClr val="6F6A62"/>
                </a:solidFill>
                <a:latin typeface="Calibri"/>
              </a:rPr>
              <a:t>LARGEST GAINS, 1996 TO 2024</a:t>
            </a:r>
          </a:p>
        </p:txBody>
      </p:sp>
      <p:graphicFrame>
        <p:nvGraphicFramePr>
          <p:cNvPr id="7" name="Table 6"/>
          <p:cNvGraphicFramePr>
            <a:graphicFrameLocks noGrp="1"/>
          </p:cNvGraphicFramePr>
          <p:nvPr/>
        </p:nvGraphicFramePr>
        <p:xfrm>
          <a:off x="8686800" y="2103120"/>
          <a:ext cx="2862072" cy="2080260"/>
        </p:xfrm>
        <a:graphic>
          <a:graphicData uri="http://schemas.openxmlformats.org/drawingml/2006/table">
            <a:tbl>
              <a:tblPr firstRow="0" bandRow="0">
                <a:tableStyleId>{2D5ABB26-0587-4C30-8999-92F81FD0307C}</a:tableStyleId>
              </a:tblPr>
              <a:tblGrid>
                <a:gridCol w="1298448"/>
                <a:gridCol w="658368"/>
                <a:gridCol w="905256"/>
              </a:tblGrid>
              <a:tr h="297180">
                <a:tc>
                  <a:txBody>
                    <a:bodyPr wrap="square"/>
                    <a:lstStyle/>
                    <a:p>
                      <a:pPr algn="l"/>
                      <a:r>
                        <a:rPr sz="1250" b="1" i="0" lang="en-US">
                          <a:solidFill>
                            <a:srgbClr val="6F6A62"/>
                          </a:solidFill>
                          <a:latin typeface="Calibri"/>
                        </a:rPr>
                        <a:t>Economy</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wrap="square"/>
                    <a:lstStyle/>
                    <a:p>
                      <a:pPr algn="r"/>
                      <a:r>
                        <a:rPr sz="1250" b="1" i="0" lang="en-US">
                          <a:solidFill>
                            <a:srgbClr val="6F6A62"/>
                          </a:solidFill>
                          <a:latin typeface="Calibri"/>
                        </a:rPr>
                        <a:t>Change</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wrap="square"/>
                    <a:lstStyle/>
                    <a:p>
                      <a:pPr algn="r"/>
                      <a:r>
                        <a:rPr sz="1250" b="1" i="0" lang="en-US">
                          <a:solidFill>
                            <a:srgbClr val="6F6A62"/>
                          </a:solidFill>
                          <a:latin typeface="Calibri"/>
                        </a:rPr>
                        <a:t>Rank</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r>
              <a:tr h="297180">
                <a:tc>
                  <a:txBody>
                    <a:bodyPr wrap="square"/>
                    <a:lstStyle/>
                    <a:p>
                      <a:pPr algn="l"/>
                      <a:r>
                        <a:rPr sz="1250" b="0" i="0" lang="en-US">
                          <a:solidFill>
                            <a:srgbClr val="22211F"/>
                          </a:solidFill>
                          <a:latin typeface="Calibri"/>
                        </a:rPr>
                        <a:t>Qatar</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+159%</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54 → 4</a:t>
                      </a:r>
                    </a:p>
                  </a:txBody>
                  <a:tcPr marL="54864" marR="54864" marT="18288" marB="18288" anchor="ctr">
                    <a:lnL w="0">
                      <a:noFill/>
                    </a:lnL>
                    <a:lnR w="0">
                      <a:noFill/>
                    </a:lnR>
                    <a:lnT w="0">
                      <a:noFill/>
                    </a:lnT>
                    <a:lnB w="7620" cap="flat" cmpd="sng" algn="ctr">
                      <a:solidFill>
                        <a:srgbClr val="D9D5CC"/>
                      </a:solidFill>
                      <a:prstDash val="solid"/>
                    </a:lnB>
                    <a:noFill/>
                  </a:tcPr>
                </a:tc>
              </a:tr>
              <a:tr h="297180">
                <a:tc>
                  <a:txBody>
                    <a:bodyPr wrap="square"/>
                    <a:lstStyle/>
                    <a:p>
                      <a:pPr algn="l"/>
                      <a:r>
                        <a:rPr sz="1250" b="1" i="0" lang="en-US">
                          <a:solidFill>
                            <a:srgbClr val="B8862F"/>
                          </a:solidFill>
                          <a:latin typeface="Calibri"/>
                        </a:rPr>
                        <a:t>South Korea</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+139%</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108 → 12</a:t>
                      </a:r>
                    </a:p>
                  </a:txBody>
                  <a:tcPr marL="54864" marR="54864" marT="18288" marB="18288" anchor="ctr">
                    <a:lnL w="0">
                      <a:noFill/>
                    </a:lnL>
                    <a:lnR w="0">
                      <a:noFill/>
                    </a:lnR>
                    <a:lnT w="0">
                      <a:noFill/>
                    </a:lnT>
                    <a:lnB w="7620" cap="flat" cmpd="sng" algn="ctr">
                      <a:solidFill>
                        <a:srgbClr val="D9D5CC"/>
                      </a:solidFill>
                      <a:prstDash val="solid"/>
                    </a:lnB>
                    <a:noFill/>
                  </a:tcPr>
                </a:tc>
              </a:tr>
              <a:tr h="297180">
                <a:tc>
                  <a:txBody>
                    <a:bodyPr wrap="square"/>
                    <a:lstStyle/>
                    <a:p>
                      <a:pPr algn="l"/>
                      <a:r>
                        <a:rPr sz="1250" b="0" i="0" lang="en-US">
                          <a:solidFill>
                            <a:srgbClr val="22211F"/>
                          </a:solidFill>
                          <a:latin typeface="Calibri"/>
                        </a:rPr>
                        <a:t>UAE</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+121%</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21 → 2</a:t>
                      </a:r>
                    </a:p>
                  </a:txBody>
                  <a:tcPr marL="54864" marR="54864" marT="18288" marB="18288" anchor="ctr">
                    <a:lnL w="0">
                      <a:noFill/>
                    </a:lnL>
                    <a:lnR w="0">
                      <a:noFill/>
                    </a:lnR>
                    <a:lnT w="0">
                      <a:noFill/>
                    </a:lnT>
                    <a:lnB w="7620" cap="flat" cmpd="sng" algn="ctr">
                      <a:solidFill>
                        <a:srgbClr val="D9D5CC"/>
                      </a:solidFill>
                      <a:prstDash val="solid"/>
                    </a:lnB>
                    <a:noFill/>
                  </a:tcPr>
                </a:tc>
              </a:tr>
              <a:tr h="297180">
                <a:tc>
                  <a:txBody>
                    <a:bodyPr wrap="square"/>
                    <a:lstStyle/>
                    <a:p>
                      <a:pPr algn="l"/>
                      <a:r>
                        <a:rPr sz="1250" b="0" i="0" lang="en-US">
                          <a:solidFill>
                            <a:srgbClr val="22211F"/>
                          </a:solidFill>
                          <a:latin typeface="Calibri"/>
                        </a:rPr>
                        <a:t>Ethiopia</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+107%</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86 → 15</a:t>
                      </a:r>
                    </a:p>
                  </a:txBody>
                  <a:tcPr marL="54864" marR="54864" marT="18288" marB="18288" anchor="ctr">
                    <a:lnL w="0">
                      <a:noFill/>
                    </a:lnL>
                    <a:lnR w="0">
                      <a:noFill/>
                    </a:lnR>
                    <a:lnT w="0">
                      <a:noFill/>
                    </a:lnT>
                    <a:lnB w="7620" cap="flat" cmpd="sng" algn="ctr">
                      <a:solidFill>
                        <a:srgbClr val="D9D5CC"/>
                      </a:solidFill>
                      <a:prstDash val="solid"/>
                    </a:lnB>
                    <a:noFill/>
                  </a:tcPr>
                </a:tc>
              </a:tr>
              <a:tr h="297180">
                <a:tc>
                  <a:txBody>
                    <a:bodyPr wrap="square"/>
                    <a:lstStyle/>
                    <a:p>
                      <a:pPr algn="l"/>
                      <a:r>
                        <a:rPr sz="1250" b="0" i="0" lang="en-US">
                          <a:solidFill>
                            <a:srgbClr val="22211F"/>
                          </a:solidFill>
                          <a:latin typeface="Calibri"/>
                        </a:rPr>
                        <a:t>Türkiye</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+84%</a:t>
                      </a:r>
                    </a:p>
                  </a:txBody>
                  <a:tcPr marL="54864" marR="54864" marT="18288" marB="18288" anchor="ctr">
                    <a:lnL w="0">
                      <a:noFill/>
                    </a:lnL>
                    <a:lnR w="0">
                      <a:noFill/>
                    </a:lnR>
                    <a:lnT w="0">
                      <a:noFill/>
                    </a:lnT>
                    <a:lnB w="7620" cap="flat" cmpd="sng" algn="ctr">
                      <a:solidFill>
                        <a:srgbClr val="D9D5CC"/>
                      </a:solidFill>
                      <a:prstDash val="solid"/>
                    </a:lnB>
                    <a:noFill/>
                  </a:tcPr>
                </a:tc>
                <a:tc>
                  <a:txBody>
                    <a:bodyPr wrap="square"/>
                    <a:lstStyle/>
                    <a:p>
                      <a:pPr algn="r"/>
                      <a:r>
                        <a:rPr sz="1250" b="0" i="0" lang="en-US">
                          <a:solidFill>
                            <a:srgbClr val="22211F"/>
                          </a:solidFill>
                          <a:latin typeface="Calibri"/>
                        </a:rPr>
                        <a:t>30 → 7</a:t>
                      </a:r>
                    </a:p>
                  </a:txBody>
                  <a:tcPr marL="54864" marR="54864" marT="18288" marB="18288" anchor="ctr">
                    <a:lnL w="0">
                      <a:noFill/>
                    </a:lnL>
                    <a:lnR w="0">
                      <a:noFill/>
                    </a:lnR>
                    <a:lnT w="0">
                      <a:noFill/>
                    </a:lnT>
                    <a:lnB w="7620" cap="flat" cmpd="sng" algn="ctr">
                      <a:solidFill>
                        <a:srgbClr val="D9D5CC"/>
                      </a:solidFill>
                      <a:prstDash val="solid"/>
                    </a:lnB>
                    <a:noFill/>
                  </a:tcPr>
                </a:tc>
              </a:tr>
              <a:tr h="297180">
                <a:tc>
                  <a:txBody>
                    <a:bodyPr wrap="square"/>
                    <a:lstStyle/>
                    <a:p>
                      <a:pPr algn="l"/>
                      <a:r>
                        <a:rPr sz="1250" b="0" i="0" lang="en-US">
                          <a:solidFill>
                            <a:srgbClr val="22211F"/>
                          </a:solidFill>
                          <a:latin typeface="Calibri"/>
                        </a:rPr>
                        <a:t>Saudi Arabia</a:t>
                      </a:r>
                    </a:p>
                  </a:txBody>
                  <a:tcPr marL="54864" marR="54864" marT="18288" marB="18288" anchor="ctr">
                    <a:lnL w="0">
                      <a:noFill/>
                    </a:lnL>
                    <a:lnR w="0">
                      <a:noFill/>
                    </a:lnR>
                    <a:lnT w="0">
                      <a:noFill/>
                    </a:lnT>
                    <a:lnB w="15875" cap="flat" cmpd="sng" algn="ctr">
                      <a:solidFill>
                        <a:srgbClr val="22211F"/>
                      </a:solidFill>
                      <a:prstDash val="solid"/>
                    </a:lnB>
                    <a:noFill/>
                  </a:tcPr>
                </a:tc>
                <a:tc>
                  <a:txBody>
                    <a:bodyPr wrap="square"/>
                    <a:lstStyle/>
                    <a:p>
                      <a:pPr algn="r"/>
                      <a:r>
                        <a:rPr sz="1250" b="0" i="0" lang="en-US">
                          <a:solidFill>
                            <a:srgbClr val="22211F"/>
                          </a:solidFill>
                          <a:latin typeface="Calibri"/>
                        </a:rPr>
                        <a:t>+77%</a:t>
                      </a:r>
                    </a:p>
                  </a:txBody>
                  <a:tcPr marL="54864" marR="54864" marT="18288" marB="18288" anchor="ctr">
                    <a:lnL w="0">
                      <a:noFill/>
                    </a:lnL>
                    <a:lnR w="0">
                      <a:noFill/>
                    </a:lnR>
                    <a:lnT w="0">
                      <a:noFill/>
                    </a:lnT>
                    <a:lnB w="15875" cap="flat" cmpd="sng" algn="ctr">
                      <a:solidFill>
                        <a:srgbClr val="22211F"/>
                      </a:solidFill>
                      <a:prstDash val="solid"/>
                    </a:lnB>
                    <a:noFill/>
                  </a:tcPr>
                </a:tc>
                <a:tc>
                  <a:txBody>
                    <a:bodyPr wrap="square"/>
                    <a:lstStyle/>
                    <a:p>
                      <a:pPr algn="r"/>
                      <a:r>
                        <a:rPr sz="1250" b="0" i="0" lang="en-US">
                          <a:solidFill>
                            <a:srgbClr val="22211F"/>
                          </a:solidFill>
                          <a:latin typeface="Calibri"/>
                        </a:rPr>
                        <a:t>33 → 13</a:t>
                      </a:r>
                    </a:p>
                  </a:txBody>
                  <a:tcPr marL="54864" marR="54864" marT="18288" marB="18288" anchor="ctr">
                    <a:lnL w="0">
                      <a:noFill/>
                    </a:lnL>
                    <a:lnR w="0">
                      <a:noFill/>
                    </a:lnR>
                    <a:lnT w="0">
                      <a:noFill/>
                    </a:lnT>
                    <a:lnB w="15875" cap="flat" cmpd="sng" algn="ctr">
                      <a:solidFill>
                        <a:srgbClr val="22211F"/>
                      </a:solidFill>
                      <a:prstDash val="solid"/>
                    </a:lnB>
                    <a:noFill/>
                  </a:tcPr>
                </a:tc>
              </a:tr>
            </a:tbl>
          </a:graphicData>
        </a:graphic>
      </p:graphicFrame>
      <p:sp>
        <p:nvSpPr>
          <p:cNvPr id="8" name="TextBox 7"/>
          <p:cNvSpPr txBox="1"/>
          <p:nvPr/>
        </p:nvSpPr>
        <p:spPr>
          <a:xfrm>
            <a:off x="8686800" y="4315968"/>
            <a:ext cx="4572000" cy="274320"/>
          </a:xfrm>
          <a:prstGeom prst="rect">
            <a:avLst/>
          </a:prstGeom>
          <a:noFill/>
        </p:spPr>
        <p:txBody>
          <a:bodyPr wrap="square" lIns="0" rIns="0" tIns="0" bIns="0" anchor="t">
            <a:spAutoFit/>
          </a:bodyPr>
          <a:lstStyle/>
          <a:p>
            <a:pPr algn="l">
              <a:spcAft>
                <a:spcPts val="600"/>
              </a:spcAft>
            </a:pPr>
            <a:r>
              <a:rPr sz="1050" b="1" i="0" spc="100" lang="en-US">
                <a:solidFill>
                  <a:srgbClr val="6F6A62"/>
                </a:solidFill>
                <a:latin typeface="Calibri"/>
              </a:rPr>
              <a:t>SOUTH KOREA’S RANK</a:t>
            </a:r>
          </a:p>
        </p:txBody>
      </p:sp>
      <p:graphicFrame>
        <p:nvGraphicFramePr>
          <p:cNvPr id="9" name="Chart 8"/>
          <p:cNvGraphicFramePr>
            <a:graphicFrameLocks noGrp="1"/>
          </p:cNvGraphicFramePr>
          <p:nvPr/>
        </p:nvGraphicFramePr>
        <p:xfrm>
          <a:off x="8595360" y="4553712"/>
          <a:ext cx="3017520" cy="1600200"/>
        </p:xfrm>
        <a:graphic>
          <a:graphicData uri="http://schemas.openxmlformats.org/drawingml/2006/chart">
            <c:chart xmlns:c="http://schemas.openxmlformats.org/drawingml/2006/chart" r:id="rId3"/>
          </a:graphicData>
        </a:graphic>
      </p:graphicFrame>
      <p:sp>
        <p:nvSpPr>
          <p:cNvPr id="10" name="TextBox 9"/>
          <p:cNvSpPr txBox="1"/>
          <p:nvPr/>
        </p:nvSpPr>
        <p:spPr>
          <a:xfrm>
            <a:off x="8439912" y="4549140"/>
            <a:ext cx="384048" cy="201168"/>
          </a:xfrm>
          <a:prstGeom prst="rect">
            <a:avLst/>
          </a:prstGeom>
          <a:noFill/>
        </p:spPr>
        <p:txBody>
          <a:bodyPr wrap="square" lIns="0" rIns="0" tIns="0" bIns="0" anchor="t">
            <a:spAutoFit/>
          </a:bodyPr>
          <a:lstStyle/>
          <a:p>
            <a:pPr algn="r">
              <a:spcAft>
                <a:spcPts val="600"/>
              </a:spcAft>
            </a:pPr>
            <a:r>
              <a:rPr sz="1050" b="0" i="0" lang="en-US">
                <a:solidFill>
                  <a:srgbClr val="6F6A62"/>
                </a:solidFill>
                <a:latin typeface="Calibri"/>
              </a:rPr>
              <a:t>1</a:t>
            </a:r>
          </a:p>
        </p:txBody>
      </p:sp>
      <p:sp>
        <p:nvSpPr>
          <p:cNvPr id="11" name="TextBox 10"/>
          <p:cNvSpPr txBox="1"/>
          <p:nvPr/>
        </p:nvSpPr>
        <p:spPr>
          <a:xfrm>
            <a:off x="8439912" y="5009997"/>
            <a:ext cx="384048" cy="201168"/>
          </a:xfrm>
          <a:prstGeom prst="rect">
            <a:avLst/>
          </a:prstGeom>
          <a:noFill/>
        </p:spPr>
        <p:txBody>
          <a:bodyPr wrap="square" lIns="0" rIns="0" tIns="0" bIns="0" anchor="t">
            <a:spAutoFit/>
          </a:bodyPr>
          <a:lstStyle/>
          <a:p>
            <a:pPr algn="r">
              <a:spcAft>
                <a:spcPts val="600"/>
              </a:spcAft>
            </a:pPr>
            <a:r>
              <a:rPr sz="1050" b="0" i="0" lang="en-US">
                <a:solidFill>
                  <a:srgbClr val="6F6A62"/>
                </a:solidFill>
                <a:latin typeface="Calibri"/>
              </a:rPr>
              <a:t>50</a:t>
            </a:r>
          </a:p>
        </p:txBody>
      </p:sp>
      <p:sp>
        <p:nvSpPr>
          <p:cNvPr id="12" name="TextBox 11"/>
          <p:cNvSpPr txBox="1"/>
          <p:nvPr/>
        </p:nvSpPr>
        <p:spPr>
          <a:xfrm>
            <a:off x="8439912" y="5470855"/>
            <a:ext cx="384048" cy="201168"/>
          </a:xfrm>
          <a:prstGeom prst="rect">
            <a:avLst/>
          </a:prstGeom>
          <a:noFill/>
        </p:spPr>
        <p:txBody>
          <a:bodyPr wrap="square" lIns="0" rIns="0" tIns="0" bIns="0" anchor="t">
            <a:spAutoFit/>
          </a:bodyPr>
          <a:lstStyle/>
          <a:p>
            <a:pPr algn="r">
              <a:spcAft>
                <a:spcPts val="600"/>
              </a:spcAft>
            </a:pPr>
            <a:r>
              <a:rPr sz="1050" b="0" i="0" lang="en-US">
                <a:solidFill>
                  <a:srgbClr val="6F6A62"/>
                </a:solidFill>
                <a:latin typeface="Calibri"/>
              </a:rPr>
              <a:t>100</a:t>
            </a:r>
          </a:p>
        </p:txBody>
      </p:sp>
      <p:sp>
        <p:nvSpPr>
          <p:cNvPr id="13" name="TextBox 12"/>
          <p:cNvSpPr txBox="1"/>
          <p:nvPr/>
        </p:nvSpPr>
        <p:spPr>
          <a:xfrm>
            <a:off x="9446382" y="5277368"/>
            <a:ext cx="2194560" cy="228600"/>
          </a:xfrm>
          <a:prstGeom prst="rect">
            <a:avLst/>
          </a:prstGeom>
          <a:noFill/>
        </p:spPr>
        <p:txBody>
          <a:bodyPr wrap="square" lIns="0" rIns="0" tIns="0" bIns="0" anchor="t">
            <a:spAutoFit/>
          </a:bodyPr>
          <a:lstStyle/>
          <a:p>
            <a:pPr algn="l">
              <a:spcAft>
                <a:spcPts val="600"/>
              </a:spcAft>
            </a:pPr>
            <a:r>
              <a:rPr sz="1050" b="0" i="1" lang="en-US">
                <a:solidFill>
                  <a:srgbClr val="1F3A32"/>
                </a:solidFill>
                <a:latin typeface="Calibri"/>
              </a:rPr>
              <a:t>2001: Incheon opens, 106th → 42nd</a:t>
            </a:r>
          </a:p>
        </p:txBody>
      </p:sp>
      <p:sp>
        <p:nvSpPr>
          <p:cNvPr id="14" name="TextBox 13"/>
          <p:cNvSpPr txBox="1"/>
          <p:nvPr/>
        </p:nvSpPr>
        <p:spPr>
          <a:xfrm>
            <a:off x="640080" y="6428232"/>
            <a:ext cx="10424160" cy="320040"/>
          </a:xfrm>
          <a:prstGeom prst="rect">
            <a:avLst/>
          </a:prstGeom>
          <a:noFill/>
        </p:spPr>
        <p:txBody>
          <a:bodyPr wrap="square" lIns="0" rIns="0" tIns="0" bIns="0" anchor="t">
            <a:spAutoFit/>
          </a:bodyPr>
          <a:lstStyle/>
          <a:p>
            <a:pPr algn="l">
              <a:spcAft>
                <a:spcPts val="600"/>
              </a:spcAft>
            </a:pPr>
            <a:r>
              <a:rPr sz="1000" b="0" i="0" lang="en-US">
                <a:solidFill>
                  <a:srgbClr val="6F6A62"/>
                </a:solidFill>
                <a:latin typeface="Calibri"/>
              </a:rPr>
              <a:t>Hub quality: capacity-weighted mean GACI over each economy’s airports. Ranks among all economies with scheduled service (229 in 1996, 233 in 2024). Largest falls: Ukraine −45%, Syria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6629</Words>
  <Application>Microsoft Office PowerPoint</Application>
  <PresentationFormat>와이드스크린</PresentationFormat>
  <Paragraphs>732</Paragraphs>
  <Slides>30</Slides>
  <Notes>30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30</vt:i4>
      </vt:variant>
    </vt:vector>
  </HeadingPairs>
  <TitlesOfParts>
    <vt:vector size="35" baseType="lpstr">
      <vt:lpstr>Arial</vt:lpstr>
      <vt:lpstr>Calibri</vt:lpstr>
      <vt:lpstr>Cambria Math</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유선빈</cp:lastModifiedBy>
  <cp:revision>3</cp:revision>
  <dcterms:created xsi:type="dcterms:W3CDTF">2013-01-27T09:14:16Z</dcterms:created>
  <dcterms:modified xsi:type="dcterms:W3CDTF">2026-09-29T05:22:21Z</dcterms:modified>
  <cp:category/>
</cp:coreProperties>
</file>