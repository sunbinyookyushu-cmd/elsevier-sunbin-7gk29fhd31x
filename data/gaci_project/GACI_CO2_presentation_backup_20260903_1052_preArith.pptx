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2"/>
  </p:notesMasterIdLst>
  <p:sldIdLst>
    <p:sldId id="256" r:id="rId2"/>
    <p:sldId id="319" r:id="rId3"/>
    <p:sldId id="318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32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317" r:id="rId35"/>
    <p:sldId id="321" r:id="rId36"/>
    <p:sldId id="288" r:id="rId37"/>
    <p:sldId id="289" r:id="rId38"/>
    <p:sldId id="290" r:id="rId39"/>
    <p:sldId id="322" r:id="rId40"/>
    <p:sldId id="291" r:id="rId41"/>
    <p:sldId id="292" r:id="rId42"/>
    <p:sldId id="293" r:id="rId43"/>
    <p:sldId id="323" r:id="rId44"/>
    <p:sldId id="295" r:id="rId45"/>
    <p:sldId id="294" r:id="rId46"/>
    <p:sldId id="324" r:id="rId47"/>
    <p:sldId id="296" r:id="rId48"/>
    <p:sldId id="297" r:id="rId49"/>
    <p:sldId id="298" r:id="rId50"/>
    <p:sldId id="325" r:id="rId51"/>
    <p:sldId id="299" r:id="rId52"/>
    <p:sldId id="300" r:id="rId53"/>
    <p:sldId id="301" r:id="rId54"/>
    <p:sldId id="302" r:id="rId55"/>
    <p:sldId id="303" r:id="rId56"/>
    <p:sldId id="326" r:id="rId57"/>
    <p:sldId id="304" r:id="rId58"/>
    <p:sldId id="305" r:id="rId59"/>
    <p:sldId id="327" r:id="rId60"/>
    <p:sldId id="306" r:id="rId61"/>
    <p:sldId id="307" r:id="rId62"/>
    <p:sldId id="308" r:id="rId63"/>
    <p:sldId id="309" r:id="rId64"/>
    <p:sldId id="310" r:id="rId65"/>
    <p:sldId id="311" r:id="rId66"/>
    <p:sldId id="312" r:id="rId67"/>
    <p:sldId id="313" r:id="rId68"/>
    <p:sldId id="314" r:id="rId69"/>
    <p:sldId id="315" r:id="rId70"/>
    <p:sldId id="316" r:id="rId7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96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783E8-1144-4A5C-9761-9512C037E7D2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5A1408-0742-48C9-A9B4-B6DB139E61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9614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1423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BCC5DE"/>
                </a:solidFill>
                <a:latin typeface="Calibri"/>
              </a:rPr>
              <a:t>Research Seminar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34440"/>
            <a:ext cx="1371600" cy="4572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FFFFFF"/>
                </a:solidFill>
                <a:latin typeface="Verdana"/>
              </a:rPr>
              <a:t>How Much Does Air Connectivity</a:t>
            </a:r>
          </a:p>
          <a:p>
            <a:r>
              <a:rPr sz="3300" b="1" i="0">
                <a:solidFill>
                  <a:srgbClr val="FFFFFF"/>
                </a:solidFill>
                <a:latin typeface="Verdana"/>
              </a:rPr>
              <a:t>Increase Aviation CO2?  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246120"/>
            <a:ext cx="10789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BCC5DE"/>
                </a:solidFill>
                <a:latin typeface="Calibri"/>
              </a:rPr>
              <a:t>Transportation and Energy Economics</a:t>
            </a:r>
            <a:endParaRPr sz="1800" b="0" i="0" dirty="0">
              <a:solidFill>
                <a:srgbClr val="BCC5D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2648" y="4160520"/>
            <a:ext cx="10515600" cy="18288"/>
          </a:xfrm>
          <a:prstGeom prst="rect">
            <a:avLst/>
          </a:prstGeom>
          <a:solidFill>
            <a:srgbClr val="444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4343400"/>
            <a:ext cx="10515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i="0" dirty="0">
                <a:solidFill>
                  <a:srgbClr val="BCC5DE"/>
                </a:solidFill>
                <a:latin typeface="Calibri"/>
              </a:rPr>
              <a:t>Sunbin YOO (SKKU), Junya KUMAGAI (Fukuoka Univ.), </a:t>
            </a:r>
            <a:r>
              <a:rPr lang="en-US" sz="1300" b="0" i="0" dirty="0" err="1">
                <a:solidFill>
                  <a:srgbClr val="BCC5DE"/>
                </a:solidFill>
                <a:latin typeface="Calibri"/>
              </a:rPr>
              <a:t>Longfei</a:t>
            </a:r>
            <a:r>
              <a:rPr lang="en-US" sz="1300" b="0" i="0" dirty="0">
                <a:solidFill>
                  <a:srgbClr val="BCC5DE"/>
                </a:solidFill>
                <a:latin typeface="Calibri"/>
              </a:rPr>
              <a:t> ZHENG (Tsinghua Univ), I-Yun Hsieh (</a:t>
            </a:r>
            <a:r>
              <a:rPr lang="en-US" sz="1300" b="0" i="0">
                <a:solidFill>
                  <a:srgbClr val="BCC5DE"/>
                </a:solidFill>
                <a:latin typeface="Calibri"/>
              </a:rPr>
              <a:t>National Taiwan Univ), </a:t>
            </a:r>
            <a:endParaRPr lang="en-US" sz="1300" b="0" i="0" dirty="0">
              <a:solidFill>
                <a:srgbClr val="BCC5DE"/>
              </a:solidFill>
              <a:latin typeface="Calibri"/>
            </a:endParaRPr>
          </a:p>
          <a:p>
            <a:r>
              <a:rPr lang="en-US" sz="1300" dirty="0">
                <a:solidFill>
                  <a:srgbClr val="BCC5DE"/>
                </a:solidFill>
                <a:latin typeface="Calibri"/>
              </a:rPr>
              <a:t>Jinwoo LEE (KAIST), </a:t>
            </a:r>
            <a:r>
              <a:rPr lang="en-US" sz="1300" b="0" i="0" dirty="0">
                <a:solidFill>
                  <a:srgbClr val="BCC5DE"/>
                </a:solidFill>
                <a:latin typeface="Calibri"/>
              </a:rPr>
              <a:t> and </a:t>
            </a:r>
            <a:r>
              <a:rPr lang="en-US" sz="1300" b="0" i="0" dirty="0" err="1">
                <a:solidFill>
                  <a:srgbClr val="BCC5DE"/>
                </a:solidFill>
                <a:latin typeface="Calibri"/>
              </a:rPr>
              <a:t>Anming</a:t>
            </a:r>
            <a:r>
              <a:rPr lang="en-US" sz="1300" b="0" i="0" dirty="0">
                <a:solidFill>
                  <a:srgbClr val="BCC5DE"/>
                </a:solidFill>
                <a:latin typeface="Calibri"/>
              </a:rPr>
              <a:t> Zhang (University of British Columbia)</a:t>
            </a:r>
            <a:endParaRPr lang="en-US" sz="1300" dirty="0">
              <a:solidFill>
                <a:srgbClr val="BCC5DE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1 / 70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TALK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Introduction about 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4846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91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Sunbin YOO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유선빈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4572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03580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
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Sungkyunkwan University (SKKU)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408736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Kyushu University </a:t>
            </a: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(Faculty of Engineering)
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Tokyo </a:t>
            </a: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(PhD)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983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INTERESTS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5230368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Transportation economics
•  Urban &amp; regional development
•  Environmental economics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1920240"/>
            <a:ext cx="7040880" cy="4526280"/>
          </a:xfrm>
          <a:prstGeom prst="rect">
            <a:avLst/>
          </a:prstGeom>
          <a:solidFill>
            <a:srgbClr val="EEF2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846320" y="1993392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THEMES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331720"/>
            <a:ext cx="329184" cy="329184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846320" y="2331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48656" y="2331720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 Rail networks, regional inequality &amp; post-disaster recovery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248656" y="2670048"/>
            <a:ext cx="6400800" cy="1828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248656" y="2715768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76672" y="2715768"/>
            <a:ext cx="6263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HSR, expressways &amp; post-GEJE revitalization  </a:t>
            </a: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Transportation Research A , 2026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248656" y="2990088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76672" y="2990088"/>
            <a:ext cx="6263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Sectoral Decarbonization and HSR – </a:t>
            </a:r>
            <a:r>
              <a:rPr lang="en-US" sz="10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Economics, 2026 (Top 0.2% Journal)</a:t>
            </a:r>
            <a:endParaRPr lang="en-US" sz="1050" i="1" dirty="0"/>
          </a:p>
        </p:txBody>
      </p:sp>
      <p:sp>
        <p:nvSpPr>
          <p:cNvPr id="27" name="Text 25"/>
          <p:cNvSpPr/>
          <p:nvPr/>
        </p:nvSpPr>
        <p:spPr>
          <a:xfrm>
            <a:off x="5248656" y="3264408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76672" y="3264408"/>
            <a:ext cx="6263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Double-edged trains: HSR &amp; regional disparity</a:t>
            </a: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Transport Policy · 2023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3611880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846320" y="3611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48656" y="3611880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ESG, sustainability &amp; financial performance under crises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248656" y="3950208"/>
            <a:ext cx="6400800" cy="182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248656" y="3995928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76672" y="3995928"/>
            <a:ext cx="6263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or Action: ESG behavior &amp; financial performance</a:t>
            </a: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Finance Research Letters · 2021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248656" y="4270248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76672" y="4270248"/>
            <a:ext cx="6263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performance during financial crises (COVID-19)</a:t>
            </a: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Energy Policy · 2021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46320" y="4617720"/>
            <a:ext cx="329184" cy="32918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4846320" y="4617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48656" y="4617720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economics &amp; environmental policy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248656" y="4956048"/>
            <a:ext cx="6400800" cy="1828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248656" y="5001768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376672" y="5001768"/>
            <a:ext cx="6263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Policy Abandonment and Consumer Behavior- </a:t>
            </a:r>
            <a:r>
              <a:rPr lang="en-US" sz="10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Economics. 2020</a:t>
            </a:r>
            <a:endParaRPr lang="en-US" sz="1050" i="1" dirty="0"/>
          </a:p>
        </p:txBody>
      </p:sp>
      <p:sp>
        <p:nvSpPr>
          <p:cNvPr id="43" name="Text 41"/>
          <p:cNvSpPr/>
          <p:nvPr/>
        </p:nvSpPr>
        <p:spPr>
          <a:xfrm>
            <a:off x="5248656" y="5276088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76672" y="5276088"/>
            <a:ext cx="6263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mortality benefits of COVID-19 action</a:t>
            </a: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Tech. Forecasting &amp; Social Change · 2020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846320" y="5486400"/>
            <a:ext cx="329184" cy="329184"/>
          </a:xfrm>
          <a:prstGeom prst="ellipse">
            <a:avLst/>
          </a:prstGeom>
          <a:solidFill>
            <a:srgbClr val="C9842B"/>
          </a:solidFill>
          <a:ln w="12700">
            <a:solidFill>
              <a:srgbClr val="C984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4846320" y="5486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248656" y="5486400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Micro-mobility, AVs &amp; freight innovation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248656" y="5824728"/>
            <a:ext cx="6400800" cy="18288"/>
          </a:xfrm>
          <a:prstGeom prst="rect">
            <a:avLst/>
          </a:prstGeom>
          <a:solidFill>
            <a:srgbClr val="C9842B"/>
          </a:solidFill>
          <a:ln w="12700">
            <a:solidFill>
              <a:srgbClr val="C984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5248656" y="5870448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9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376672" y="5870448"/>
            <a:ext cx="6263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vs truck: choice &amp; WTP for last-mile delivery</a:t>
            </a: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r>
              <a:rPr lang="en-US" altLang="ko-KR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Research E, 2026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248656" y="6144768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9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376672" y="6144768"/>
            <a:ext cx="6263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Dilemma of Autonomous Vehicle – </a:t>
            </a:r>
            <a:r>
              <a:rPr lang="en-US" sz="10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Research Part A ,2023 </a:t>
            </a:r>
            <a:endParaRPr lang="en-US" sz="1050" i="1" dirty="0"/>
          </a:p>
        </p:txBody>
      </p:sp>
      <p:sp>
        <p:nvSpPr>
          <p:cNvPr id="53" name="Text 51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70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6565392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109728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Sunbin Yoo  ·  KAIST Seminar  ·  2026</a:t>
            </a:r>
            <a:endParaRPr lang="en-US" sz="1000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DFB6C1D5-A8A6-4C8D-AC06-C0D715B9B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6116" y="171677"/>
            <a:ext cx="2348204" cy="17063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dirty="0">
                <a:solidFill>
                  <a:srgbClr val="232A55"/>
                </a:solidFill>
                <a:latin typeface="Calibri"/>
              </a:rPr>
              <a:t>B A C K G R O U N 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rgbClr val="1E1E24"/>
                </a:solidFill>
                <a:latin typeface="Verdana"/>
              </a:rPr>
              <a:t>교통경제란 무엇인가</a:t>
            </a:r>
            <a:endParaRPr sz="2800" b="1" i="0" dirty="0">
              <a:solidFill>
                <a:srgbClr val="1E1E24"/>
              </a:solidFill>
              <a:latin typeface="Verdan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i="0" dirty="0">
                <a:solidFill>
                  <a:srgbClr val="1E1E24"/>
                </a:solidFill>
                <a:latin typeface="Calibri"/>
              </a:rPr>
              <a:t>•  </a:t>
            </a:r>
            <a:r>
              <a:rPr lang="ko-KR" altLang="en-US" sz="1800" b="0" i="0" dirty="0">
                <a:solidFill>
                  <a:srgbClr val="1E1E24"/>
                </a:solidFill>
                <a:latin typeface="Calibri"/>
              </a:rPr>
              <a:t>사람들이 움직이는 것에 대한 경제학</a:t>
            </a:r>
            <a:endParaRPr lang="en-US" altLang="ko-KR" sz="1800" b="0" i="0" dirty="0">
              <a:solidFill>
                <a:srgbClr val="1E1E24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800" b="0" i="0" dirty="0">
                <a:solidFill>
                  <a:srgbClr val="1E1E24"/>
                </a:solidFill>
                <a:latin typeface="Calibri"/>
              </a:rPr>
              <a:t>•  Core questions: which roads, rails, and airports are worth building; how to price them (congestion charges, fares, fuel taxes); and what they cost society beyond the ticket (congestion, accidents, noise, emissions).</a:t>
            </a:r>
          </a:p>
          <a:p>
            <a:pPr>
              <a:spcAft>
                <a:spcPts val="800"/>
              </a:spcAft>
            </a:pPr>
            <a:r>
              <a:rPr sz="1800" b="0" i="0" dirty="0">
                <a:solidFill>
                  <a:srgbClr val="1E1E24"/>
                </a:solidFill>
                <a:latin typeface="Calibri"/>
              </a:rPr>
              <a:t>•  Its central insight: transport is a DERIVED demand. Nobody flies for the pleasure of sitting in seat 43E; people buy access, and access shapes trade, jobs, and where activity locates.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6908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1E1E24"/>
                </a:solidFill>
                <a:latin typeface="Calibri"/>
              </a:rPr>
              <a:t>🚗   🚌   🚄   ✈️   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Transport economics asks what a connection is worth, and who pays its full cost.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 / 70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  <p:extLst>
      <p:ext uri="{BB962C8B-B14F-4D97-AF65-F5344CB8AC3E}">
        <p14:creationId xmlns:p14="http://schemas.microsoft.com/office/powerpoint/2010/main" val="4137160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A C K G R O U N 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And transportation &amp; energy economics?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i="0">
                <a:solidFill>
                  <a:srgbClr val="1E1E24"/>
                </a:solidFill>
                <a:latin typeface="Calibri"/>
              </a:rPr>
              <a:t>•  The intersection of the two fields: transport runs almost entirely on energy, and mostly on oil.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1E1E24"/>
                </a:solidFill>
                <a:latin typeface="Calibri"/>
              </a:rPr>
              <a:t>•  It studies how transport choices and infrastructure drive energy use and emissions, and how to decarbonise mobility (fuel taxes, EVs, SAF, modal shift) without losing the access benefits.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794760"/>
            <a:ext cx="3383280" cy="1188720"/>
          </a:xfrm>
          <a:prstGeom prst="roundRect">
            <a:avLst>
              <a:gd name="adj" fmla="val 5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🌍 Transport ≈ 1/4 of global energy-related CO2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794760"/>
            <a:ext cx="3383280" cy="1188720"/>
          </a:xfrm>
          <a:prstGeom prst="roundRect">
            <a:avLst>
              <a:gd name="adj" fmla="val 50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 i="0">
                <a:solidFill>
                  <a:srgbClr val="B0413E"/>
                </a:solidFill>
                <a:latin typeface="Calibri"/>
              </a:rPr>
              <a:t>✈️ Aviation ≈ 2–3% of global CO2, and growing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3794760"/>
            <a:ext cx="3383280" cy="1188720"/>
          </a:xfrm>
          <a:prstGeom prst="roundRect">
            <a:avLst>
              <a:gd name="adj" fmla="val 5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🔋 And aviation has no near-term electrification path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5394960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Today's talk sits exactly at this intersection: a network investment (connectivity) meets an energy outcome (jet fuel burned).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4 / 70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T O D A Y ' S   T A L 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What this paper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We compute CO2 for every scheduled flight in the world, stage by stage, for 6,000+ airports over 1996–2023.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We then ask a causal question: when a country becomes better connected by air, how much does its aviation CO2 rise?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The answer is: much more than proportionally. A 1% gain in connectivity raises national aviation CO2 by 5.7%.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We finish with the bill: who owes it, where it is booked, and what (only fuel switching) can shrink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A data contribution (the emissions panel) and a causal contribution (the elasticity).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 / 70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T O D A Y ' S   T A L 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One index, two ledgers: the benefit and the bill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5120640" cy="3291840"/>
          </a:xfrm>
          <a:prstGeom prst="roundRect">
            <a:avLst>
              <a:gd name="adj" fmla="val 8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/>
            <a:r>
              <a:rPr sz="1500" b="1" i="0">
                <a:solidFill>
                  <a:srgbClr val="232A55"/>
                </a:solidFill>
                <a:latin typeface="Calibri"/>
              </a:rPr>
              <a:t>THE BENEFIT  (our companion trade paper)</a:t>
            </a:r>
          </a:p>
          <a:p>
            <a:pPr>
              <a:spcBef>
                <a:spcPts val="1200"/>
              </a:spcBef>
            </a:pPr>
            <a:r>
              <a:rPr sz="4000" b="1" i="0">
                <a:solidFill>
                  <a:srgbClr val="232A55"/>
                </a:solidFill>
                <a:latin typeface="Verdana"/>
              </a:rPr>
              <a:t>+1.30%</a:t>
            </a:r>
          </a:p>
          <a:p>
            <a:r>
              <a:rPr sz="1400" b="0" i="0">
                <a:solidFill>
                  <a:srgbClr val="1E1E24"/>
                </a:solidFill>
                <a:latin typeface="Calibri"/>
              </a:rPr>
              <a:t>trade openness per 1% rise in hub quality</a:t>
            </a:r>
          </a:p>
          <a:p>
            <a:pPr>
              <a:spcBef>
                <a:spcPts val="1000"/>
              </a:spcBef>
            </a:pPr>
            <a:r>
              <a:rPr sz="1400" b="0" i="0">
                <a:solidFill>
                  <a:srgbClr val="1E1E24"/>
                </a:solidFill>
                <a:latin typeface="Calibri"/>
              </a:rPr>
              <a:t>≈ $7.8 trillion of 2023 trade, 17% of the world 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74519"/>
            <a:ext cx="5120640" cy="3291840"/>
          </a:xfrm>
          <a:prstGeom prst="roundRect">
            <a:avLst>
              <a:gd name="adj" fmla="val 8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/>
            <a:r>
              <a:rPr sz="1500" b="1" i="0">
                <a:solidFill>
                  <a:srgbClr val="B0413E"/>
                </a:solidFill>
                <a:latin typeface="Calibri"/>
              </a:rPr>
              <a:t>THE BILL  (this paper)</a:t>
            </a:r>
          </a:p>
          <a:p>
            <a:pPr>
              <a:spcBef>
                <a:spcPts val="1200"/>
              </a:spcBef>
            </a:pPr>
            <a:r>
              <a:rPr sz="4000" b="1" i="0">
                <a:solidFill>
                  <a:srgbClr val="B0413E"/>
                </a:solidFill>
                <a:latin typeface="Verdana"/>
              </a:rPr>
              <a:t>+5.67%</a:t>
            </a:r>
          </a:p>
          <a:p>
            <a:r>
              <a:rPr sz="1400" b="0" i="0">
                <a:solidFill>
                  <a:srgbClr val="1E1E24"/>
                </a:solidFill>
                <a:latin typeface="Calibri"/>
              </a:rPr>
              <a:t>aviation CO2 per 1% rise in hub quality</a:t>
            </a:r>
          </a:p>
          <a:p>
            <a:pPr>
              <a:spcBef>
                <a:spcPts val="1000"/>
              </a:spcBef>
            </a:pPr>
            <a:r>
              <a:rPr sz="1400" b="0" i="0">
                <a:solidFill>
                  <a:srgbClr val="1E1E24"/>
                </a:solidFill>
                <a:latin typeface="Calibri"/>
              </a:rPr>
              <a:t>356 Mt of 2023 CO2, $18–68 billion per year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Same countries, same connectivity index, same IV logic: the trade paper found the benefit, this paper prices the bill.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6 / 70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O A D M A P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Seven parts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6596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/>
            <a:r>
              <a:rPr sz="2000" b="1" i="0">
                <a:solidFill>
                  <a:srgbClr val="E2A85A"/>
                </a:solidFill>
                <a:latin typeface="Verdana"/>
              </a:rPr>
              <a:t>01  </a:t>
            </a:r>
            <a:r>
              <a:rPr sz="1500" b="0" i="0">
                <a:solidFill>
                  <a:srgbClr val="E2A85A"/>
                </a:solidFill>
                <a:latin typeface="Calibri"/>
              </a:rPr>
              <a:t>💡</a:t>
            </a:r>
          </a:p>
          <a:p>
            <a:r>
              <a:rPr sz="1400" b="1" i="0">
                <a:solidFill>
                  <a:srgbClr val="232A55"/>
                </a:solidFill>
                <a:latin typeface="Verdana"/>
              </a:rPr>
              <a:t>Motivation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1E1E24"/>
                </a:solidFill>
                <a:latin typeface="Calibri"/>
              </a:rPr>
              <a:t>Policy premise meets carbon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47287" y="196596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/>
            <a:r>
              <a:rPr sz="2000" b="1" i="0">
                <a:solidFill>
                  <a:srgbClr val="E2A85A"/>
                </a:solidFill>
                <a:latin typeface="Verdana"/>
              </a:rPr>
              <a:t>02  </a:t>
            </a:r>
            <a:r>
              <a:rPr sz="1500" b="0" i="0">
                <a:solidFill>
                  <a:srgbClr val="E2A85A"/>
                </a:solidFill>
                <a:latin typeface="Calibri"/>
              </a:rPr>
              <a:t>🛰️</a:t>
            </a:r>
          </a:p>
          <a:p>
            <a:r>
              <a:rPr sz="1400" b="1" i="0">
                <a:solidFill>
                  <a:srgbClr val="232A55"/>
                </a:solidFill>
                <a:latin typeface="Verdana"/>
              </a:rPr>
              <a:t>Data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1E1E24"/>
                </a:solidFill>
                <a:latin typeface="Calibri"/>
              </a:rPr>
              <a:t>CO2 for every scheduled flight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7" y="196596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/>
            <a:r>
              <a:rPr sz="2000" b="1" i="0">
                <a:solidFill>
                  <a:srgbClr val="E2A85A"/>
                </a:solidFill>
                <a:latin typeface="Verdana"/>
              </a:rPr>
              <a:t>03  </a:t>
            </a:r>
            <a:r>
              <a:rPr sz="1500" b="0" i="0">
                <a:solidFill>
                  <a:srgbClr val="E2A85A"/>
                </a:solidFill>
                <a:latin typeface="Calibri"/>
              </a:rPr>
              <a:t>🕸️</a:t>
            </a:r>
          </a:p>
          <a:p>
            <a:r>
              <a:rPr sz="1400" b="1" i="0">
                <a:solidFill>
                  <a:srgbClr val="232A55"/>
                </a:solidFill>
                <a:latin typeface="Verdana"/>
              </a:rPr>
              <a:t>Building GACI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1E1E24"/>
                </a:solidFill>
                <a:latin typeface="Calibri"/>
              </a:rPr>
              <a:t>Five centralities, PCA, one index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25128" y="196596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/>
            <a:r>
              <a:rPr sz="2000" b="1" i="0">
                <a:solidFill>
                  <a:srgbClr val="E2A85A"/>
                </a:solidFill>
                <a:latin typeface="Verdana"/>
              </a:rPr>
              <a:t>04  </a:t>
            </a:r>
            <a:r>
              <a:rPr sz="1500" b="0" i="0">
                <a:solidFill>
                  <a:srgbClr val="E2A85A"/>
                </a:solidFill>
                <a:latin typeface="Calibri"/>
              </a:rPr>
              <a:t>🔍</a:t>
            </a:r>
          </a:p>
          <a:p>
            <a:r>
              <a:rPr sz="1400" b="1" i="0">
                <a:solidFill>
                  <a:srgbClr val="232A55"/>
                </a:solidFill>
                <a:latin typeface="Verdana"/>
              </a:rPr>
              <a:t>Identification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1E1E24"/>
                </a:solidFill>
                <a:latin typeface="Calibri"/>
              </a:rPr>
              <a:t>A geography instrument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48256" y="393192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/>
            <a:r>
              <a:rPr sz="2000" b="1" i="0">
                <a:solidFill>
                  <a:srgbClr val="E2A85A"/>
                </a:solidFill>
                <a:latin typeface="Verdana"/>
              </a:rPr>
              <a:t>05  </a:t>
            </a:r>
            <a:r>
              <a:rPr sz="1500" b="0" i="0">
                <a:solidFill>
                  <a:srgbClr val="E2A85A"/>
                </a:solidFill>
                <a:latin typeface="Calibri"/>
              </a:rPr>
              <a:t>📈</a:t>
            </a:r>
          </a:p>
          <a:p>
            <a:r>
              <a:rPr sz="1400" b="1" i="0">
                <a:solidFill>
                  <a:srgbClr val="232A55"/>
                </a:solidFill>
                <a:latin typeface="Verdana"/>
              </a:rPr>
              <a:t>Results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1E1E24"/>
                </a:solidFill>
                <a:latin typeface="Calibri"/>
              </a:rPr>
              <a:t>The elasticity and its anatomy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37176" y="393192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/>
            <a:r>
              <a:rPr sz="2000" b="1" i="0">
                <a:solidFill>
                  <a:srgbClr val="E2A85A"/>
                </a:solidFill>
                <a:latin typeface="Verdana"/>
              </a:rPr>
              <a:t>06  </a:t>
            </a:r>
            <a:r>
              <a:rPr sz="1500" b="0" i="0">
                <a:solidFill>
                  <a:srgbClr val="E2A85A"/>
                </a:solidFill>
                <a:latin typeface="Calibri"/>
              </a:rPr>
              <a:t>💸</a:t>
            </a:r>
          </a:p>
          <a:p>
            <a:r>
              <a:rPr sz="1400" b="1" i="0">
                <a:solidFill>
                  <a:srgbClr val="232A55"/>
                </a:solidFill>
                <a:latin typeface="Verdana"/>
              </a:rPr>
              <a:t>The carbon bill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1E1E24"/>
                </a:solidFill>
                <a:latin typeface="Calibri"/>
              </a:rPr>
              <a:t>Attribution, mismatch, SAF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6096" y="393192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/>
            <a:r>
              <a:rPr sz="2000" b="1" i="0">
                <a:solidFill>
                  <a:srgbClr val="E2A85A"/>
                </a:solidFill>
                <a:latin typeface="Verdana"/>
              </a:rPr>
              <a:t>07  </a:t>
            </a:r>
            <a:r>
              <a:rPr sz="1500" b="0" i="0">
                <a:solidFill>
                  <a:srgbClr val="E2A85A"/>
                </a:solidFill>
                <a:latin typeface="Calibri"/>
              </a:rPr>
              <a:t>🎯</a:t>
            </a:r>
          </a:p>
          <a:p>
            <a:r>
              <a:rPr sz="1400" b="1" i="0">
                <a:solidFill>
                  <a:srgbClr val="232A55"/>
                </a:solidFill>
                <a:latin typeface="Verdana"/>
              </a:rPr>
              <a:t>Conclusion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1E1E24"/>
                </a:solidFill>
                <a:latin typeface="Calibri"/>
              </a:rPr>
              <a:t>What it implies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7 / 70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88920"/>
            <a:ext cx="128016" cy="109728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E2A85A"/>
                </a:solidFill>
                <a:latin typeface="Verdana"/>
              </a:rPr>
              <a:t>01</a:t>
            </a:r>
          </a:p>
          <a:p>
            <a:r>
              <a:rPr sz="3200" b="1" i="0">
                <a:solidFill>
                  <a:srgbClr val="FFFFFF"/>
                </a:solidFill>
                <a:latin typeface="Verdana"/>
              </a:rPr>
              <a:t>Motivation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BCC5DE"/>
                </a:solidFill>
                <a:latin typeface="Calibri"/>
              </a:rPr>
              <a:t>Policy premise meets carbon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286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0">
                <a:solidFill>
                  <a:srgbClr val="E2A85A"/>
                </a:solidFill>
                <a:latin typeface="Calibri"/>
              </a:rPr>
              <a:t>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8 / 70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M O T I V A T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Everyone wants connectivity; nobody priced the carbon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Governments subsidise routes, expand airports, and sign air-service agreements on the premise that connectivity raises trade, tourism, and productivity (it does: our companion paper finds +1.3% trade openness per 1% of connectivity).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But aviation is among the hardest transport sectors to decarbonise: no near-term electrification path, and emissions booked under separate bunker conventions, outside national inventories.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The direction is obvious (more connections = more flying). The magnitude and structure are not, and no causal estimate exists at the global level.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The carbon consequence of connectivity policy is a first-order question with no causal answer. Until now.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9 / 70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M O T I V A T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Three empirical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3383280" cy="3246120"/>
          </a:xfrm>
          <a:prstGeom prst="roundRect">
            <a:avLst>
              <a:gd name="adj" fmla="val 8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182880" rtlCol="0" anchor="ctr"/>
          <a:lstStyle/>
          <a:p>
            <a:pPr algn="ctr"/>
            <a:r>
              <a:rPr sz="2600" b="1" i="0">
                <a:solidFill>
                  <a:srgbClr val="232A55"/>
                </a:solidFill>
                <a:latin typeface="Verdana"/>
              </a:rPr>
              <a:t>01  </a:t>
            </a:r>
            <a:r>
              <a:rPr sz="2200" b="0" i="0">
                <a:solidFill>
                  <a:srgbClr val="232A55"/>
                </a:solidFill>
                <a:latin typeface="Calibri"/>
              </a:rPr>
              <a:t>📏</a:t>
            </a:r>
          </a:p>
          <a:p>
            <a:r>
              <a:rPr sz="1800" b="1" i="0">
                <a:solidFill>
                  <a:srgbClr val="232A55"/>
                </a:solidFill>
                <a:latin typeface="Verdana"/>
              </a:rPr>
              <a:t>Proportionality</a:t>
            </a:r>
          </a:p>
          <a:p>
            <a:pPr>
              <a:spcBef>
                <a:spcPts val="800"/>
              </a:spcBef>
            </a:pPr>
            <a:r>
              <a:rPr sz="1350" b="0" i="0">
                <a:solidFill>
                  <a:srgbClr val="1E1E24"/>
                </a:solidFill>
                <a:latin typeface="Calibri"/>
              </a:rPr>
              <a:t>Does a 1% gain in connectivity raise emissions by more or less than 1%? Hubs consolidate traffic into fewer, fuller, more efficient movements, so the answer is not obvious.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965960"/>
            <a:ext cx="3383280" cy="3246120"/>
          </a:xfrm>
          <a:prstGeom prst="roundRect">
            <a:avLst>
              <a:gd name="adj" fmla="val 8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182880" rtlCol="0" anchor="ctr"/>
          <a:lstStyle/>
          <a:p>
            <a:pPr algn="ctr"/>
            <a:r>
              <a:rPr sz="2600" b="1" i="0">
                <a:solidFill>
                  <a:srgbClr val="E2A85A"/>
                </a:solidFill>
                <a:latin typeface="Verdana"/>
              </a:rPr>
              <a:t>02  </a:t>
            </a:r>
            <a:r>
              <a:rPr sz="2200" b="0" i="0">
                <a:solidFill>
                  <a:srgbClr val="E2A85A"/>
                </a:solidFill>
                <a:latin typeface="Calibri"/>
              </a:rPr>
              <a:t>🗺️</a:t>
            </a:r>
          </a:p>
          <a:p>
            <a:r>
              <a:rPr sz="1800" b="1" i="0">
                <a:solidFill>
                  <a:srgbClr val="232A55"/>
                </a:solidFill>
                <a:latin typeface="Verdana"/>
              </a:rPr>
              <a:t>Incidence</a:t>
            </a:r>
          </a:p>
          <a:p>
            <a:pPr>
              <a:spcBef>
                <a:spcPts val="800"/>
              </a:spcBef>
            </a:pPr>
            <a:r>
              <a:rPr sz="1350" b="0" i="0">
                <a:solidFill>
                  <a:srgbClr val="1E1E24"/>
                </a:solidFill>
                <a:latin typeface="Calibri"/>
              </a:rPr>
              <a:t>Whose emissions respond? Poor or rich countries? And does the response spill across borders through the network?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965960"/>
            <a:ext cx="3383280" cy="3246120"/>
          </a:xfrm>
          <a:prstGeom prst="roundRect">
            <a:avLst>
              <a:gd name="adj" fmla="val 8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182880" rtlCol="0" anchor="ctr"/>
          <a:lstStyle/>
          <a:p>
            <a:pPr algn="ctr"/>
            <a:r>
              <a:rPr sz="2600" b="1" i="0">
                <a:solidFill>
                  <a:srgbClr val="B0413E"/>
                </a:solidFill>
                <a:latin typeface="Verdana"/>
              </a:rPr>
              <a:t>03  </a:t>
            </a:r>
            <a:r>
              <a:rPr sz="2200" b="0" i="0">
                <a:solidFill>
                  <a:srgbClr val="B0413E"/>
                </a:solidFill>
                <a:latin typeface="Calibri"/>
              </a:rPr>
              <a:t>📒</a:t>
            </a:r>
          </a:p>
          <a:p>
            <a:r>
              <a:rPr sz="1800" b="1" i="0">
                <a:solidFill>
                  <a:srgbClr val="232A55"/>
                </a:solidFill>
                <a:latin typeface="Verdana"/>
              </a:rPr>
              <a:t>Accounting</a:t>
            </a:r>
          </a:p>
          <a:p>
            <a:pPr>
              <a:spcBef>
                <a:spcPts val="800"/>
              </a:spcBef>
            </a:pPr>
            <a:r>
              <a:rPr sz="1350" b="0" i="0">
                <a:solidFill>
                  <a:srgbClr val="1E1E24"/>
                </a:solidFill>
                <a:latin typeface="Calibri"/>
              </a:rPr>
              <a:t>Are emissions booked where they are generated? International aviation follows bunker conventions, not territory.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Magnitude, geography, and bookkeeping: all three turn out to matter.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10 / 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88920"/>
            <a:ext cx="128016" cy="109728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E2A85A"/>
                </a:solidFill>
                <a:latin typeface="Verdana"/>
              </a:rPr>
              <a:t>02</a:t>
            </a:r>
          </a:p>
          <a:p>
            <a:r>
              <a:rPr sz="3200" b="1" i="0">
                <a:solidFill>
                  <a:srgbClr val="FFFFFF"/>
                </a:solidFill>
                <a:latin typeface="Verdana"/>
              </a:rPr>
              <a:t>Data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BCC5DE"/>
                </a:solidFill>
                <a:latin typeface="Calibri"/>
              </a:rPr>
              <a:t>CO2 for every scheduled flight on Earth, 1996–2023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286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0">
                <a:solidFill>
                  <a:srgbClr val="E2A85A"/>
                </a:solidFill>
                <a:latin typeface="Calibri"/>
              </a:rPr>
              <a:t>🛰️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11 / 70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D A T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Carbon for every flight, stage by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Source: OAG schedules, every scheduled commercial flight, Jan 1996 to Jun 2024.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EEA/EMEP Guidebook: fuel burn by engine type × stage length, × 3.15 kg CO2 per kg of Jet 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999232"/>
            <a:ext cx="1219196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32A55"/>
                </a:solidFill>
                <a:latin typeface="Calibri"/>
              </a:rPr>
              <a:t>✈        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566160"/>
            <a:ext cx="1188720" cy="777240"/>
          </a:xfrm>
          <a:prstGeom prst="roundRect">
            <a:avLst>
              <a:gd name="adj" fmla="val 25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Taxi-out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61972" y="3840480"/>
            <a:ext cx="146304" cy="219456"/>
          </a:xfrm>
          <a:prstGeom prst="rightArrow">
            <a:avLst/>
          </a:prstGeom>
          <a:solidFill>
            <a:srgbClr val="BCC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221991" y="3566160"/>
            <a:ext cx="1188720" cy="777240"/>
          </a:xfrm>
          <a:prstGeom prst="roundRect">
            <a:avLst>
              <a:gd name="adj" fmla="val 25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Take-off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415284" y="3840480"/>
            <a:ext cx="146304" cy="219456"/>
          </a:xfrm>
          <a:prstGeom prst="rightArrow">
            <a:avLst/>
          </a:prstGeom>
          <a:solidFill>
            <a:srgbClr val="BCC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575303" y="3566160"/>
            <a:ext cx="1188720" cy="777240"/>
          </a:xfrm>
          <a:prstGeom prst="roundRect">
            <a:avLst>
              <a:gd name="adj" fmla="val 25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Climb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68596" y="3840480"/>
            <a:ext cx="146304" cy="219456"/>
          </a:xfrm>
          <a:prstGeom prst="rightArrow">
            <a:avLst/>
          </a:prstGeom>
          <a:solidFill>
            <a:srgbClr val="BCC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928616" y="3566160"/>
            <a:ext cx="3017520" cy="777240"/>
          </a:xfrm>
          <a:prstGeom prst="roundRect">
            <a:avLst>
              <a:gd name="adj" fmla="val 25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B0413E"/>
                </a:solidFill>
                <a:latin typeface="Calibri"/>
              </a:rPr>
              <a:t>CRUISE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950707" y="3840480"/>
            <a:ext cx="146304" cy="219456"/>
          </a:xfrm>
          <a:prstGeom prst="rightArrow">
            <a:avLst/>
          </a:prstGeom>
          <a:solidFill>
            <a:srgbClr val="BCC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110727" y="3566160"/>
            <a:ext cx="1188720" cy="777240"/>
          </a:xfrm>
          <a:prstGeom prst="roundRect">
            <a:avLst>
              <a:gd name="adj" fmla="val 25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Approach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304019" y="3840480"/>
            <a:ext cx="146304" cy="219456"/>
          </a:xfrm>
          <a:prstGeom prst="rightArrow">
            <a:avLst/>
          </a:prstGeom>
          <a:solidFill>
            <a:srgbClr val="BCC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464040" y="3566160"/>
            <a:ext cx="1188720" cy="777240"/>
          </a:xfrm>
          <a:prstGeom prst="roundRect">
            <a:avLst>
              <a:gd name="adj" fmla="val 25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Taxi-in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617720"/>
            <a:ext cx="3712463" cy="457200"/>
          </a:xfrm>
          <a:prstGeom prst="roundRect">
            <a:avLst>
              <a:gd name="adj" fmla="val 5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🛫🛬 LTO phases: 11.8% of CO2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64024" y="461772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B0413E"/>
                </a:solidFill>
                <a:latin typeface="Calibri"/>
              </a:rPr>
              <a:t>💨 Cruise: ~88% of CO2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64424" y="461772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00" b="1" i="0">
                <a:solidFill>
                  <a:srgbClr val="232A55"/>
                </a:solidFill>
                <a:latin typeface="Calibri"/>
              </a:rPr>
              <a:t>Departure + arrival sides kept separate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80160" y="5440680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Stage-resolved once, aggregated under any allocation rule, with no double counting.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12 / 70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D A T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Does it add up? Yes, to the tonne (almost) 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 i="0">
                <a:solidFill>
                  <a:srgbClr val="232A55"/>
                </a:solidFill>
                <a:latin typeface="Verdana"/>
              </a:rPr>
              <a:t>0.919 Gt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our 2019 world total vs ICCT's 0.92 Gt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920240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 i="0">
                <a:solidFill>
                  <a:srgbClr val="232A55"/>
                </a:solidFill>
                <a:latin typeface="Verdana"/>
              </a:rPr>
              <a:t>r = 0.99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log-log match with OWID/ICCT country series, every year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920240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 i="0">
                <a:solidFill>
                  <a:srgbClr val="232A55"/>
                </a:solidFill>
                <a:latin typeface="Verdana"/>
              </a:rPr>
              <a:t>11.8%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LTO share of fuel burn, right in the standard range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49039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 i="0">
                <a:solidFill>
                  <a:srgbClr val="E2A85A"/>
                </a:solidFill>
                <a:latin typeface="Verdana"/>
              </a:rPr>
              <a:t>6,000+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airports with stage-resolved monthly CO2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749039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 i="0">
                <a:solidFill>
                  <a:srgbClr val="E2A85A"/>
                </a:solidFill>
                <a:latin typeface="Verdana"/>
              </a:rPr>
              <a:t>184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countries in the estimation panel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3749039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 i="0">
                <a:solidFill>
                  <a:srgbClr val="E2A85A"/>
                </a:solidFill>
                <a:latin typeface="Verdana"/>
              </a:rPr>
              <a:t>4,634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country-years, 1996–2023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5623560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Schedule-based capacity, not load factors: the carbon content of the network itself.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13 / 70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D A T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Whose emissions are they? Three answers, one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3383280" cy="2743200"/>
          </a:xfrm>
          <a:prstGeom prst="roundRect">
            <a:avLst>
              <a:gd name="adj" fmla="val 8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182880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Verdana"/>
              </a:rPr>
              <a:t>🛬 Territorial (LTO)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1E1E24"/>
                </a:solidFill>
                <a:latin typeface="Calibri"/>
              </a:rPr>
              <a:t>Each landing-and-take-off phase booked at its own airport. Physical, local.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965960"/>
            <a:ext cx="3383280" cy="2743200"/>
          </a:xfrm>
          <a:prstGeom prst="roundRect">
            <a:avLst>
              <a:gd name="adj" fmla="val 8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182880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Verdana"/>
              </a:rPr>
              <a:t>🛫 Bunker (headline)</a:t>
            </a:r>
          </a:p>
          <a:p>
            <a:r>
              <a:rPr sz="1300" b="1" i="0">
                <a:solidFill>
                  <a:srgbClr val="E2A85A"/>
                </a:solidFill>
                <a:latin typeface="Calibri"/>
              </a:rPr>
              <a:t>★ our headline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1E1E24"/>
                </a:solidFill>
                <a:latin typeface="Calibri"/>
              </a:rPr>
              <a:t>Cruise assigned to the departure country: the IEA fuel-uplift convention.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965960"/>
            <a:ext cx="3383280" cy="2743200"/>
          </a:xfrm>
          <a:prstGeom prst="roundRect">
            <a:avLst>
              <a:gd name="adj" fmla="val 8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182880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Verdana"/>
              </a:rPr>
              <a:t>⚖️ 50/50 split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1E1E24"/>
                </a:solidFill>
                <a:latin typeface="Calibri"/>
              </a:rPr>
              <a:t>Cruise shared equally between the endpoint countries.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5166360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Spoiler: the elasticity barely moves across all three (5.62–5.92). The result is not an accounting artefact.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14 / 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D A T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Where aviation CO2 lives, 2023</a:t>
            </a:r>
          </a:p>
        </p:txBody>
      </p:sp>
      <p:pic>
        <p:nvPicPr>
          <p:cNvPr id="5" name="Picture 4" descr="CO2_map_levels_2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628" y="1874519"/>
            <a:ext cx="9670712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925312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National aviation CO2 under the bunker convention, 2023. This is the outcome variable.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15 / 70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D A T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emitters: top 15 countries, 2023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783080"/>
          <a:ext cx="8321040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Country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ISO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CO2 2023 (Mt)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World share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Intl share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LTO (Mt)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Rank 1996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CO2 1996 (Mt)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United States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USA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193.4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23.1%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37%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21.4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180.1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China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CHN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103.9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12.4%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19%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15.7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8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10.3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United Kingdom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GBR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32.9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3.9%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96%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18.6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Japan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JPN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26.4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3.1%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59%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3.7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28.4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UAE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ARE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25.7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3.1%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100%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1.7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4.7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India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IND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24.3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2.9%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48%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3.3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5.6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Germany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DEU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22.9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2.7%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96%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16.0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8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Spain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ESP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21.9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2.6%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80%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2.8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7.1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Australia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AUS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20.0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2.4%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60%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11.3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France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FRA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19.2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2.3%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91%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12.5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Canada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CAN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18.4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2.2%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64%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1.8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12.1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Turkey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TUR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17.4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2.1%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81%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1.8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Brazil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BRA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16.0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1.9%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41%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8.5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Russia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RUS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15.8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1.9%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31%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1.7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10.1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15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Korea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KOR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14.4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1.7%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90%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1.4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13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7.1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9189720" y="1783080"/>
            <a:ext cx="2450592" cy="3950208"/>
          </a:xfrm>
          <a:prstGeom prst="rect">
            <a:avLst/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89720" y="1783080"/>
            <a:ext cx="91440" cy="395020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0" y="1874519"/>
            <a:ext cx="2148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32A55"/>
                </a:solidFill>
                <a:latin typeface="Calibri"/>
              </a:rPr>
              <a:t>Reading the list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232A55"/>
                </a:solidFill>
                <a:latin typeface="Calibri"/>
              </a:rPr>
              <a:t>838 Mt</a:t>
            </a:r>
            <a:r>
              <a:rPr sz="1100" b="0" i="0">
                <a:solidFill>
                  <a:srgbClr val="1E1E24"/>
                </a:solidFill>
                <a:latin typeface="Calibri"/>
              </a:rPr>
              <a:t> of world aviation CO2 in 2023 under the bunker convention.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232A55"/>
                </a:solidFill>
                <a:latin typeface="Calibri"/>
              </a:rPr>
              <a:t>US + China</a:t>
            </a:r>
            <a:r>
              <a:rPr sz="1100" b="0" i="0">
                <a:solidFill>
                  <a:srgbClr val="1E1E24"/>
                </a:solidFill>
                <a:latin typeface="Calibri"/>
              </a:rPr>
              <a:t> = 35% of the world total. China: 8th in 1996, 2nd today.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232A55"/>
                </a:solidFill>
                <a:latin typeface="Calibri"/>
              </a:rPr>
              <a:t>Movers</a:t>
            </a:r>
            <a:r>
              <a:rPr sz="1100" b="0" i="0">
                <a:solidFill>
                  <a:srgbClr val="1E1E24"/>
                </a:solidFill>
                <a:latin typeface="Calibri"/>
              </a:rPr>
              <a:t>: UAE 20th to 5th, Turkey 32nd to 12th, India 19th to 6th, Qatar into the top 20.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232A55"/>
                </a:solidFill>
                <a:latin typeface="Calibri"/>
              </a:rPr>
              <a:t>Korea</a:t>
            </a:r>
            <a:r>
              <a:rPr sz="1100" b="0" i="0">
                <a:solidFill>
                  <a:srgbClr val="1E1E24"/>
                </a:solidFill>
                <a:latin typeface="Calibri"/>
              </a:rPr>
              <a:t>: 15th, 14.4 Mt, 90% international.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232A55"/>
                </a:solidFill>
                <a:latin typeface="Calibri"/>
              </a:rPr>
              <a:t>Intl share</a:t>
            </a:r>
            <a:r>
              <a:rPr sz="1100" b="0" i="0">
                <a:solidFill>
                  <a:srgbClr val="1E1E24"/>
                </a:solidFill>
                <a:latin typeface="Calibri"/>
              </a:rPr>
              <a:t> = international share of bunker CO2; LTO = physical landing-and-take-off CO2 at own airports.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5806440"/>
            <a:ext cx="9601200" cy="54864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232A55"/>
                </a:solidFill>
                <a:latin typeface="Calibri"/>
              </a:rPr>
              <a:t>Aviation CO2 is concentrated, and its geography has shifted toward the newly connecting world since 1996.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16 / 70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88920"/>
            <a:ext cx="128016" cy="109728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E2A85A"/>
                </a:solidFill>
                <a:latin typeface="Verdana"/>
              </a:rPr>
              <a:t>03</a:t>
            </a:r>
          </a:p>
          <a:p>
            <a:r>
              <a:rPr sz="3200" b="1" i="0">
                <a:solidFill>
                  <a:srgbClr val="FFFFFF"/>
                </a:solidFill>
                <a:latin typeface="Verdana"/>
              </a:rPr>
              <a:t>Building GACI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BCC5DE"/>
                </a:solidFill>
                <a:latin typeface="Calibri"/>
              </a:rPr>
              <a:t>What the index is, and exactly how we compute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286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0">
                <a:solidFill>
                  <a:srgbClr val="E2A85A"/>
                </a:solidFill>
                <a:latin typeface="Calibri"/>
              </a:rPr>
              <a:t>🕸️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17 / 70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What is "air connectivity", really?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It is not how many airports or routes a country has.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It is a country's POSITION in the world air network: how easily, through how many and how important partners, it can reach everywhere else.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Two airports with 'international' in the name are not equal: Incheon plugs into the world's hub network; Yangyang has a handful of point-to-point routes.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Connectivity = network position, not a simple count.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18 / 70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How we measure it: the Global Air Connectivity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1E1E24"/>
                </a:solidFill>
                <a:latin typeface="Calibri"/>
              </a:rPr>
              <a:t>•  GACI summarises each airport's position in the weighted world air network as a single, time-comparable number (Cheung, Wong &amp; Zhang, 2020).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E1E24"/>
                </a:solidFill>
                <a:latin typeface="Calibri"/>
              </a:rPr>
              <a:t>•  It blends three ideas: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520440"/>
            <a:ext cx="3383280" cy="1234440"/>
          </a:xfrm>
          <a:prstGeom prst="roundRect">
            <a:avLst>
              <a:gd name="adj" fmla="val 5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50" b="1" i="0">
                <a:solidFill>
                  <a:srgbClr val="232A55"/>
                </a:solidFill>
                <a:latin typeface="Calibri"/>
              </a:rPr>
              <a:t>REACH: how many, and how well-placed, are its connections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520440"/>
            <a:ext cx="3383280" cy="1234440"/>
          </a:xfrm>
          <a:prstGeom prst="roundRect">
            <a:avLst>
              <a:gd name="adj" fmla="val 5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50" b="1" i="0">
                <a:solidFill>
                  <a:srgbClr val="232A55"/>
                </a:solidFill>
                <a:latin typeface="Calibri"/>
              </a:rPr>
              <a:t>FLOW: how much passenger traffic moves through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3520440"/>
            <a:ext cx="3383280" cy="1234440"/>
          </a:xfrm>
          <a:prstGeom prst="roundRect">
            <a:avLst>
              <a:gd name="adj" fmla="val 50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50" b="1" i="0">
                <a:solidFill>
                  <a:srgbClr val="B0413E"/>
                </a:solidFill>
                <a:latin typeface="Calibri"/>
              </a:rPr>
              <a:t>STANDING: how important are the airports it connects 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5349240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One number that captures reach, flow, and standing in the global network.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19 / 70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How the index is built: the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1E1E24"/>
                </a:solidFill>
                <a:latin typeface="Calibri"/>
              </a:rPr>
              <a:t>From raw schedules to one number per airport per year: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44" y="3017520"/>
            <a:ext cx="9326880" cy="22448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335549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Each step is computed for every year, then aggregated to countries.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13648" y="4956048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150" b="1" i="0">
                <a:solidFill>
                  <a:srgbClr val="B0413E"/>
                </a:solidFill>
                <a:latin typeface="Calibri"/>
              </a:rPr>
              <a:t>today: USE FOR CO2 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20 / 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raw data: OAG airline schedules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929384"/>
            <a:ext cx="8165592" cy="408634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41664" y="2057400"/>
            <a:ext cx="3154680" cy="132588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Connected dummy</a:t>
            </a:r>
          </a:p>
          <a:p>
            <a:pPr>
              <a:spcBef>
                <a:spcPts val="600"/>
              </a:spcBef>
            </a:pPr>
            <a:r>
              <a:rPr sz="1400" b="1" i="0">
                <a:solidFill>
                  <a:srgbClr val="232A55"/>
                </a:solidFill>
                <a:latin typeface="Calibri"/>
              </a:rPr>
              <a:t>Total seat capacity (the link weight)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1664" y="36118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6E6E6E"/>
                </a:solidFill>
                <a:latin typeface="Calibri"/>
              </a:rPr>
              <a:t>Route-segment level, every scheduled commercial flight, 1996–2024H1.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21 / 70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0: building a clean weighted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Source: global airline schedule data at the route-segment level (OAG; it is big).</a:t>
            </a:r>
          </a:p>
          <a:p>
            <a:pPr>
              <a:spcAft>
                <a:spcPts val="5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Keep only scheduled commercial service; exclude military, charter, seaplanes, heliports, and airports that closed in-window.</a:t>
            </a:r>
          </a:p>
          <a:p>
            <a:pPr>
              <a:spcAft>
                <a:spcPts val="5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Aggregate segments per airport pair per year into one link; the link weight is passenger seat capacity.</a:t>
            </a:r>
          </a:p>
          <a:p>
            <a:pPr>
              <a:spcAft>
                <a:spcPts val="5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Two matrices per year: adjacency A (who connects) and weight W (how much).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37947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32A55"/>
                </a:solidFill>
                <a:latin typeface="Calibri"/>
              </a:rPr>
              <a:t>Adjacency A: who connects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17320" y="4114800"/>
          <a:ext cx="4023360" cy="17967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ICN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GMP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CJU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PUS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YNY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ICN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GMP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CJU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PUS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YNY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37960" y="37947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32A55"/>
                </a:solidFill>
                <a:latin typeface="Calibri"/>
              </a:rPr>
              <a:t>Weight W: seat capacity (millions, illustrative)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37960" y="4114800"/>
          <a:ext cx="4297680" cy="17967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6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ICN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GMP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CJU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PUS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YNY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ICN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GMP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17.0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CJU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17.0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PUS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YNY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417320" y="60350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6E6E6E"/>
                </a:solidFill>
                <a:latin typeface="Calibri"/>
              </a:rPr>
              <a:t>The Korean corner of the matrix: Gimpo–Jeju alone is the world's busiest air route.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22 / 70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1a: topological indicators (position)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Degree: the number of direct connections (raw reach).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Closeness: inverse of the average number of transfers needed to reach all other airports (accessibility).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957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32A55"/>
                </a:solidFill>
                <a:latin typeface="Calibri"/>
              </a:rPr>
              <a:t>Toy domestic network: GMP–CJU, GMP–PUS, GMP–YNY, CJU–PUS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743200"/>
          <a:ext cx="5074920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5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Hops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GMP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CJU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PUS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YNY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Avg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GMP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CJU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1.33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PUS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1.33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YNY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1.67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4480560"/>
          <a:ext cx="5074920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Airport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Closeness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GMP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Hub: everyone in one hop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CJU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Intermediate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PUS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Intermediate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YNY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0.60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Spoke: always via Gimpo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72200" y="2395728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32A55"/>
                </a:solidFill>
                <a:latin typeface="Calibri"/>
              </a:rPr>
              <a:t>+ Eigenvector: how much am I connected to "BIG" airports?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72200" y="3063240"/>
          <a:ext cx="5394960" cy="1886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Airport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Degree (# friends)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Eigenvector (rank of friends)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E1E24"/>
                          </a:solidFill>
                          <a:latin typeface="Calibri"/>
                        </a:rPr>
                        <a:t>GMP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E1E2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32A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E1E24"/>
                          </a:solidFill>
                          <a:latin typeface="Calibri"/>
                        </a:rPr>
                        <a:t>CJU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32A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E1E24"/>
                          </a:solidFill>
                          <a:latin typeface="Calibri"/>
                        </a:rPr>
                        <a:t>PUS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32A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7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E1E24"/>
                          </a:solidFill>
                          <a:latin typeface="Calibri"/>
                        </a:rPr>
                        <a:t>YNY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72200" y="512064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E6E6E"/>
                </a:solidFill>
                <a:latin typeface="Calibri"/>
              </a:rPr>
              <a:t>Yangyang's one friend is a big hub, but one friend is still one friend.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23 / 70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1b: volumetric indicators (passenger flow)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Flow betweenness: the share of passengers transferring through the airport; the hub / transfer role (Gimpo &lt; Incheon: transfers concentrate at ICN).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Regional importance: average connection intensity within its own region (Gimpo &gt; Incheon: the domestic backbone).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These two flow measures make GACI flow-aware, not purely topological.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Position says where you sit; flow says how much actually moves through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24 / 70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five indicators, read through Korean airports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874519"/>
          <a:ext cx="10607040" cy="2606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Airport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Degree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Closeness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Eigenvector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Flow betw.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Regional imp.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E1E24"/>
                          </a:solidFill>
                          <a:latin typeface="Calibri"/>
                        </a:rPr>
                        <a:t>ICN  Incheon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32A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32A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32A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32A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E1E24"/>
                          </a:solidFill>
                          <a:latin typeface="Calibri"/>
                        </a:rPr>
                        <a:t>GMP  Gimpo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32A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E1E24"/>
                          </a:solidFill>
                          <a:latin typeface="Calibri"/>
                        </a:rPr>
                        <a:t>CJU  Jeju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32A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E1E24"/>
                          </a:solidFill>
                          <a:latin typeface="Calibri"/>
                        </a:rPr>
                        <a:t>PUS  Gimhae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E1E24"/>
                          </a:solidFill>
                          <a:latin typeface="Calibri"/>
                        </a:rPr>
                        <a:t>YNY  Yangyang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6634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1E1E24"/>
                </a:solidFill>
                <a:latin typeface="Calibri"/>
              </a:rPr>
              <a:t>ICN: global gateway, strong on every margin.  GMP and CJU: enormous traffic (the world's busiest route) but little global position: volume is not connectivity.  YNY: connected on paper only.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5623560"/>
            <a:ext cx="9601200" cy="64008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Five airports, five different network stories: no single indicator captures them all, so we combine all five.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25 / 70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Flow betweenness: passengers as electrical current</a:t>
            </a:r>
          </a:p>
        </p:txBody>
      </p:sp>
      <p:pic>
        <p:nvPicPr>
          <p:cNvPr id="5" name="Picture 4" descr="image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470" y="1874519"/>
            <a:ext cx="7697028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788152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Each route is a resistor with resistance inversely proportional to its passenger intensity; betweenness = current through the node. Incheon plays this HKG-style bridge role between North America and Southeast Asia. Source: Cheung et al. (2020).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26 / 70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1: the exact formulas</a:t>
            </a:r>
          </a:p>
        </p:txBody>
      </p:sp>
      <p:pic>
        <p:nvPicPr>
          <p:cNvPr id="5" name="Picture 4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509" y="1783080"/>
            <a:ext cx="7600950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27 / 70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five indicators are related but not redundant</a:t>
            </a:r>
          </a:p>
        </p:txBody>
      </p:sp>
      <p:pic>
        <p:nvPicPr>
          <p:cNvPr id="5" name="Picture 4" descr="image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539" y="1691640"/>
            <a:ext cx="4794889" cy="4069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833872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Pairwise rank correlations 0.71–0.87: each adds information, so we combine rather than pick one. Source: Cheung et al. (2020).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28 / 70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2: combine the five into one index (PCA)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Five indicators, different scales, partly correlated.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GACI = the first principal component: the single weighted combination capturing the most variance across airports.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On our 1996–2023 panel, PC1 explains 74% of total variance, so one number retains most of the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One index, five ingredients, no arbitrary weights.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29 / 70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2: the aggregation formula</a:t>
            </a:r>
          </a:p>
        </p:txBody>
      </p:sp>
      <p:pic>
        <p:nvPicPr>
          <p:cNvPr id="5" name="Picture 4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524" y="1828800"/>
            <a:ext cx="7360919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30 / 70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PCA weights, computed on our panel</a:t>
            </a:r>
          </a:p>
        </p:txBody>
      </p:sp>
      <p:pic>
        <p:nvPicPr>
          <p:cNvPr id="5" name="Picture 4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256" y="1783080"/>
            <a:ext cx="7077456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788152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First-component loadings on our 1996–2023 data: all positive and similar; PC1 explains 74% of variance.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31 / 70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Making GACI comparable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A naive yearly PCA would re-scale every year, so scores could not be compared across years.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We standardise so that rankings WITHIN a year and relative scores ACROSS years are both preserved.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The result: one index that tracks an airport or country up and down the global hierarchy from 1996 to 2023.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Essential here: the CO2 question is about changes over 28 years.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32 / 70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5285" y="841247"/>
            <a:ext cx="202258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Face validity: high GACI = the world's major hubs</a:t>
            </a:r>
          </a:p>
        </p:txBody>
      </p:sp>
      <p:pic>
        <p:nvPicPr>
          <p:cNvPr id="5" name="Picture 4" descr="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559" y="154158"/>
            <a:ext cx="7585862" cy="63197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8848" y="64465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GACI tracks passenger volume; the top of the scale is ATL, PEK, DXB, LHR, HKG, SIN. Source: Cheung et al. (2020).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33 / 70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8848" y="64465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GACI tracks passenger volume; the top of the scale is ATL, PEK, DXB, LHR, HKG, SIN. Source: Cheung et al. (2020).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34 / 70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  <p:pic>
        <p:nvPicPr>
          <p:cNvPr id="1026" name="Picture 2" descr="https://ars.els-cdn.com/content/image/1-s2.0-S1366554526005302-gr4e_lrg.jpg">
            <a:extLst>
              <a:ext uri="{FF2B5EF4-FFF2-40B4-BE49-F238E27FC236}">
                <a16:creationId xmlns:a16="http://schemas.microsoft.com/office/drawing/2014/main" id="{4DE818E8-AD60-4AF6-9D89-49109099E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" y="0"/>
            <a:ext cx="108886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09397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Airport ranking, 2023: the top 15 (of 3,833 scored)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783080"/>
          <a:ext cx="6446520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Airport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Country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GACI 2023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Seats (M)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Rank 1996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FRA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Germany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3.24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76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IST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Turkey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3.24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95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98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3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DXB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UAE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3.23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117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92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4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CDG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France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3.13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83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4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5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LAX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United States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3.11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96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6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ORD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United States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3.06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91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3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7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LHR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United Kingdom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3.04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101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9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8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ATL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United States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3.04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129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5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9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AMS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Netherlands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2.97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78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10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10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DFW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United States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2.94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97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7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11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DEN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United States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2.84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113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16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12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JED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Saudi Arabia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2.82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54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89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13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JFK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United States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2.79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77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6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14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PVG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China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2.77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80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new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15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MIA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United States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2.76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63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8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269480" y="1783080"/>
            <a:ext cx="4370832" cy="3950208"/>
          </a:xfrm>
          <a:prstGeom prst="rect">
            <a:avLst/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69480" y="1783080"/>
            <a:ext cx="91440" cy="395020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79" y="1856231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32A55"/>
                </a:solidFill>
                <a:latin typeface="Calibri"/>
              </a:rPr>
              <a:t>Korean airports in the same ranking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79" y="2240280"/>
          <a:ext cx="4069080" cy="16322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3172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Airport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GACI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Seats (M)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1996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ICN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2.60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68.1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new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293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PUS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1.18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15.6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347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320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CJU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1.16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26.1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319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500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GMP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0.96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22.2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new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708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TAE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0.84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724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877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CJJ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0.79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3.2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new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498079" y="3977639"/>
            <a:ext cx="4023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 b="1" i="0">
                <a:solidFill>
                  <a:srgbClr val="232A55"/>
                </a:solidFill>
                <a:latin typeface="Calibri"/>
              </a:rPr>
              <a:t>ICN</a:t>
            </a:r>
            <a:r>
              <a:rPr sz="1050" b="0" i="0">
                <a:solidFill>
                  <a:srgbClr val="1E1E24"/>
                </a:solidFill>
                <a:latin typeface="Calibri"/>
              </a:rPr>
              <a:t> sits in the world top 25: Korea's one global gateway, opened in 2001 and already above NRT and HND in reach.</a:t>
            </a:r>
          </a:p>
          <a:p>
            <a:pPr>
              <a:spcBef>
                <a:spcPts val="400"/>
              </a:spcBef>
            </a:pPr>
            <a:r>
              <a:rPr sz="1050" b="1" i="0">
                <a:solidFill>
                  <a:srgbClr val="232A55"/>
                </a:solidFill>
                <a:latin typeface="Calibri"/>
              </a:rPr>
              <a:t>GMP and CJU</a:t>
            </a:r>
            <a:r>
              <a:rPr sz="1050" b="0" i="0">
                <a:solidFill>
                  <a:srgbClr val="1E1E24"/>
                </a:solidFill>
                <a:latin typeface="Calibri"/>
              </a:rPr>
              <a:t> carry the world's busiest route yet rank 300-500: enormous domestic volume, little network reach.</a:t>
            </a:r>
          </a:p>
          <a:p>
            <a:pPr>
              <a:spcBef>
                <a:spcPts val="400"/>
              </a:spcBef>
            </a:pPr>
            <a:r>
              <a:rPr sz="1050" b="1" i="0">
                <a:solidFill>
                  <a:srgbClr val="232A55"/>
                </a:solidFill>
                <a:latin typeface="Calibri"/>
              </a:rPr>
              <a:t>The top of the table</a:t>
            </a:r>
            <a:r>
              <a:rPr sz="1050" b="0" i="0">
                <a:solidFill>
                  <a:srgbClr val="1E1E24"/>
                </a:solidFill>
                <a:latin typeface="Calibri"/>
              </a:rPr>
              <a:t> is FRA, IST, DXB: Istanbul and Dubai were ranked in the 90s in 1996.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5806440"/>
            <a:ext cx="9601200" cy="54864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232A55"/>
                </a:solidFill>
                <a:latin typeface="Calibri"/>
              </a:rPr>
              <a:t>GACI ranks network position: the Gulf and Turkey climbed from the 90s into the top 3 in one generation.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35 / 70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3: from airports to countries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Hub quality = capacity-weighted MEAN (headline): average gateway quality, not inflated by having many tiny airports.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Total connectivity = SUM: the overall network footprint, larger for big countries.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In this paper the headline treatment is hub quality; sum, max, and unweighted mean all reappear as robustness checks (spoiler: they agree).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ln GACI (capacity-weighted mean) is the right-hand side of everything that follows.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36 / 70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3: the aggregation formulas</a:t>
            </a:r>
          </a:p>
        </p:txBody>
      </p:sp>
      <p:pic>
        <p:nvPicPr>
          <p:cNvPr id="5" name="Picture 4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524" y="1828800"/>
            <a:ext cx="7360919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37 / 70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built index, mapped: connectivity by country, 2023</a:t>
            </a:r>
          </a:p>
        </p:txBody>
      </p:sp>
      <p:pic>
        <p:nvPicPr>
          <p:cNvPr id="5" name="Picture 4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245" y="1874519"/>
            <a:ext cx="9505478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925312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Total connectivity (country sum), 2023. Yellow = highly connected.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38 / 70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Country ranking, 2023: hub quality vs network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37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Hub quality: capacity-weighted mean GACI (the regressor), 166 countries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057400"/>
          <a:ext cx="5440680" cy="36530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Country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Hub quality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Best airport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Airports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UAE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2.79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3.23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Netherlands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2.74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2.97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Singapore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2.67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2.68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Hong Kong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2.15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2.15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Germany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2.15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3.24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United States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2.09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3.11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569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Turkey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2.08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3.24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8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France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2.06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3.13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United Kingdom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2.06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3.04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Switzerland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1.99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2.21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Saudi Arabia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1.97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2.82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28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Israel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1.90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1.93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Ethiopia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1.87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2.08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Austria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1.87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1.99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15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Ireland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1.84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2.02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19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Korea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1.79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2.60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16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737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Network size: sum of airport GACI (an alternative aggregation)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057400"/>
          <a:ext cx="4846320" cy="36530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Country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GACI sum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Airports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United States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459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569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China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226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254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Canada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135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211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Russia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113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174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Brazil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103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166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Australia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101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160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India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89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117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8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Indonesia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80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123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Japan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70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France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Spain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48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Mexico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45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Turkey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United Kingdom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15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Italy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44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Korea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14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16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1280160" y="5833872"/>
            <a:ext cx="9601200" cy="53035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 i="0">
                <a:solidFill>
                  <a:srgbClr val="232A55"/>
                </a:solidFill>
                <a:latin typeface="Calibri"/>
              </a:rPr>
              <a:t>The regression uses hub quality: small hub states (UAE, Netherlands, Singapore) lead; the size list is a different world. Korea: 19th vs 44th.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39 / 70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treatment: who got connected, 1996–2023</a:t>
            </a:r>
          </a:p>
        </p:txBody>
      </p:sp>
      <p:pic>
        <p:nvPicPr>
          <p:cNvPr id="5" name="Picture 4" descr="CO2_map_dlnga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075" y="1874519"/>
            <a:ext cx="9745818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925312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Change in log connectivity, 1996–2023. The Gulf, Turkey, China, and Korea connect; parts of Europe quietly disconnect.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40 / 70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88920"/>
            <a:ext cx="128016" cy="109728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E2A85A"/>
                </a:solidFill>
                <a:latin typeface="Verdana"/>
              </a:rPr>
              <a:t>04</a:t>
            </a:r>
          </a:p>
          <a:p>
            <a:r>
              <a:rPr sz="3200" b="1" i="0">
                <a:solidFill>
                  <a:srgbClr val="FFFFFF"/>
                </a:solidFill>
                <a:latin typeface="Verdana"/>
              </a:rPr>
              <a:t>Identification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BCC5DE"/>
                </a:solidFill>
                <a:latin typeface="Calibri"/>
              </a:rPr>
              <a:t>Breaking reverse causality with geography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286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0">
                <a:solidFill>
                  <a:srgbClr val="E2A85A"/>
                </a:solidFill>
                <a:latin typeface="Calibri"/>
              </a:rPr>
              <a:t>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41 / 70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I D E N T I F I C A T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problem: airlines follow the economy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Airlines add capacity where income, trade, and travel demand are already growing: reverse causality, upward and downward biases at once.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OLS would also be attenuated by measurement error in the index (it is: OLS = 3.59 vs 2SLS = 5.67).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We need variation in connectivity that has nothing to do with a country's economic trajectory.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Our answer: geography that was fixed before the boom, interacted with a global technology cycle.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42 / 70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I D E N T I F I C A T I O N     ·     E S T I M A T I N G   E Q U A T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model: a log-log panel with two-way fixed effects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83080"/>
            <a:ext cx="11064240" cy="1417320"/>
          </a:xfrm>
          <a:prstGeom prst="rect">
            <a:avLst/>
          </a:prstGeom>
          <a:solidFill>
            <a:srgbClr val="F5F6FA"/>
          </a:solidFill>
          <a:ln w="12700">
            <a:solidFill>
              <a:srgbClr val="BCC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E1E24"/>
                </a:solidFill>
                <a:latin typeface="Cambria"/>
              </a:rPr>
              <a:t>ln CO</a:t>
            </a:r>
            <a:r>
              <a:rPr sz="1584" b="0" i="0" baseline="-25000">
                <a:solidFill>
                  <a:srgbClr val="1E1E24"/>
                </a:solidFill>
                <a:latin typeface="Cambria"/>
              </a:rPr>
              <a:t>2,</a:t>
            </a:r>
            <a:r>
              <a:rPr sz="1584" b="0" i="1" baseline="-25000">
                <a:solidFill>
                  <a:srgbClr val="1E1E24"/>
                </a:solidFill>
                <a:latin typeface="Cambria"/>
              </a:rPr>
              <a:t>ct</a:t>
            </a:r>
            <a:r>
              <a:rPr sz="2200" b="0" i="0">
                <a:solidFill>
                  <a:srgbClr val="1E1E24"/>
                </a:solidFill>
                <a:latin typeface="Cambria"/>
              </a:rPr>
              <a:t>  =  </a:t>
            </a:r>
            <a:r>
              <a:rPr sz="2200" b="1" i="0">
                <a:solidFill>
                  <a:srgbClr val="B0413E"/>
                </a:solidFill>
                <a:latin typeface="Cambria"/>
              </a:rPr>
              <a:t>β</a:t>
            </a:r>
            <a:r>
              <a:rPr sz="2200" b="0" i="0">
                <a:solidFill>
                  <a:srgbClr val="1E1E24"/>
                </a:solidFill>
                <a:latin typeface="Cambria"/>
              </a:rPr>
              <a:t> ln GACI</a:t>
            </a:r>
            <a:r>
              <a:rPr sz="1584" b="0" i="1" baseline="-25000">
                <a:solidFill>
                  <a:srgbClr val="1E1E24"/>
                </a:solidFill>
                <a:latin typeface="Cambria"/>
              </a:rPr>
              <a:t>ct</a:t>
            </a:r>
            <a:r>
              <a:rPr sz="2200" b="0" i="0">
                <a:solidFill>
                  <a:srgbClr val="1E1E24"/>
                </a:solidFill>
                <a:latin typeface="Cambria"/>
              </a:rPr>
              <a:t>  +  γ ln pop</a:t>
            </a:r>
            <a:r>
              <a:rPr sz="1584" b="0" i="1" baseline="-25000">
                <a:solidFill>
                  <a:srgbClr val="1E1E24"/>
                </a:solidFill>
                <a:latin typeface="Cambria"/>
              </a:rPr>
              <a:t>ct</a:t>
            </a:r>
            <a:r>
              <a:rPr sz="2200" b="0" i="0">
                <a:solidFill>
                  <a:srgbClr val="1E1E24"/>
                </a:solidFill>
                <a:latin typeface="Cambria"/>
              </a:rPr>
              <a:t>  +  δ ln seaMA</a:t>
            </a:r>
            <a:r>
              <a:rPr sz="1584" b="0" i="1" baseline="-25000">
                <a:solidFill>
                  <a:srgbClr val="1E1E24"/>
                </a:solidFill>
                <a:latin typeface="Cambria"/>
              </a:rPr>
              <a:t>ct</a:t>
            </a:r>
            <a:r>
              <a:rPr sz="2200" b="0" i="0">
                <a:solidFill>
                  <a:srgbClr val="1E1E24"/>
                </a:solidFill>
                <a:latin typeface="Cambria"/>
              </a:rPr>
              <a:t>  +  α</a:t>
            </a:r>
            <a:r>
              <a:rPr sz="1584" b="0" i="1" baseline="-25000">
                <a:solidFill>
                  <a:srgbClr val="1E1E24"/>
                </a:solidFill>
                <a:latin typeface="Cambria"/>
              </a:rPr>
              <a:t>c</a:t>
            </a:r>
            <a:r>
              <a:rPr sz="2200" b="0" i="0">
                <a:solidFill>
                  <a:srgbClr val="1E1E24"/>
                </a:solidFill>
                <a:latin typeface="Cambria"/>
              </a:rPr>
              <a:t>  +  τ</a:t>
            </a:r>
            <a:r>
              <a:rPr sz="1584" b="0" i="1" baseline="-25000">
                <a:solidFill>
                  <a:srgbClr val="1E1E24"/>
                </a:solidFill>
                <a:latin typeface="Cambria"/>
              </a:rPr>
              <a:t>t</a:t>
            </a:r>
            <a:r>
              <a:rPr sz="2200" b="0" i="0">
                <a:solidFill>
                  <a:srgbClr val="1E1E24"/>
                </a:solidFill>
                <a:latin typeface="Cambria"/>
              </a:rPr>
              <a:t>  +  ε</a:t>
            </a:r>
            <a:r>
              <a:rPr sz="1584" b="0" i="1" baseline="-25000">
                <a:solidFill>
                  <a:srgbClr val="1E1E24"/>
                </a:solidFill>
                <a:latin typeface="Cambria"/>
              </a:rPr>
              <a:t>ct</a:t>
            </a:r>
            <a:r>
              <a:rPr sz="2200" b="0" i="0">
                <a:solidFill>
                  <a:srgbClr val="6E6E6E"/>
                </a:solidFill>
                <a:latin typeface="Cambria"/>
              </a:rPr>
              <a:t>                    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B0413E"/>
                </a:solidFill>
                <a:latin typeface="Cambria"/>
              </a:rPr>
              <a:t>β</a:t>
            </a:r>
            <a:r>
              <a:rPr sz="1300" b="0" i="0">
                <a:solidFill>
                  <a:srgbClr val="1E1E24"/>
                </a:solidFill>
                <a:latin typeface="Calibri"/>
              </a:rPr>
              <a:t>  = elasticity of national aviation CO2 with respect to hub quality: the % change in CO2 per 1% change in GACI.   Benchmark: </a:t>
            </a:r>
            <a:r>
              <a:rPr sz="1300" b="1" i="0">
                <a:solidFill>
                  <a:srgbClr val="232A55"/>
                </a:solidFill>
                <a:latin typeface="Calibri"/>
              </a:rPr>
              <a:t>β = 1</a:t>
            </a:r>
            <a:r>
              <a:rPr sz="1300" b="0" i="0">
                <a:solidFill>
                  <a:srgbClr val="1E1E24"/>
                </a:solidFill>
                <a:latin typeface="Calibri"/>
              </a:rPr>
              <a:t> (emissions grow in proportion to connectivity).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401568"/>
            <a:ext cx="7452360" cy="278892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3401568"/>
            <a:ext cx="91440" cy="27889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456432"/>
            <a:ext cx="7132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32A55"/>
                </a:solidFill>
                <a:latin typeface="Calibri"/>
              </a:rPr>
              <a:t>Variables</a:t>
            </a:r>
          </a:p>
          <a:p>
            <a:pPr>
              <a:spcBef>
                <a:spcPts val="250"/>
              </a:spcBef>
            </a:pPr>
            <a:r>
              <a:rPr sz="1150" b="1" i="1">
                <a:solidFill>
                  <a:srgbClr val="232A55"/>
                </a:solidFill>
                <a:latin typeface="Cambria"/>
              </a:rPr>
              <a:t>CO2</a:t>
            </a:r>
            <a:r>
              <a:rPr sz="850" b="1" i="1" baseline="-25000">
                <a:solidFill>
                  <a:srgbClr val="232A55"/>
                </a:solidFill>
                <a:latin typeface="Cambria"/>
              </a:rPr>
              <a:t>ct</a:t>
            </a:r>
            <a:r>
              <a:rPr sz="1100" b="0" i="0">
                <a:solidFill>
                  <a:srgbClr val="1E1E24"/>
                </a:solidFill>
                <a:latin typeface="Calibri"/>
              </a:rPr>
              <a:t>   national aviation CO2 in year t; headline = bunker rule. Also LTO-only, 50/50 split, international only, seat-km, CO2 per seat-km.</a:t>
            </a:r>
          </a:p>
          <a:p>
            <a:pPr>
              <a:spcBef>
                <a:spcPts val="250"/>
              </a:spcBef>
            </a:pPr>
            <a:r>
              <a:rPr sz="1150" b="1" i="1">
                <a:solidFill>
                  <a:srgbClr val="232A55"/>
                </a:solidFill>
                <a:latin typeface="Cambria"/>
              </a:rPr>
              <a:t>GACI</a:t>
            </a:r>
            <a:r>
              <a:rPr sz="850" b="1" i="1" baseline="-25000">
                <a:solidFill>
                  <a:srgbClr val="232A55"/>
                </a:solidFill>
                <a:latin typeface="Cambria"/>
              </a:rPr>
              <a:t>ct</a:t>
            </a:r>
            <a:r>
              <a:rPr sz="1100" b="0" i="0">
                <a:solidFill>
                  <a:srgbClr val="1E1E24"/>
                </a:solidFill>
                <a:latin typeface="Calibri"/>
              </a:rPr>
              <a:t>   hub quality: capacity-weighted mean of airport GACI scores (alternatives: max, mean, sum).</a:t>
            </a:r>
          </a:p>
          <a:p>
            <a:pPr>
              <a:spcBef>
                <a:spcPts val="250"/>
              </a:spcBef>
            </a:pPr>
            <a:r>
              <a:rPr sz="1150" b="1" i="1">
                <a:solidFill>
                  <a:srgbClr val="232A55"/>
                </a:solidFill>
                <a:latin typeface="Cambria"/>
              </a:rPr>
              <a:t>pop</a:t>
            </a:r>
            <a:r>
              <a:rPr sz="850" b="1" i="1" baseline="-25000">
                <a:solidFill>
                  <a:srgbClr val="232A55"/>
                </a:solidFill>
                <a:latin typeface="Cambria"/>
              </a:rPr>
              <a:t>ct</a:t>
            </a:r>
            <a:r>
              <a:rPr sz="1100" b="0" i="0">
                <a:solidFill>
                  <a:srgbClr val="1E1E24"/>
                </a:solidFill>
                <a:latin typeface="Calibri"/>
              </a:rPr>
              <a:t>   population (log).</a:t>
            </a:r>
          </a:p>
          <a:p>
            <a:pPr>
              <a:spcBef>
                <a:spcPts val="250"/>
              </a:spcBef>
            </a:pPr>
            <a:r>
              <a:rPr sz="1150" b="1" i="1">
                <a:solidFill>
                  <a:srgbClr val="232A55"/>
                </a:solidFill>
                <a:latin typeface="Cambria"/>
              </a:rPr>
              <a:t>seaMA</a:t>
            </a:r>
            <a:r>
              <a:rPr sz="850" b="1" i="1" baseline="-25000">
                <a:solidFill>
                  <a:srgbClr val="232A55"/>
                </a:solidFill>
                <a:latin typeface="Cambria"/>
              </a:rPr>
              <a:t>ct</a:t>
            </a:r>
            <a:r>
              <a:rPr sz="1100" b="0" i="0">
                <a:solidFill>
                  <a:srgbClr val="1E1E24"/>
                </a:solidFill>
                <a:latin typeface="Calibri"/>
              </a:rPr>
              <a:t>   sea-distance market access (log): the surface-shipping alternative, held fixed.</a:t>
            </a:r>
          </a:p>
          <a:p>
            <a:pPr>
              <a:spcBef>
                <a:spcPts val="250"/>
              </a:spcBef>
            </a:pPr>
            <a:r>
              <a:rPr sz="1150" b="1" i="1">
                <a:solidFill>
                  <a:srgbClr val="232A55"/>
                </a:solidFill>
                <a:latin typeface="Cambria"/>
              </a:rPr>
              <a:t>α</a:t>
            </a:r>
            <a:r>
              <a:rPr sz="850" b="1" i="1" baseline="-25000">
                <a:solidFill>
                  <a:srgbClr val="232A55"/>
                </a:solidFill>
                <a:latin typeface="Cambria"/>
              </a:rPr>
              <a:t>c</a:t>
            </a:r>
            <a:r>
              <a:rPr sz="1100" b="0" i="0">
                <a:solidFill>
                  <a:srgbClr val="1E1E24"/>
                </a:solidFill>
                <a:latin typeface="Calibri"/>
              </a:rPr>
              <a:t>   country fixed effects: geography, size, institutions.</a:t>
            </a:r>
          </a:p>
          <a:p>
            <a:pPr>
              <a:spcBef>
                <a:spcPts val="250"/>
              </a:spcBef>
            </a:pPr>
            <a:r>
              <a:rPr sz="1150" b="1" i="1">
                <a:solidFill>
                  <a:srgbClr val="232A55"/>
                </a:solidFill>
                <a:latin typeface="Cambria"/>
              </a:rPr>
              <a:t>τ</a:t>
            </a:r>
            <a:r>
              <a:rPr sz="850" b="1" i="1" baseline="-25000">
                <a:solidFill>
                  <a:srgbClr val="232A55"/>
                </a:solidFill>
                <a:latin typeface="Cambria"/>
              </a:rPr>
              <a:t>t</a:t>
            </a:r>
            <a:r>
              <a:rPr sz="1100" b="0" i="0">
                <a:solidFill>
                  <a:srgbClr val="1E1E24"/>
                </a:solidFill>
                <a:latin typeface="Calibri"/>
              </a:rPr>
              <a:t>   year fixed effects: fuel prices, world traffic cycle, technology.</a:t>
            </a:r>
          </a:p>
          <a:p>
            <a:pPr>
              <a:spcBef>
                <a:spcPts val="250"/>
              </a:spcBef>
            </a:pPr>
            <a:r>
              <a:rPr sz="1150" b="1" i="1">
                <a:solidFill>
                  <a:srgbClr val="232A55"/>
                </a:solidFill>
                <a:latin typeface="Cambria"/>
              </a:rPr>
              <a:t>ε</a:t>
            </a:r>
            <a:r>
              <a:rPr sz="850" b="1" i="1" baseline="-25000">
                <a:solidFill>
                  <a:srgbClr val="232A55"/>
                </a:solidFill>
                <a:latin typeface="Cambria"/>
              </a:rPr>
              <a:t>ct</a:t>
            </a:r>
            <a:r>
              <a:rPr sz="1100" b="0" i="0">
                <a:solidFill>
                  <a:srgbClr val="1E1E24"/>
                </a:solidFill>
                <a:latin typeface="Calibri"/>
              </a:rPr>
              <a:t>   error; robust standard errors.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3401568"/>
            <a:ext cx="3410712" cy="27889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0" y="3401568"/>
            <a:ext cx="91440" cy="278892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0" y="3456432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Why OLS is not enough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E2A85A"/>
                </a:solidFill>
                <a:latin typeface="Calibri"/>
              </a:rPr>
              <a:t>Reverse causality</a:t>
            </a:r>
            <a:r>
              <a:rPr sz="1100" b="0" i="0">
                <a:solidFill>
                  <a:srgbClr val="BCC5DE"/>
                </a:solidFill>
                <a:latin typeface="Calibri"/>
              </a:rPr>
              <a:t>: airlines add capacity where demand is already growing.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E2A85A"/>
                </a:solidFill>
                <a:latin typeface="Calibri"/>
              </a:rPr>
              <a:t>Measurement</a:t>
            </a:r>
            <a:r>
              <a:rPr sz="1100" b="0" i="0">
                <a:solidFill>
                  <a:srgbClr val="BCC5DE"/>
                </a:solidFill>
                <a:latin typeface="Calibri"/>
              </a:rPr>
              <a:t>: the index is an estimate; noise attenuates OLS.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E2A85A"/>
                </a:solidFill>
                <a:latin typeface="Calibri"/>
              </a:rPr>
              <a:t>Sample</a:t>
            </a:r>
            <a:r>
              <a:rPr sz="1100" b="0" i="0">
                <a:solidFill>
                  <a:srgbClr val="BCC5DE"/>
                </a:solidFill>
                <a:latin typeface="Calibri"/>
              </a:rPr>
              <a:t>: 184 countries × 1996–2023, N = 4,634 country-years.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E2A85A"/>
                </a:solidFill>
                <a:latin typeface="Calibri"/>
              </a:rPr>
              <a:t>Answer</a:t>
            </a:r>
            <a:r>
              <a:rPr sz="1100" b="0" i="0">
                <a:solidFill>
                  <a:srgbClr val="BCC5DE"/>
                </a:solidFill>
                <a:latin typeface="Calibri"/>
              </a:rPr>
              <a:t>: instrument ln GACI with fixed 1996 geography × the world aviation cycle (next slides). OLS gives 3.59; 2SLS gives 5.67.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43 / 70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I D E N T I F I C A T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fine print: the exclusion restriction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32A55"/>
                </a:solidFill>
                <a:latin typeface="Calibri"/>
              </a:rPr>
              <a:t>The instrument may affect CO2 through ONE door only: connectivity.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7744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50" b="1" i="0">
                <a:solidFill>
                  <a:srgbClr val="232A55"/>
                </a:solidFill>
                <a:latin typeface="Calibri"/>
              </a:rPr>
              <a:t>🔍 Instrument (geography × cycle)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77639" y="2670048"/>
            <a:ext cx="685800" cy="329184"/>
          </a:xfrm>
          <a:prstGeom prst="rightArrow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13632" y="22128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2E7D5B"/>
                </a:solidFill>
                <a:latin typeface="Calibri"/>
              </a:rPr>
              <a:t>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237744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50" b="1" i="0">
                <a:solidFill>
                  <a:srgbClr val="232A55"/>
                </a:solidFill>
                <a:latin typeface="Calibri"/>
              </a:rPr>
              <a:t>✈️ Connectivity (GACI)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406640" y="2670048"/>
            <a:ext cx="685800" cy="329184"/>
          </a:xfrm>
          <a:prstGeom prst="rightArrow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42631" y="22128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2E7D5B"/>
                </a:solidFill>
                <a:latin typeface="Calibri"/>
              </a:rPr>
              <a:t>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237744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50" b="1" i="0">
                <a:solidFill>
                  <a:srgbClr val="B0413E"/>
                </a:solidFill>
                <a:latin typeface="Calibri"/>
              </a:rPr>
              <a:t>💨 Aviation CO2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3703320"/>
            <a:ext cx="6949440" cy="54864"/>
          </a:xfrm>
          <a:prstGeom prst="rect">
            <a:avLst/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9235440" y="3593592"/>
            <a:ext cx="411480" cy="274320"/>
          </a:xfrm>
          <a:prstGeom prst="rightArrow">
            <a:avLst/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440680" y="3401568"/>
            <a:ext cx="640080" cy="6400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B0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i="0">
                <a:solidFill>
                  <a:srgbClr val="B0413E"/>
                </a:solidFill>
                <a:latin typeface="Calibri"/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041648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413E"/>
                </a:solidFill>
                <a:latin typeface="Calibri"/>
              </a:rPr>
              <a:t>no direct path to CO2 allowed (untestable by assumption, so we attack it three ways)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572000"/>
            <a:ext cx="5074920" cy="493776"/>
          </a:xfrm>
          <a:prstGeom prst="roundRect">
            <a:avLst>
              <a:gd name="adj" fmla="val 30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ctr"/>
            <a:r>
              <a:rPr sz="1150" b="1" i="0">
                <a:solidFill>
                  <a:srgbClr val="6E6E6E"/>
                </a:solidFill>
                <a:latin typeface="Calibri"/>
              </a:rPr>
              <a:t>🚢 Geography also moves SEA trade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43600" y="4700016"/>
            <a:ext cx="274320" cy="237744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09360" y="4572000"/>
            <a:ext cx="5120640" cy="493776"/>
          </a:xfrm>
          <a:prstGeom prst="roundRect">
            <a:avLst>
              <a:gd name="adj" fmla="val 30000"/>
            </a:avLst>
          </a:prstGeom>
          <a:solidFill>
            <a:srgbClr val="E6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ctr"/>
            <a:r>
              <a:rPr sz="1050" b="1" i="0">
                <a:solidFill>
                  <a:srgbClr val="2E7D5B"/>
                </a:solidFill>
                <a:latin typeface="Calibri"/>
              </a:rPr>
              <a:t>✓ controlled directly: ln sea market access in every regression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138928"/>
            <a:ext cx="5074920" cy="493776"/>
          </a:xfrm>
          <a:prstGeom prst="roundRect">
            <a:avLst>
              <a:gd name="adj" fmla="val 30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ctr"/>
            <a:r>
              <a:rPr sz="1150" b="1" i="0">
                <a:solidFill>
                  <a:srgbClr val="6E6E6E"/>
                </a:solidFill>
                <a:latin typeface="Calibri"/>
              </a:rPr>
              <a:t>💰 Big, rich countries ride the global cycle anyway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43600" y="5266944"/>
            <a:ext cx="274320" cy="237744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09360" y="5138928"/>
            <a:ext cx="5120640" cy="493776"/>
          </a:xfrm>
          <a:prstGeom prst="roundRect">
            <a:avLst>
              <a:gd name="adj" fmla="val 30000"/>
            </a:avLst>
          </a:prstGeom>
          <a:solidFill>
            <a:srgbClr val="E6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ctr"/>
            <a:r>
              <a:rPr sz="1050" b="1" i="0">
                <a:solidFill>
                  <a:srgbClr val="2E7D5B"/>
                </a:solidFill>
                <a:latin typeface="Calibri"/>
              </a:rPr>
              <a:t>✓ stress test: add cycle × 1996 pop, GDP, capacity. F 120 → 106, β stable (the test that killed our other instruments)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705856"/>
            <a:ext cx="5074920" cy="493776"/>
          </a:xfrm>
          <a:prstGeom prst="roundRect">
            <a:avLst>
              <a:gd name="adj" fmla="val 30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ctr"/>
            <a:r>
              <a:rPr sz="1150" b="1" i="0">
                <a:solidFill>
                  <a:srgbClr val="6E6E6E"/>
                </a:solidFill>
                <a:latin typeface="Calibri"/>
              </a:rPr>
              <a:t>🔬 Some direct effect might still remain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43600" y="5833872"/>
            <a:ext cx="274320" cy="237744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309360" y="5705856"/>
            <a:ext cx="5120640" cy="493776"/>
          </a:xfrm>
          <a:prstGeom prst="roundRect">
            <a:avLst>
              <a:gd name="adj" fmla="val 30000"/>
            </a:avLst>
          </a:prstGeom>
          <a:solidFill>
            <a:srgbClr val="E6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ctr"/>
            <a:r>
              <a:rPr sz="1050" b="1" i="0">
                <a:solidFill>
                  <a:srgbClr val="2E7D5B"/>
                </a:solidFill>
                <a:latin typeface="Calibri"/>
              </a:rPr>
              <a:t>✓ Conley bounds: results survive direct effects up to 85% of the reduced 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45 / 70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I D E N T I F I C A T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A Feyrer-type air-vs-sea geography instrument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2834640" cy="1188720"/>
          </a:xfrm>
          <a:prstGeom prst="roundRect">
            <a:avLst>
              <a:gd name="adj" fmla="val 1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/>
            <a:r>
              <a:rPr sz="1450" b="1" i="0">
                <a:solidFill>
                  <a:srgbClr val="232A55"/>
                </a:solidFill>
                <a:latin typeface="Calibri"/>
              </a:rPr>
              <a:t>🗺️ 1996 air-vs-sea market-access geography</a:t>
            </a:r>
          </a:p>
          <a:p>
            <a:pPr algn="ctr"/>
            <a:r>
              <a:rPr sz="1150" b="0" i="0">
                <a:solidFill>
                  <a:srgbClr val="1E1E24"/>
                </a:solidFill>
                <a:latin typeface="Calibri"/>
              </a:rPr>
              <a:t>fixed before the sample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224028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6E6E6E"/>
                </a:solidFill>
                <a:latin typeface="Calibri"/>
              </a:rPr>
              <a:t>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2011680"/>
            <a:ext cx="2834640" cy="1188720"/>
          </a:xfrm>
          <a:prstGeom prst="roundRect">
            <a:avLst>
              <a:gd name="adj" fmla="val 1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/>
            <a:r>
              <a:rPr sz="1450" b="1" i="0">
                <a:solidFill>
                  <a:srgbClr val="232A55"/>
                </a:solidFill>
                <a:latin typeface="Calibri"/>
              </a:rPr>
              <a:t>🌐 World aviation technology cycle</a:t>
            </a:r>
          </a:p>
          <a:p>
            <a:pPr algn="ctr"/>
            <a:r>
              <a:rPr sz="1150" b="0" i="0">
                <a:solidFill>
                  <a:srgbClr val="1E1E24"/>
                </a:solidFill>
                <a:latin typeface="Calibri"/>
              </a:rPr>
              <a:t>global, no country steers it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022592" y="2450592"/>
            <a:ext cx="502920" cy="310896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635240" y="2011680"/>
            <a:ext cx="1920240" cy="1188720"/>
          </a:xfrm>
          <a:prstGeom prst="roundRect">
            <a:avLst>
              <a:gd name="adj" fmla="val 1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/>
            <a:r>
              <a:rPr sz="1450" b="1" i="0">
                <a:solidFill>
                  <a:srgbClr val="232A55"/>
                </a:solidFill>
                <a:latin typeface="Calibri"/>
              </a:rPr>
              <a:t>GACI</a:t>
            </a:r>
          </a:p>
          <a:p>
            <a:pPr algn="ctr"/>
            <a:r>
              <a:rPr sz="1150" b="0" i="0">
                <a:solidFill>
                  <a:srgbClr val="1E1E24"/>
                </a:solidFill>
                <a:latin typeface="Calibri"/>
              </a:rPr>
              <a:t>first stage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646920" y="2450592"/>
            <a:ext cx="502920" cy="310896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241280" y="2011680"/>
            <a:ext cx="1600200" cy="1188720"/>
          </a:xfrm>
          <a:prstGeom prst="roundRect">
            <a:avLst>
              <a:gd name="adj" fmla="val 10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/>
            <a:r>
              <a:rPr sz="1450" b="1" i="0">
                <a:solidFill>
                  <a:srgbClr val="B0413E"/>
                </a:solidFill>
                <a:latin typeface="Calibri"/>
              </a:rPr>
              <a:t>💨 Aviation CO2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290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E6E6E"/>
                </a:solidFill>
                <a:latin typeface="Calibri"/>
              </a:rPr>
              <a:t>Controls: log population, log sea market access, country and year fixed effects.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069080"/>
            <a:ext cx="3383280" cy="960120"/>
          </a:xfrm>
          <a:prstGeom prst="roundRect">
            <a:avLst>
              <a:gd name="adj" fmla="val 5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 i="0">
                <a:solidFill>
                  <a:srgbClr val="232A55"/>
                </a:solidFill>
                <a:latin typeface="Calibri"/>
              </a:rPr>
              <a:t>Kleibergen–Paap F = 153.6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4069080"/>
            <a:ext cx="3383280" cy="960120"/>
          </a:xfrm>
          <a:prstGeom prst="roundRect">
            <a:avLst>
              <a:gd name="adj" fmla="val 5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50" b="1" i="0">
                <a:solidFill>
                  <a:srgbClr val="232A55"/>
                </a:solidFill>
                <a:latin typeface="Calibri"/>
              </a:rPr>
              <a:t>Stress test (cycle × baseline size): F 120 → 106. Tourism IV: 14 → 0, dies.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4069080"/>
            <a:ext cx="3383280" cy="960120"/>
          </a:xfrm>
          <a:prstGeom prst="roundRect">
            <a:avLst>
              <a:gd name="adj" fmla="val 50000"/>
            </a:avLst>
          </a:prstGeom>
          <a:solidFill>
            <a:srgbClr val="E6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50" b="1" i="0">
                <a:solidFill>
                  <a:srgbClr val="2E7D5B"/>
                </a:solidFill>
                <a:latin typeface="Calibri"/>
              </a:rPr>
              <a:t>Conley bounds: tolerates direct effects up to 85% of the reduced 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5394960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The only instrument we tried that survives its own execution squad.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44 / 70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I D E N T I F I C A T I O N     ·     E S T I M A T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Two-stage least squares, step by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83080"/>
            <a:ext cx="5486400" cy="370332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783080"/>
            <a:ext cx="91440" cy="37033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" y="1938528"/>
            <a:ext cx="502920" cy="502920"/>
          </a:xfrm>
          <a:prstGeom prst="ellipse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Verdan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3852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E1E24"/>
                </a:solidFill>
                <a:latin typeface="Calibri"/>
              </a:rPr>
              <a:t>First stage: predict connectivity from geography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1E1E24"/>
                </a:solidFill>
                <a:latin typeface="Cambria"/>
              </a:rPr>
              <a:t>ln GACI</a:t>
            </a:r>
            <a:r>
              <a:rPr sz="1080" b="0" i="1" baseline="-25000">
                <a:solidFill>
                  <a:srgbClr val="1E1E24"/>
                </a:solidFill>
                <a:latin typeface="Cambria"/>
              </a:rPr>
              <a:t>ct</a:t>
            </a:r>
            <a:r>
              <a:rPr sz="1500" b="0" i="0">
                <a:solidFill>
                  <a:srgbClr val="1E1E24"/>
                </a:solidFill>
                <a:latin typeface="Cambria"/>
              </a:rPr>
              <a:t> = </a:t>
            </a:r>
            <a:r>
              <a:rPr sz="1500" b="1" i="0">
                <a:solidFill>
                  <a:srgbClr val="1E1E24"/>
                </a:solidFill>
                <a:latin typeface="Cambria"/>
              </a:rPr>
              <a:t>π</a:t>
            </a:r>
            <a:r>
              <a:rPr sz="1500" b="0" i="0">
                <a:solidFill>
                  <a:srgbClr val="1E1E24"/>
                </a:solidFill>
                <a:latin typeface="Cambria"/>
              </a:rPr>
              <a:t> Z</a:t>
            </a:r>
            <a:r>
              <a:rPr sz="1080" b="0" i="1" baseline="-25000">
                <a:solidFill>
                  <a:srgbClr val="1E1E24"/>
                </a:solidFill>
                <a:latin typeface="Cambria"/>
              </a:rPr>
              <a:t>ct</a:t>
            </a:r>
            <a:r>
              <a:rPr sz="1500" b="0" i="0">
                <a:solidFill>
                  <a:srgbClr val="1E1E24"/>
                </a:solidFill>
                <a:latin typeface="Cambria"/>
              </a:rPr>
              <a:t> + γ</a:t>
            </a:r>
            <a:r>
              <a:rPr sz="1080" b="0" i="0" baseline="-25000">
                <a:solidFill>
                  <a:srgbClr val="1E1E24"/>
                </a:solidFill>
                <a:latin typeface="Cambria"/>
              </a:rPr>
              <a:t>1</a:t>
            </a:r>
            <a:r>
              <a:rPr sz="1500" b="0" i="0">
                <a:solidFill>
                  <a:srgbClr val="1E1E24"/>
                </a:solidFill>
                <a:latin typeface="Cambria"/>
              </a:rPr>
              <a:t> ln pop</a:t>
            </a:r>
            <a:r>
              <a:rPr sz="1080" b="0" i="1" baseline="-25000">
                <a:solidFill>
                  <a:srgbClr val="1E1E24"/>
                </a:solidFill>
                <a:latin typeface="Cambria"/>
              </a:rPr>
              <a:t>ct</a:t>
            </a:r>
            <a:r>
              <a:rPr sz="1500" b="0" i="0">
                <a:solidFill>
                  <a:srgbClr val="1E1E24"/>
                </a:solidFill>
                <a:latin typeface="Cambria"/>
              </a:rPr>
              <a:t> + δ</a:t>
            </a:r>
            <a:r>
              <a:rPr sz="1080" b="0" i="0" baseline="-25000">
                <a:solidFill>
                  <a:srgbClr val="1E1E24"/>
                </a:solidFill>
                <a:latin typeface="Cambria"/>
              </a:rPr>
              <a:t>1</a:t>
            </a:r>
            <a:r>
              <a:rPr sz="1500" b="0" i="0">
                <a:solidFill>
                  <a:srgbClr val="1E1E24"/>
                </a:solidFill>
                <a:latin typeface="Cambria"/>
              </a:rPr>
              <a:t> ln seaMA</a:t>
            </a:r>
            <a:r>
              <a:rPr sz="1080" b="0" i="1" baseline="-25000">
                <a:solidFill>
                  <a:srgbClr val="1E1E24"/>
                </a:solidFill>
                <a:latin typeface="Cambria"/>
              </a:rPr>
              <a:t>ct</a:t>
            </a:r>
            <a:r>
              <a:rPr sz="1500" b="0" i="0">
                <a:solidFill>
                  <a:srgbClr val="1E1E24"/>
                </a:solidFill>
                <a:latin typeface="Cambria"/>
              </a:rPr>
              <a:t> + α</a:t>
            </a:r>
            <a:r>
              <a:rPr sz="1080" b="0" i="1" baseline="-25000">
                <a:solidFill>
                  <a:srgbClr val="1E1E24"/>
                </a:solidFill>
                <a:latin typeface="Cambria"/>
              </a:rPr>
              <a:t>c</a:t>
            </a:r>
            <a:r>
              <a:rPr sz="1500" b="0" i="0">
                <a:solidFill>
                  <a:srgbClr val="1E1E24"/>
                </a:solidFill>
                <a:latin typeface="Cambria"/>
              </a:rPr>
              <a:t> + τ</a:t>
            </a:r>
            <a:r>
              <a:rPr sz="1080" b="0" i="1" baseline="-25000">
                <a:solidFill>
                  <a:srgbClr val="1E1E24"/>
                </a:solidFill>
                <a:latin typeface="Cambria"/>
              </a:rPr>
              <a:t>t</a:t>
            </a:r>
            <a:r>
              <a:rPr sz="1500" b="0" i="0">
                <a:solidFill>
                  <a:srgbClr val="1E1E24"/>
                </a:solidFill>
                <a:latin typeface="Cambria"/>
              </a:rPr>
              <a:t> + u</a:t>
            </a:r>
            <a:r>
              <a:rPr sz="1080" b="0" i="1" baseline="-25000">
                <a:solidFill>
                  <a:srgbClr val="1E1E24"/>
                </a:solidFill>
                <a:latin typeface="Cambria"/>
              </a:rPr>
              <a:t>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1E1E24"/>
                </a:solidFill>
                <a:latin typeface="Cambria"/>
              </a:rPr>
              <a:t>Z</a:t>
            </a:r>
            <a:r>
              <a:rPr sz="1080" b="0" i="1" baseline="-25000">
                <a:solidFill>
                  <a:srgbClr val="1E1E24"/>
                </a:solidFill>
                <a:latin typeface="Cambria"/>
              </a:rPr>
              <a:t>ct</a:t>
            </a:r>
            <a:r>
              <a:rPr sz="1500" b="0" i="0">
                <a:solidFill>
                  <a:srgbClr val="1E1E24"/>
                </a:solidFill>
                <a:latin typeface="Cambria"/>
              </a:rPr>
              <a:t> = a</a:t>
            </a:r>
            <a:r>
              <a:rPr sz="1080" b="0" i="1" baseline="-25000">
                <a:solidFill>
                  <a:srgbClr val="1E1E24"/>
                </a:solidFill>
                <a:latin typeface="Cambria"/>
              </a:rPr>
              <a:t>t</a:t>
            </a:r>
            <a:r>
              <a:rPr sz="1500" b="0" i="0">
                <a:solidFill>
                  <a:srgbClr val="1E1E24"/>
                </a:solidFill>
                <a:latin typeface="Cambria"/>
              </a:rPr>
              <a:t> × ln airMA</a:t>
            </a:r>
            <a:r>
              <a:rPr sz="1080" b="0" i="1" baseline="-25000">
                <a:solidFill>
                  <a:srgbClr val="1E1E24"/>
                </a:solidFill>
                <a:latin typeface="Cambria"/>
              </a:rPr>
              <a:t>c,1996</a:t>
            </a:r>
            <a:r>
              <a:rPr sz="1100" b="0" i="1">
                <a:solidFill>
                  <a:srgbClr val="6E6E6E"/>
                </a:solidFill>
                <a:latin typeface="Calibri"/>
              </a:rPr>
              <a:t>     (Feyrer-type shifter)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 b="1" i="1">
                <a:solidFill>
                  <a:srgbClr val="232A55"/>
                </a:solidFill>
                <a:latin typeface="Cambria"/>
              </a:rPr>
              <a:t>a</a:t>
            </a:r>
            <a:r>
              <a:rPr sz="800" b="1" i="1" baseline="-25000">
                <a:solidFill>
                  <a:srgbClr val="232A55"/>
                </a:solidFill>
                <a:latin typeface="Cambria"/>
              </a:rPr>
              <a:t>t</a:t>
            </a:r>
            <a:r>
              <a:rPr sz="1100" b="0" i="0">
                <a:solidFill>
                  <a:srgbClr val="1E1E24"/>
                </a:solidFill>
                <a:latin typeface="Calibri"/>
              </a:rPr>
              <a:t>: world aviation capacity index, min-max scaled 0 (1996) to 1: the global cycle nobody steers.</a:t>
            </a:r>
          </a:p>
          <a:p>
            <a:pPr>
              <a:spcBef>
                <a:spcPts val="300"/>
              </a:spcBef>
            </a:pPr>
            <a:r>
              <a:rPr sz="1100" b="1" i="1">
                <a:solidFill>
                  <a:srgbClr val="232A55"/>
                </a:solidFill>
                <a:latin typeface="Cambria"/>
              </a:rPr>
              <a:t>airMA</a:t>
            </a:r>
            <a:r>
              <a:rPr sz="800" b="1" i="1" baseline="-25000">
                <a:solidFill>
                  <a:srgbClr val="232A55"/>
                </a:solidFill>
                <a:latin typeface="Cambria"/>
              </a:rPr>
              <a:t>c,1996</a:t>
            </a:r>
            <a:r>
              <a:rPr sz="1100" b="0" i="0">
                <a:solidFill>
                  <a:srgbClr val="1E1E24"/>
                </a:solidFill>
                <a:latin typeface="Calibri"/>
              </a:rPr>
              <a:t>: air market access on fixed 1996 geography, the differential exposure to that cycle.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61772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66344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32A55"/>
                </a:solidFill>
                <a:latin typeface="Cambria"/>
              </a:rPr>
              <a:t>π̂ = 0.128</a:t>
            </a:r>
            <a:r>
              <a:rPr sz="1250" b="0" i="0">
                <a:solidFill>
                  <a:srgbClr val="1E1E24"/>
                </a:solidFill>
                <a:latin typeface="Calibri"/>
              </a:rPr>
              <a:t>  (s.e. 0.010),  t = 12.4,  Kleibergen–Paap F = 153.6</a:t>
            </a:r>
          </a:p>
          <a:p>
            <a:r>
              <a:rPr sz="1200" b="0" i="0">
                <a:solidFill>
                  <a:srgbClr val="1E1E24"/>
                </a:solidFill>
                <a:latin typeface="Calibri"/>
              </a:rPr>
              <a:t>Reduced form: ln CO2 on Z directly = 0.726 (s.e. 0.057).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783080"/>
            <a:ext cx="5285232" cy="37033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783080"/>
            <a:ext cx="91440" cy="370332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611112" y="1938528"/>
            <a:ext cx="502920" cy="502920"/>
          </a:xfrm>
          <a:prstGeom prst="ellipse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Verdan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5472" y="193852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Second stage: plug the prediction into (1)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25146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FFFFFF"/>
                </a:solidFill>
                <a:latin typeface="Cambria"/>
              </a:rPr>
              <a:t>ln CO</a:t>
            </a:r>
            <a:r>
              <a:rPr sz="1080" b="0" i="0" baseline="-25000">
                <a:solidFill>
                  <a:srgbClr val="FFFFFF"/>
                </a:solidFill>
                <a:latin typeface="Cambria"/>
              </a:rPr>
              <a:t>2,</a:t>
            </a:r>
            <a:r>
              <a:rPr sz="1080" b="0" i="1" baseline="-25000">
                <a:solidFill>
                  <a:srgbClr val="FFFFFF"/>
                </a:solidFill>
                <a:latin typeface="Cambria"/>
              </a:rPr>
              <a:t>ct</a:t>
            </a:r>
            <a:r>
              <a:rPr sz="1500" b="0" i="0">
                <a:solidFill>
                  <a:srgbClr val="FFFFFF"/>
                </a:solidFill>
                <a:latin typeface="Cambria"/>
              </a:rPr>
              <a:t> = </a:t>
            </a:r>
            <a:r>
              <a:rPr sz="1500" b="1" i="0">
                <a:solidFill>
                  <a:srgbClr val="FFFFFF"/>
                </a:solidFill>
                <a:latin typeface="Cambria"/>
              </a:rPr>
              <a:t>β</a:t>
            </a:r>
            <a:r>
              <a:rPr sz="1500" b="0" i="0">
                <a:solidFill>
                  <a:srgbClr val="FFFFFF"/>
                </a:solidFill>
                <a:latin typeface="Cambria"/>
              </a:rPr>
              <a:t> ln ĜACI</a:t>
            </a:r>
            <a:r>
              <a:rPr sz="1080" b="0" i="1" baseline="-25000">
                <a:solidFill>
                  <a:srgbClr val="FFFFFF"/>
                </a:solidFill>
                <a:latin typeface="Cambria"/>
              </a:rPr>
              <a:t>ct</a:t>
            </a:r>
            <a:r>
              <a:rPr sz="1500" b="0" i="0">
                <a:solidFill>
                  <a:srgbClr val="FFFFFF"/>
                </a:solidFill>
                <a:latin typeface="Cambria"/>
              </a:rPr>
              <a:t> + γ ln pop</a:t>
            </a:r>
            <a:r>
              <a:rPr sz="1080" b="0" i="1" baseline="-25000">
                <a:solidFill>
                  <a:srgbClr val="FFFFFF"/>
                </a:solidFill>
                <a:latin typeface="Cambria"/>
              </a:rPr>
              <a:t>ct</a:t>
            </a:r>
            <a:r>
              <a:rPr sz="1500" b="0" i="0">
                <a:solidFill>
                  <a:srgbClr val="FFFFFF"/>
                </a:solidFill>
                <a:latin typeface="Cambria"/>
              </a:rPr>
              <a:t> + δ ln seaMA</a:t>
            </a:r>
            <a:r>
              <a:rPr sz="1080" b="0" i="1" baseline="-25000">
                <a:solidFill>
                  <a:srgbClr val="FFFFFF"/>
                </a:solidFill>
                <a:latin typeface="Cambria"/>
              </a:rPr>
              <a:t>ct</a:t>
            </a:r>
            <a:r>
              <a:rPr sz="1500" b="0" i="0">
                <a:solidFill>
                  <a:srgbClr val="FFFFFF"/>
                </a:solidFill>
                <a:latin typeface="Cambria"/>
              </a:rPr>
              <a:t> + α</a:t>
            </a:r>
            <a:r>
              <a:rPr sz="1080" b="0" i="1" baseline="-25000">
                <a:solidFill>
                  <a:srgbClr val="FFFFFF"/>
                </a:solidFill>
                <a:latin typeface="Cambria"/>
              </a:rPr>
              <a:t>c</a:t>
            </a:r>
            <a:r>
              <a:rPr sz="1500" b="0" i="0">
                <a:solidFill>
                  <a:srgbClr val="FFFFFF"/>
                </a:solidFill>
                <a:latin typeface="Cambria"/>
              </a:rPr>
              <a:t> + τ</a:t>
            </a:r>
            <a:r>
              <a:rPr sz="1080" b="0" i="1" baseline="-25000">
                <a:solidFill>
                  <a:srgbClr val="FFFFFF"/>
                </a:solidFill>
                <a:latin typeface="Cambria"/>
              </a:rPr>
              <a:t>t</a:t>
            </a:r>
            <a:r>
              <a:rPr sz="1500" b="0" i="0">
                <a:solidFill>
                  <a:srgbClr val="FFFFFF"/>
                </a:solidFill>
                <a:latin typeface="Cambria"/>
              </a:rPr>
              <a:t> + ε</a:t>
            </a:r>
            <a:r>
              <a:rPr sz="1080" b="0" i="1" baseline="-25000">
                <a:solidFill>
                  <a:srgbClr val="FFFFFF"/>
                </a:solidFill>
                <a:latin typeface="Cambria"/>
              </a:rPr>
              <a:t>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31089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 b="1" i="0">
                <a:solidFill>
                  <a:srgbClr val="E2A85A"/>
                </a:solidFill>
                <a:latin typeface="Calibri"/>
              </a:rPr>
              <a:t>Exactly identified</a:t>
            </a:r>
            <a:r>
              <a:rPr sz="1100" b="0" i="0">
                <a:solidFill>
                  <a:srgbClr val="BCC5DE"/>
                </a:solidFill>
                <a:latin typeface="Calibri"/>
              </a:rPr>
              <a:t>: one instrument, one endogenous regressor, so β is a ratio of two reduced forms: 0.726 / 0.128 = 5.67.</a:t>
            </a:r>
          </a:p>
          <a:p>
            <a:pPr>
              <a:spcBef>
                <a:spcPts val="300"/>
              </a:spcBef>
            </a:pPr>
            <a:r>
              <a:rPr sz="1100" b="1" i="0">
                <a:solidFill>
                  <a:srgbClr val="E2A85A"/>
                </a:solidFill>
                <a:latin typeface="Calibri"/>
              </a:rPr>
              <a:t>Only the geography-driven part</a:t>
            </a:r>
            <a:r>
              <a:rPr sz="1100" b="0" i="0">
                <a:solidFill>
                  <a:srgbClr val="BCC5DE"/>
                </a:solidFill>
                <a:latin typeface="Calibri"/>
              </a:rPr>
              <a:t> of connectivity growth is used; demand-driven capacity is purged.</a:t>
            </a:r>
          </a:p>
          <a:p>
            <a:pPr>
              <a:spcBef>
                <a:spcPts val="300"/>
              </a:spcBef>
            </a:pPr>
            <a:r>
              <a:rPr sz="1100" b="1" i="0">
                <a:solidFill>
                  <a:srgbClr val="E2A85A"/>
                </a:solidFill>
                <a:latin typeface="Calibri"/>
              </a:rPr>
              <a:t>Inference</a:t>
            </a:r>
            <a:r>
              <a:rPr sz="1100" b="0" i="0">
                <a:solidFill>
                  <a:srgbClr val="BCC5DE"/>
                </a:solidFill>
                <a:latin typeface="Calibri"/>
              </a:rPr>
              <a:t>: robust SEs; Conley (spatial) SEs and plausibly-exogenous bounds as checks.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11112" y="4617720"/>
            <a:ext cx="4800600" cy="731520"/>
          </a:xfrm>
          <a:prstGeom prst="roundRect">
            <a:avLst>
              <a:gd name="adj" fmla="val 15000"/>
            </a:avLst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48272" y="466344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232A55"/>
                </a:solidFill>
                <a:latin typeface="Cambria"/>
              </a:rPr>
              <a:t>β̂ = 5.669</a:t>
            </a:r>
            <a:r>
              <a:rPr sz="1250" b="1" i="0">
                <a:solidFill>
                  <a:srgbClr val="232A55"/>
                </a:solidFill>
                <a:latin typeface="Calibri"/>
              </a:rPr>
              <a:t>  (s.e. 0.412),  p &lt; 0.001</a:t>
            </a:r>
          </a:p>
          <a:p>
            <a:r>
              <a:rPr sz="1200" b="0" i="0">
                <a:solidFill>
                  <a:srgbClr val="232A55"/>
                </a:solidFill>
                <a:latin typeface="Calibri"/>
              </a:rPr>
              <a:t>OLS on the same sample: 3.585 (0.175). N = 4,634.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80160" y="5687568"/>
            <a:ext cx="9601200" cy="566928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232A55"/>
                </a:solidFill>
                <a:latin typeface="Calibri"/>
              </a:rPr>
              <a:t>A 1% rise in hub quality raises national aviation CO2 by 5.7%: far from the proportional benchmark of one.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46 / 70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I D E N T I F I C A T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raw first look: shifter up, emissions up</a:t>
            </a:r>
          </a:p>
        </p:txBody>
      </p:sp>
      <p:pic>
        <p:nvPicPr>
          <p:cNvPr id="5" name="Picture 4" descr="CO2_rf_quint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17" y="2103120"/>
            <a:ext cx="10455534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650992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Reduced form by instrument quintile: countries with stronger geography-driven connectivity growth emit more.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47 / 70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88920"/>
            <a:ext cx="128016" cy="109728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E2A85A"/>
                </a:solidFill>
                <a:latin typeface="Verdana"/>
              </a:rPr>
              <a:t>05</a:t>
            </a:r>
          </a:p>
          <a:p>
            <a:r>
              <a:rPr sz="3200" b="1" i="0">
                <a:solidFill>
                  <a:srgbClr val="FFFFFF"/>
                </a:solidFill>
                <a:latin typeface="Verdana"/>
              </a:rPr>
              <a:t>Results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BCC5DE"/>
                </a:solidFill>
                <a:latin typeface="Calibri"/>
              </a:rPr>
              <a:t>The elasticity, and everything inside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286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0">
                <a:solidFill>
                  <a:srgbClr val="E2A85A"/>
                </a:solidFill>
                <a:latin typeface="Calibri"/>
              </a:rPr>
              <a:t>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48 / 70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005840"/>
            <a:ext cx="1127455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200" b="1" i="0">
                <a:solidFill>
                  <a:srgbClr val="E2A85A"/>
                </a:solidFill>
                <a:latin typeface="Verdana"/>
              </a:rPr>
              <a:t>+1%  →  +5.7%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375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connectivity up one percent, national aviation CO2 up 5.67 percent (s.e. 0.41)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343400"/>
            <a:ext cx="9262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CC5DE"/>
                </a:solidFill>
                <a:latin typeface="Calibri"/>
              </a:rPr>
              <a:t>The benchmark is an elasticity of one: hubs could in principle absorb growth efficiently.</a:t>
            </a:r>
          </a:p>
          <a:p>
            <a:pPr algn="ctr">
              <a:spcBef>
                <a:spcPts val="600"/>
              </a:spcBef>
            </a:pPr>
            <a:r>
              <a:rPr sz="1600" b="1" i="0">
                <a:solidFill>
                  <a:srgbClr val="BCC5DE"/>
                </a:solidFill>
                <a:latin typeface="Calibri"/>
              </a:rPr>
              <a:t>An elasticity of one is rejected at any conventional level.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49 / 70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     ·     T A B L E   1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Main results: OLS versus 2SLS across six outcomes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737360"/>
          <a:ext cx="8595360" cy="39410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Dependent variable (log)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Bunker CO2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LTO CO2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50/50 CO2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Intl. CO2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Seat-km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CO2 / seat-km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 gridSpan="7">
                  <a:txBody>
                    <a:bodyPr/>
                    <a:lstStyle/>
                    <a:p>
                      <a:pPr algn="l"/>
                      <a:r>
                        <a:rPr sz="1050" b="1" i="1">
                          <a:solidFill>
                            <a:srgbClr val="232A55"/>
                          </a:solidFill>
                          <a:latin typeface="Calibri"/>
                        </a:rPr>
                        <a:t>Panel A. OLS, country and year FE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ln GACI (cwm)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3.585***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3.043***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3.566***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3.874***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3.941***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−0.355***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(0.175)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(0.177)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(0.175)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(0.198)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(0.183)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(0.043)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 gridSpan="7">
                  <a:txBody>
                    <a:bodyPr/>
                    <a:lstStyle/>
                    <a:p>
                      <a:pPr algn="l"/>
                      <a:r>
                        <a:rPr sz="1050" b="1" i="1">
                          <a:solidFill>
                            <a:srgbClr val="232A55"/>
                          </a:solidFill>
                          <a:latin typeface="Calibri"/>
                        </a:rPr>
                        <a:t>Panel B. 2SLS, Feyrer instrument, capacity-weighted mean (headline)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ln GACI (cwm)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B0413E"/>
                          </a:solidFill>
                          <a:latin typeface="Calibri"/>
                        </a:rPr>
                        <a:t>5.669***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5.921***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5.620***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5.690***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B0413E"/>
                          </a:solidFill>
                          <a:latin typeface="Calibri"/>
                        </a:rPr>
                        <a:t>6.068***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B0413E"/>
                          </a:solidFill>
                          <a:latin typeface="Calibri"/>
                        </a:rPr>
                        <a:t>−0.399***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(0.412)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(0.448)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(0.409)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(0.415)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(0.443)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(0.118)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Kleibergen–Paap F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153.6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153.6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153.6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152.7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153.6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153.6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 gridSpan="7">
                  <a:txBody>
                    <a:bodyPr/>
                    <a:lstStyle/>
                    <a:p>
                      <a:pPr algn="l"/>
                      <a:r>
                        <a:rPr sz="1050" b="1" i="1">
                          <a:solidFill>
                            <a:srgbClr val="232A55"/>
                          </a:solidFill>
                          <a:latin typeface="Calibri"/>
                        </a:rPr>
                        <a:t>Panel C. 2SLS, alternative aggregations of airport GACI to the country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ln GACI (sum)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2.283***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2.384***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2.263***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2.291***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2.443***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−0.161***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KP F = 90.3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(0.224)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(0.219)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(0.222)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(0.237)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(0.250)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(0.052)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ln GACI (max)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4.822***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5.036***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4.780***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4.836***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5.161***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−0.340***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KP F = 172.0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(0.329)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(0.348)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(0.327)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(0.343)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(0.361)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(0.101)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ln GACI (mean)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5.897***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6.159***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5.846***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5.902***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6.313***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−0.415***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KP F = 136.2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(0.591)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(0.623)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(0.587)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(0.593)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(0.624)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(0.122)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N (country-years)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4,634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4,634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4,634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4,633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4,634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4,634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9418320" y="1737360"/>
            <a:ext cx="2221992" cy="3977639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418320" y="1737360"/>
            <a:ext cx="91440" cy="3977639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19488" y="1810512"/>
            <a:ext cx="1965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32A55"/>
                </a:solidFill>
                <a:latin typeface="Calibri"/>
              </a:rPr>
              <a:t>Headline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B0413E"/>
                </a:solidFill>
                <a:latin typeface="Calibri"/>
              </a:rPr>
              <a:t>β = 5.67 (0.41)</a:t>
            </a:r>
          </a:p>
          <a:p>
            <a:r>
              <a:rPr sz="1050" b="0" i="0">
                <a:solidFill>
                  <a:srgbClr val="1E1E24"/>
                </a:solidFill>
                <a:latin typeface="Calibri"/>
              </a:rPr>
              <a:t>+1% hub quality = +5.7% national aviation CO2. Benchmark of one rejected by a wide margin.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232A55"/>
                </a:solidFill>
                <a:latin typeface="Calibri"/>
              </a:rPr>
              <a:t>OLS understates</a:t>
            </a:r>
          </a:p>
          <a:p>
            <a:r>
              <a:rPr sz="1050" b="0" i="0">
                <a:solidFill>
                  <a:srgbClr val="1E1E24"/>
                </a:solidFill>
                <a:latin typeface="Calibri"/>
              </a:rPr>
              <a:t>3.59 vs 5.67: the 2SLS estimate exceeds OLS, so the net OLS bias is downward.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232A55"/>
                </a:solidFill>
                <a:latin typeface="Calibri"/>
              </a:rPr>
              <a:t>Allocation rule irrelevant</a:t>
            </a:r>
          </a:p>
          <a:p>
            <a:r>
              <a:rPr sz="1050" b="0" i="0">
                <a:solidFill>
                  <a:srgbClr val="1E1E24"/>
                </a:solidFill>
                <a:latin typeface="Calibri"/>
              </a:rPr>
              <a:t>5.62 to 5.92 across territorial, bunker and split conventions.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232A55"/>
                </a:solidFill>
                <a:latin typeface="Calibri"/>
              </a:rPr>
              <a:t>Scale vs technique</a:t>
            </a:r>
          </a:p>
          <a:p>
            <a:r>
              <a:rPr sz="1050" b="0" i="0">
                <a:solidFill>
                  <a:srgbClr val="1E1E24"/>
                </a:solidFill>
                <a:latin typeface="Calibri"/>
              </a:rPr>
              <a:t>Seat-km +6.07 and intensity −0.40: volume, not efficiency.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89788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Notes: country-year panel, 184 countries, 1996–2023. All columns include country and year fixed effects and control for log population and log sea market access. Instrument: world aviation cycle × 1996 air market access. Robust SE in parentheses. ***, **, *: 1, 5, 10% significance.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50 / 70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However you count it: far above 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700" b="1" i="0">
                <a:solidFill>
                  <a:srgbClr val="B0413E"/>
                </a:solidFill>
                <a:latin typeface="Verdana"/>
              </a:rPr>
              <a:t>+5.67***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Bunker CO2 (headline)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874519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700" b="1" i="0">
                <a:solidFill>
                  <a:srgbClr val="B0413E"/>
                </a:solidFill>
                <a:latin typeface="Verdana"/>
              </a:rPr>
              <a:t>+5.92***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LTO-only (territorial)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874519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700" b="1" i="0">
                <a:solidFill>
                  <a:srgbClr val="B0413E"/>
                </a:solidFill>
                <a:latin typeface="Verdana"/>
              </a:rPr>
              <a:t>+5.62***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50/50 cruise split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11879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700" b="1" i="0">
                <a:solidFill>
                  <a:srgbClr val="B0413E"/>
                </a:solidFill>
                <a:latin typeface="Verdana"/>
              </a:rPr>
              <a:t>+5.69***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International CO2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611879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700" b="1" i="0">
                <a:solidFill>
                  <a:srgbClr val="232A55"/>
                </a:solidFill>
                <a:latin typeface="Verdana"/>
              </a:rPr>
              <a:t>+6.07***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Seat-kilometres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3611879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E6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700" b="1" i="0">
                <a:solidFill>
                  <a:srgbClr val="2E7D5B"/>
                </a:solidFill>
                <a:latin typeface="Verdana"/>
              </a:rPr>
              <a:t>−0.40***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CO2 per seat-km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035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E6E6E"/>
                </a:solidFill>
                <a:latin typeface="Calibri"/>
              </a:rPr>
              <a:t>Aggregation checks: GACI sum +2.28***, max +4.82***, mean +5.90*** (KP F 90–172). 2SLS, Feyrer IV, N = 4,634.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5760720"/>
            <a:ext cx="9601200" cy="64008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Allocation rule, aggregation, instrument: nothing pushes the elasticity anywhere near 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51 / 70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Efficiency is real. It is also hopelessly outgunned.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32A55"/>
                </a:solidFill>
                <a:latin typeface="Calibri"/>
              </a:rPr>
              <a:t>Scale (seat-km)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2103120"/>
            <a:ext cx="7498079" cy="640080"/>
          </a:xfrm>
          <a:prstGeom prst="roundRect">
            <a:avLst>
              <a:gd name="adj" fmla="val 30000"/>
            </a:avLst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+6.07%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232A55"/>
                </a:solidFill>
                <a:latin typeface="Calibri"/>
              </a:rPr>
              <a:t>Technique (CO2 per seat-km)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3200400"/>
            <a:ext cx="548640" cy="640080"/>
          </a:xfrm>
          <a:prstGeom prst="roundRect">
            <a:avLst>
              <a:gd name="adj" fmla="val 3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50208" y="3273552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i="0">
                <a:solidFill>
                  <a:srgbClr val="2E7D5B"/>
                </a:solidFill>
                <a:latin typeface="Calibri"/>
              </a:rPr>
              <a:t>−0.40%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The same 1% of connectivity raises seat-kilometres by 6.07%, faster than emissions rise.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So emissions per seat-km fall by 0.40%: hubbing does deliver larger, fuller, longer-range operations.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But the efficiency margin offsets </a:t>
            </a:r>
            <a:r>
              <a:rPr sz="1600" b="1" i="0">
                <a:solidFill>
                  <a:srgbClr val="1E1E24"/>
                </a:solidFill>
                <a:latin typeface="Calibri"/>
              </a:rPr>
              <a:t>less than one tenth of the scale response.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5715000"/>
            <a:ext cx="9601200" cy="64008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The emissions consequence of connectivity is a volume story, not an efficiency story.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52 / 70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Zoom to the airport: the efficiency curve</a:t>
            </a:r>
          </a:p>
        </p:txBody>
      </p:sp>
      <p:pic>
        <p:nvPicPr>
          <p:cNvPr id="5" name="Picture 4" descr="CO2_efficiency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209" y="1737360"/>
            <a:ext cx="5725550" cy="3383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3035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2023 cross-section by connectivity ventile: median intensity falls 284 → 77 kg per 1,000 seat-km while the international share climbs from 1% to 60%.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5943600"/>
            <a:ext cx="9601200" cy="54864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232A55"/>
                </a:solidFill>
                <a:latin typeface="Calibri"/>
              </a:rPr>
              <a:t>Efficiency is real at the node, and dominated by scale at the aggregate.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53 / 70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Who drives it: the newly connecting world</a:t>
            </a:r>
          </a:p>
        </p:txBody>
      </p:sp>
      <p:pic>
        <p:nvPicPr>
          <p:cNvPr id="5" name="Picture 4" descr="CO2_hetero_coef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5696712" cy="4069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03720" y="196596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 i="0">
                <a:solidFill>
                  <a:srgbClr val="232A55"/>
                </a:solidFill>
                <a:latin typeface="Calibri"/>
              </a:rPr>
              <a:t>By 1996 income:  </a:t>
            </a:r>
            <a:r>
              <a:rPr sz="1600" b="0" i="0">
                <a:solidFill>
                  <a:srgbClr val="1E1E24"/>
                </a:solidFill>
                <a:latin typeface="Calibri"/>
              </a:rPr>
              <a:t>11.4 (bottom) · 5.9 (middle) · 0.35 ns (top)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232A55"/>
                </a:solidFill>
                <a:latin typeface="Calibri"/>
              </a:rPr>
              <a:t>By region:  </a:t>
            </a:r>
            <a:r>
              <a:rPr sz="1600" b="0" i="0">
                <a:solidFill>
                  <a:srgbClr val="1E1E24"/>
                </a:solidFill>
                <a:latin typeface="Calibri"/>
              </a:rPr>
              <a:t>Africa 8.4 · Asia–Pacific 5.4 · Latin America 3.2 · Europe 0.24 ns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232A55"/>
                </a:solidFill>
                <a:latin typeface="Calibri"/>
              </a:rPr>
              <a:t>Efficiency gains  </a:t>
            </a:r>
            <a:r>
              <a:rPr sz="1600" b="0" i="0">
                <a:solidFill>
                  <a:srgbClr val="1E1E24"/>
                </a:solidFill>
                <a:latin typeface="Calibri"/>
              </a:rPr>
              <a:t>also appear only in the bottom income tercile.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5897880"/>
            <a:ext cx="9601200" cy="658368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For mature networks, connectivity growth is roughly carbon-neutral at the margin. The elasticity is the sound of countries entering the network.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54 / 70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And it is fading as the network matures</a:t>
            </a:r>
          </a:p>
        </p:txBody>
      </p:sp>
      <p:pic>
        <p:nvPicPr>
          <p:cNvPr id="5" name="Picture 4" descr="CO2_temporal_coef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932734" cy="3794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26679" y="205740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1" i="0">
                <a:solidFill>
                  <a:srgbClr val="232A55"/>
                </a:solidFill>
                <a:latin typeface="Calibri"/>
              </a:rPr>
              <a:t>5.61 → 3.01  </a:t>
            </a:r>
            <a:r>
              <a:rPr sz="1400" b="0" i="0">
                <a:solidFill>
                  <a:srgbClr val="1E1E24"/>
                </a:solidFill>
                <a:latin typeface="Calibri"/>
              </a:rPr>
              <a:t>excluding crisis years: the elasticity halves from 1996–2007 to 2010–2023 (p = 0.005).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232A55"/>
                </a:solidFill>
                <a:latin typeface="Calibri"/>
              </a:rPr>
              <a:t>+0.78 → −0.98  </a:t>
            </a:r>
            <a:r>
              <a:rPr sz="1400" b="0" i="0">
                <a:solidFill>
                  <a:srgbClr val="1E1E24"/>
                </a:solidFill>
                <a:latin typeface="Calibri"/>
              </a:rPr>
              <a:t>the efficiency margin only appears in the mature era.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232A55"/>
                </a:solidFill>
                <a:latin typeface="Calibri"/>
              </a:rPr>
              <a:t>COVID alone  </a:t>
            </a:r>
            <a:r>
              <a:rPr sz="1400" b="0" i="0">
                <a:solidFill>
                  <a:srgbClr val="1E1E24"/>
                </a:solidFill>
                <a:latin typeface="Calibri"/>
              </a:rPr>
              <a:t>breaks the late-period first stage (F 36.7 → 7.0 with 2020–21 included).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5897880"/>
            <a:ext cx="9601200" cy="59436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232A55"/>
                </a:solidFill>
                <a:latin typeface="Calibri"/>
              </a:rPr>
              <a:t>Still far above one in both eras: maturity slows the meter, it does not stop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55 / 70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     ·     T A B L E   2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Who and when: split-sample 2SLS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1907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A. Heterogeneity (total bunker CO2; terciles on 1996 values)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029968"/>
          <a:ext cx="5577840" cy="3310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Subsample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β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s.e.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KP F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 gridSpan="5">
                  <a:txBody>
                    <a:bodyPr/>
                    <a:lstStyle/>
                    <a:p>
                      <a:pPr algn="l"/>
                      <a:r>
                        <a:rPr sz="1000" b="1" i="1">
                          <a:solidFill>
                            <a:srgbClr val="232A55"/>
                          </a:solidFill>
                          <a:latin typeface="Calibri"/>
                        </a:rPr>
                        <a:t>By baseline income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Low income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B0413E"/>
                          </a:solidFill>
                          <a:latin typeface="Calibri"/>
                        </a:rPr>
                        <a:t>11.431***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(1.338)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35.2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1,595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Middle income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5.906***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(0.782)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48.2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1,547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High income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6E6E6E"/>
                          </a:solidFill>
                          <a:latin typeface="Calibri"/>
                        </a:rPr>
                        <a:t>0.350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(1.106)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10.1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1,491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 gridSpan="5">
                  <a:txBody>
                    <a:bodyPr/>
                    <a:lstStyle/>
                    <a:p>
                      <a:pPr algn="l"/>
                      <a:r>
                        <a:rPr sz="1000" b="1" i="1">
                          <a:solidFill>
                            <a:srgbClr val="232A55"/>
                          </a:solidFill>
                          <a:latin typeface="Calibri"/>
                        </a:rPr>
                        <a:t>By baseline connectivity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Low connectivity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B0413E"/>
                          </a:solidFill>
                          <a:latin typeface="Calibri"/>
                        </a:rPr>
                        <a:t>9.018***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(0.656)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117.4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1,452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Middle connectivity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5.642***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(0.908)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29.9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1,526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High connectivity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6E6E6E"/>
                          </a:solidFill>
                          <a:latin typeface="Calibri"/>
                        </a:rPr>
                        <a:t>0.452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(2.201)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1.8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1,655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 gridSpan="5">
                  <a:txBody>
                    <a:bodyPr/>
                    <a:lstStyle/>
                    <a:p>
                      <a:pPr algn="l"/>
                      <a:r>
                        <a:rPr sz="1000" b="1" i="1">
                          <a:solidFill>
                            <a:srgbClr val="232A55"/>
                          </a:solidFill>
                          <a:latin typeface="Calibri"/>
                        </a:rPr>
                        <a:t>By region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Europe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6E6E6E"/>
                          </a:solidFill>
                          <a:latin typeface="Calibri"/>
                        </a:rPr>
                        <a:t>0.236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(0.616)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55.5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1,189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Asia–Pacific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5.424***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(0.667)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64.4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1,110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Africa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B0413E"/>
                          </a:solidFill>
                          <a:latin typeface="Calibri"/>
                        </a:rPr>
                        <a:t>8.385***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(1.688)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20.2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1,230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Latin America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3.229***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(0.900)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14.1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683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544068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1">
                <a:solidFill>
                  <a:srgbClr val="6E6E6E"/>
                </a:solidFill>
                <a:latin typeface="Calibri"/>
              </a:rPr>
              <a:t>Middle East and North America: not identified (KP F &lt; 2). Robust SE in parentheses; ***, **, *: 1, 5, 10%.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7190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B. Temporal split (2SLS, Feyrer instrument)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55080" y="2029968"/>
          <a:ext cx="5394960" cy="27340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Sample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Bunker CO2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Intl. CO2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Seat-km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Intensity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KP F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Full, 1996–2023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5.669***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5.690***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6.068***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−0.399***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153.6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N = 4,634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(0.412)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(0.415)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(0.443)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(0.118)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Expansion era, 1996–2007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B0413E"/>
                          </a:solidFill>
                          <a:latin typeface="Calibri"/>
                        </a:rPr>
                        <a:t>5.613***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5.809***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4.837***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+0.776***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75.0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N = 1,883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(0.665)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(0.704)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(0.626)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(0.249)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Mature era, 2010–23 ex-COVID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B0413E"/>
                          </a:solidFill>
                          <a:latin typeface="Calibri"/>
                        </a:rPr>
                        <a:t>3.005***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2.965***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3.984***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−0.979***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36.7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N = 2,065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(0.635)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(0.610)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(0.668)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(0.248)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Unrestricted 1996–2009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6.109***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6.262***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5.537***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+0.571***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127.7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N = 2,218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(0.565)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(0.590)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(0.534)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(0.192)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Unrestricted 2010–2023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6E6E6E"/>
                          </a:solidFill>
                          <a:latin typeface="Calibri"/>
                        </a:rPr>
                        <a:t>1.213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6E6E6E"/>
                          </a:solidFill>
                          <a:latin typeface="Calibri"/>
                        </a:rPr>
                        <a:t>1.051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6E6E6E"/>
                          </a:solidFill>
                          <a:latin typeface="Calibri"/>
                        </a:rPr>
                        <a:t>1.829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6E6E6E"/>
                          </a:solidFill>
                          <a:latin typeface="Calibri"/>
                        </a:rPr>
                        <a:t>−0.617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6E6E6E"/>
                          </a:solidFill>
                          <a:latin typeface="Calibri"/>
                        </a:rPr>
                        <a:t>7.0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N = 2,415 (weak IV)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(1.394)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(1.463)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(1.598)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(0.739)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355080" y="4846320"/>
            <a:ext cx="5285232" cy="86868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487375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232A55"/>
                </a:solidFill>
                <a:latin typeface="Calibri"/>
              </a:rPr>
              <a:t>Pre vs post difference: </a:t>
            </a:r>
            <a:r>
              <a:rPr sz="1100" b="0" i="0">
                <a:solidFill>
                  <a:srgbClr val="1E1E24"/>
                </a:solidFill>
                <a:latin typeface="Calibri"/>
              </a:rPr>
              <a:t>2.61 (p = 0.005). The elasticity halves as the network matures but stays far above one. The weak unrestricted post-2010 first stage is a COVID artefact: dropping 2020–21 restores F to 36.7.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5852160"/>
            <a:ext cx="9601200" cy="53035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The elasticity is the sound of a network being built: newly connecting, low-income countries carry it; mature networks are near carbon-neutral at the margin.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56 / 70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Anatomy: volume carries it, hub quality recomposes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32A55"/>
                </a:solidFill>
                <a:latin typeface="Calibri"/>
              </a:rPr>
              <a:t>What mediates the effect?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86000"/>
            <a:ext cx="3246120" cy="141732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 i="0">
                <a:solidFill>
                  <a:srgbClr val="232A55"/>
                </a:solidFill>
                <a:latin typeface="Verdana"/>
              </a:rPr>
              <a:t>86.5%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of the effect runs through seat-kilometres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286000"/>
            <a:ext cx="3246120" cy="141732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 i="0">
                <a:solidFill>
                  <a:srgbClr val="232A55"/>
                </a:solidFill>
                <a:latin typeface="Verdana"/>
              </a:rPr>
              <a:t>83.9%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through flight frequency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286000"/>
            <a:ext cx="3246120" cy="1417320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 i="0">
                <a:solidFill>
                  <a:srgbClr val="6E6E6E"/>
                </a:solidFill>
                <a:latin typeface="Verdana"/>
              </a:rPr>
              <a:t>~0%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through the international share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32A55"/>
                </a:solidFill>
                <a:latin typeface="Calibri"/>
              </a:rPr>
              <a:t>A different lever, hub quality (secondary tourism IV), moves the mix instead: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434840"/>
            <a:ext cx="3246120" cy="777240"/>
          </a:xfrm>
          <a:prstGeom prst="roundRect">
            <a:avLst>
              <a:gd name="adj" fmla="val 5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Total CO2: no response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4434840"/>
            <a:ext cx="3246120" cy="777240"/>
          </a:xfrm>
          <a:prstGeom prst="roundRect">
            <a:avLst>
              <a:gd name="adj" fmla="val 50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 i="0">
                <a:solidFill>
                  <a:srgbClr val="B0413E"/>
                </a:solidFill>
                <a:latin typeface="Calibri"/>
              </a:rPr>
              <a:t>International CO2: +3.16***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434840"/>
            <a:ext cx="3246120" cy="777240"/>
          </a:xfrm>
          <a:prstGeom prst="roundRect">
            <a:avLst>
              <a:gd name="adj" fmla="val 50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 i="0">
                <a:solidFill>
                  <a:srgbClr val="B0413E"/>
                </a:solidFill>
                <a:latin typeface="Calibri"/>
              </a:rPr>
              <a:t>CO2 per seat-km: +1.23***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5623560"/>
            <a:ext cx="9601200" cy="64008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Market access scales flying; hub quality tilts it toward international long-haul.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57 / 70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Your neighbour's hub, your emissions</a:t>
            </a:r>
          </a:p>
        </p:txBody>
      </p:sp>
      <p:sp>
        <p:nvSpPr>
          <p:cNvPr id="5" name="Oval 4"/>
          <p:cNvSpPr/>
          <p:nvPr/>
        </p:nvSpPr>
        <p:spPr>
          <a:xfrm>
            <a:off x="1005840" y="2148840"/>
            <a:ext cx="2286000" cy="1554480"/>
          </a:xfrm>
          <a:prstGeom prst="ellipse">
            <a:avLst/>
          </a:prstGeom>
          <a:solidFill>
            <a:srgbClr val="FAF0E1"/>
          </a:solidFill>
          <a:ln>
            <a:solidFill>
              <a:srgbClr val="E2A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✈️ Neighbours' connectivity +1%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474720" y="2724912"/>
            <a:ext cx="914400" cy="402336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526280" y="2148840"/>
            <a:ext cx="2286000" cy="1554480"/>
          </a:xfrm>
          <a:prstGeom prst="ellipse">
            <a:avLst/>
          </a:prstGeom>
          <a:solidFill>
            <a:srgbClr val="F8E9E8"/>
          </a:solidFill>
          <a:ln>
            <a:solidFill>
              <a:srgbClr val="B0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B0413E"/>
                </a:solidFill>
                <a:latin typeface="Calibri"/>
              </a:rPr>
              <a:t>💨 Own aviation CO2 +7.45***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103120"/>
            <a:ext cx="4069080" cy="502920"/>
          </a:xfrm>
          <a:prstGeom prst="roundRect">
            <a:avLst>
              <a:gd name="adj" fmla="val 50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B0413E"/>
                </a:solidFill>
                <a:latin typeface="Calibri"/>
              </a:rPr>
              <a:t>International CO2 +10.2***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697479"/>
            <a:ext cx="4069080" cy="50292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6E6E6E"/>
                </a:solidFill>
                <a:latin typeface="Calibri"/>
              </a:rPr>
              <a:t>Trade volume: +2.1, 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291839"/>
            <a:ext cx="4069080" cy="502920"/>
          </a:xfrm>
          <a:prstGeom prst="roundRect">
            <a:avLst>
              <a:gd name="adj" fmla="val 5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KP F = 134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69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32A55"/>
                </a:solidFill>
                <a:latin typeface="Calibri"/>
              </a:rPr>
              <a:t>The margins are the converse of the own-network response: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526280"/>
            <a:ext cx="2560320" cy="73152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6E6E6E"/>
                </a:solidFill>
                <a:latin typeface="Calibri"/>
              </a:rPr>
              <a:t>Flights: 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4526280"/>
            <a:ext cx="2560320" cy="731520"/>
          </a:xfrm>
          <a:prstGeom prst="roundRect">
            <a:avLst>
              <a:gd name="adj" fmla="val 5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Aircraft size +5.4***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526280"/>
            <a:ext cx="2560320" cy="731520"/>
          </a:xfrm>
          <a:prstGeom prst="roundRect">
            <a:avLst>
              <a:gd name="adj" fmla="val 5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Intl share +1.0***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4526280"/>
            <a:ext cx="2560320" cy="731520"/>
          </a:xfrm>
          <a:prstGeom prst="roundRect">
            <a:avLst>
              <a:gd name="adj" fmla="val 5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Stage length −2.0**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5623560"/>
            <a:ext cx="9601200" cy="658368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232A55"/>
                </a:solidFill>
                <a:latin typeface="Calibri"/>
              </a:rPr>
              <a:t>Feeding foreign hubs: the CO2 lands at home, the trade gains do not. National accounting misses a regional externality.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58 / 70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     ·     T A B L E  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Spillovers: neighbours' connectivity, own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190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Panel A. 2SLS: neighbour connectivity instrumented by neighbours' Feyrer shifters (inverse-distance weighted)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029968"/>
          <a:ext cx="8138160" cy="1773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Dependent variable (log)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Bunker CO2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Intl. CO2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CO2 / seat-km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Trade volume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ln neighbour GACI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B0413E"/>
                          </a:solidFill>
                          <a:latin typeface="Calibri"/>
                        </a:rPr>
                        <a:t>7.454***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B0413E"/>
                          </a:solidFill>
                          <a:latin typeface="Calibri"/>
                        </a:rPr>
                        <a:t>10.237***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1.312**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6E6E6E"/>
                          </a:solidFill>
                          <a:latin typeface="Calibri"/>
                        </a:rPr>
                        <a:t>2.072 (ns)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(1.994)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(2.092)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(0.534)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(2.011)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Own Feyrer shifter (reduced form)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0.254**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0.076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−0.134***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0.157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(0.122)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(0.128)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(0.037)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(0.124)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Kleibergen–Paap F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134.1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134.0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134.1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134.1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N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4,623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4,622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4,623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4,623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931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Panel B. Margins of the own response to neighbour connectivity (same specification)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4242816"/>
          <a:ext cx="8138160" cy="7955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Dependent variable (log)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Flights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Seat-km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Aircraft size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Stage length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Intl. share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ln neighbour GACI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6E6E6E"/>
                          </a:solidFill>
                          <a:latin typeface="Calibri"/>
                        </a:rPr>
                        <a:t>2.730 (ns)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6.141***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B0413E"/>
                          </a:solidFill>
                          <a:latin typeface="Calibri"/>
                        </a:rPr>
                        <a:t>5.437***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B0413E"/>
                          </a:solidFill>
                          <a:latin typeface="Calibri"/>
                        </a:rPr>
                        <a:t>−2.026**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1.046***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(2.216)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(2.083)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(1.170)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(1.008)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(0.281)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915400" y="1719072"/>
            <a:ext cx="2724912" cy="37033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15400" y="1719072"/>
            <a:ext cx="91440" cy="370332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25712" y="178308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How to read it</a:t>
            </a:r>
          </a:p>
          <a:p>
            <a:pPr>
              <a:spcBef>
                <a:spcPts val="500"/>
              </a:spcBef>
            </a:pPr>
            <a:r>
              <a:rPr sz="1050" b="1" i="0">
                <a:solidFill>
                  <a:srgbClr val="E2A85A"/>
                </a:solidFill>
                <a:latin typeface="Calibri"/>
              </a:rPr>
              <a:t>Neighbour GACI</a:t>
            </a:r>
            <a:r>
              <a:rPr sz="1050" b="0" i="0">
                <a:solidFill>
                  <a:srgbClr val="BCC5DE"/>
                </a:solidFill>
                <a:latin typeface="Calibri"/>
              </a:rPr>
              <a:t>: distance-weighted average of all other countries' log hub quality.</a:t>
            </a:r>
          </a:p>
          <a:p>
            <a:pPr>
              <a:spcBef>
                <a:spcPts val="500"/>
              </a:spcBef>
            </a:pPr>
            <a:r>
              <a:rPr sz="1050" b="1" i="0">
                <a:solidFill>
                  <a:srgbClr val="E2A85A"/>
                </a:solidFill>
                <a:latin typeface="Calibri"/>
              </a:rPr>
              <a:t>Why reduced form for own</a:t>
            </a:r>
            <a:r>
              <a:rPr sz="1050" b="0" i="0">
                <a:solidFill>
                  <a:srgbClr val="BCC5DE"/>
                </a:solidFill>
                <a:latin typeface="Calibri"/>
              </a:rPr>
              <a:t>: own and neighbour shifters are collinear within country, so only one can be instrumented.</a:t>
            </a:r>
          </a:p>
          <a:p>
            <a:pPr>
              <a:spcBef>
                <a:spcPts val="500"/>
              </a:spcBef>
            </a:pPr>
            <a:r>
              <a:rPr sz="1050" b="1" i="0">
                <a:solidFill>
                  <a:srgbClr val="E2A85A"/>
                </a:solidFill>
                <a:latin typeface="Calibri"/>
              </a:rPr>
              <a:t>Result</a:t>
            </a:r>
            <a:r>
              <a:rPr sz="1050" b="0" i="0">
                <a:solidFill>
                  <a:srgbClr val="BCC5DE"/>
                </a:solidFill>
                <a:latin typeface="Calibri"/>
              </a:rPr>
              <a:t>: +1% in neighbours' hubs raises own CO2 by 7.5% and international CO2 by 10%, with no trade gain.</a:t>
            </a:r>
          </a:p>
          <a:p>
            <a:pPr>
              <a:spcBef>
                <a:spcPts val="500"/>
              </a:spcBef>
            </a:pPr>
            <a:r>
              <a:rPr sz="1050" b="1" i="0">
                <a:solidFill>
                  <a:srgbClr val="E2A85A"/>
                </a:solidFill>
                <a:latin typeface="Calibri"/>
              </a:rPr>
              <a:t>Margins</a:t>
            </a:r>
            <a:r>
              <a:rPr sz="1050" b="0" i="0">
                <a:solidFill>
                  <a:srgbClr val="BCC5DE"/>
                </a:solidFill>
                <a:latin typeface="Calibri"/>
              </a:rPr>
              <a:t>: not more flights, but bigger aircraft, shorter stages, more international share: feeding the foreign hub.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1389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Notes: country and year FE; controls log population and log sea market access; robust SE in parentheses. ***, **, *: 1, 5, 10% significance. ns = not significant.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5760720"/>
            <a:ext cx="9601200" cy="54864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232A55"/>
                </a:solidFill>
                <a:latin typeface="Calibri"/>
              </a:rPr>
              <a:t>Feeding foreign hubs: the CO2 lands at home, the trade gain does not.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59 / 70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88920"/>
            <a:ext cx="128016" cy="109728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E2A85A"/>
                </a:solidFill>
                <a:latin typeface="Verdana"/>
              </a:rPr>
              <a:t>06</a:t>
            </a:r>
          </a:p>
          <a:p>
            <a:r>
              <a:rPr sz="3200" b="1" i="0">
                <a:solidFill>
                  <a:srgbClr val="FFFFFF"/>
                </a:solidFill>
                <a:latin typeface="Verdana"/>
              </a:rPr>
              <a:t>The carbon bill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BCC5DE"/>
                </a:solidFill>
                <a:latin typeface="Calibri"/>
              </a:rPr>
              <a:t>Attribution, who pays, and the only real lever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286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0">
                <a:solidFill>
                  <a:srgbClr val="E2A85A"/>
                </a:solidFill>
                <a:latin typeface="Calibri"/>
              </a:rPr>
              <a:t>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60 / 70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T H E   C A R B O N   B I L 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356 Mt: the CO2 the connectivity boom built</a:t>
            </a:r>
          </a:p>
        </p:txBody>
      </p:sp>
      <p:pic>
        <p:nvPicPr>
          <p:cNvPr id="5" name="Picture 4" descr="CO2_map_attributed_2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645" y="1874519"/>
            <a:ext cx="9646678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925312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2023 aviation CO2 attributed to post-1996 connectivity growth: 356 Mt, 42.5% of the world total. White = zero.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61 / 70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T H E   C A R B O N   B I L 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price tag: the social cost of carbon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32A55"/>
                </a:solidFill>
                <a:latin typeface="Calibri"/>
              </a:rPr>
              <a:t>SCC = the present value of all future damage caused by one extra tonne of CO2.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77440"/>
            <a:ext cx="3108960" cy="1417320"/>
          </a:xfrm>
          <a:prstGeom prst="roundRect">
            <a:avLst>
              <a:gd name="adj" fmla="val 1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450" b="1" i="0">
                <a:solidFill>
                  <a:srgbClr val="232A55"/>
                </a:solidFill>
                <a:latin typeface="Calibri"/>
              </a:rPr>
              <a:t>🏭 1 tonne of CO2, emitted today</a:t>
            </a:r>
          </a:p>
          <a:p>
            <a:pPr algn="ctr"/>
            <a:r>
              <a:rPr sz="1150" b="0" i="0">
                <a:solidFill>
                  <a:srgbClr val="1E1E24"/>
                </a:solidFill>
                <a:latin typeface="Calibri"/>
              </a:rPr>
              <a:t>one flight's worth at a time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69080" y="2944368"/>
            <a:ext cx="502920" cy="310896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709160" y="2377440"/>
            <a:ext cx="3291840" cy="1417320"/>
          </a:xfrm>
          <a:prstGeom prst="roundRect">
            <a:avLst>
              <a:gd name="adj" fmla="val 10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450" b="1" i="0">
                <a:solidFill>
                  <a:srgbClr val="B0413E"/>
                </a:solidFill>
                <a:latin typeface="Calibri"/>
              </a:rPr>
              <a:t>🌡️ A century of damages</a:t>
            </a:r>
          </a:p>
          <a:p>
            <a:pPr algn="ctr"/>
            <a:r>
              <a:rPr sz="1150" b="0" i="0">
                <a:solidFill>
                  <a:srgbClr val="1E1E24"/>
                </a:solidFill>
                <a:latin typeface="Calibri"/>
              </a:rPr>
              <a:t>heat, crops, storms, sea level, health, productivity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183879" y="2944368"/>
            <a:ext cx="502920" cy="310896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823960" y="2377440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E6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450" b="1" i="0">
                <a:solidFill>
                  <a:srgbClr val="2E7D5B"/>
                </a:solidFill>
                <a:latin typeface="Calibri"/>
              </a:rPr>
              <a:t>💵 Discounted back to today</a:t>
            </a:r>
          </a:p>
          <a:p>
            <a:pPr algn="ctr"/>
            <a:r>
              <a:rPr sz="1150" b="0" i="0">
                <a:solidFill>
                  <a:srgbClr val="1E1E24"/>
                </a:solidFill>
                <a:latin typeface="Calibri"/>
              </a:rPr>
              <a:t>= one price per tonne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32A55"/>
                </a:solidFill>
                <a:latin typeface="Calibri"/>
              </a:rPr>
              <a:t>Three standard price tags (2020 USD per tonne):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434840"/>
            <a:ext cx="3383280" cy="118872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400" b="1" i="0">
                <a:solidFill>
                  <a:srgbClr val="232A55"/>
                </a:solidFill>
                <a:latin typeface="Verdana"/>
              </a:rPr>
              <a:t>$51  </a:t>
            </a:r>
            <a:r>
              <a:rPr sz="1200" b="0" i="0">
                <a:solidFill>
                  <a:srgbClr val="1E1E24"/>
                </a:solidFill>
                <a:latin typeface="Calibri"/>
              </a:rPr>
              <a:t>per tonne</a:t>
            </a:r>
          </a:p>
          <a:p>
            <a:pPr algn="ctr"/>
            <a:r>
              <a:rPr sz="1100" b="0" i="0">
                <a:solidFill>
                  <a:srgbClr val="1E1E24"/>
                </a:solidFill>
                <a:latin typeface="Calibri"/>
              </a:rPr>
              <a:t>US Interagency Working Group (2021) · 3% discount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4434840"/>
            <a:ext cx="3383280" cy="1188720"/>
          </a:xfrm>
          <a:prstGeom prst="roundRect">
            <a:avLst>
              <a:gd name="adj" fmla="val 12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400" b="1" i="0">
                <a:solidFill>
                  <a:srgbClr val="232A55"/>
                </a:solidFill>
                <a:latin typeface="Verdana"/>
              </a:rPr>
              <a:t>$185  </a:t>
            </a:r>
            <a:r>
              <a:rPr sz="1200" b="0" i="0">
                <a:solidFill>
                  <a:srgbClr val="1E1E24"/>
                </a:solidFill>
                <a:latin typeface="Calibri"/>
              </a:rPr>
              <a:t>per tonne</a:t>
            </a:r>
          </a:p>
          <a:p>
            <a:pPr algn="ctr"/>
            <a:r>
              <a:rPr sz="1100" b="0" i="0">
                <a:solidFill>
                  <a:srgbClr val="1E1E24"/>
                </a:solidFill>
                <a:latin typeface="Calibri"/>
              </a:rPr>
              <a:t>Rennert et al. (2022, Nature) · 2% near-term discount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4434840"/>
            <a:ext cx="3383280" cy="1188720"/>
          </a:xfrm>
          <a:prstGeom prst="roundRect">
            <a:avLst>
              <a:gd name="adj" fmla="val 12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400" b="1" i="0">
                <a:solidFill>
                  <a:srgbClr val="B0413E"/>
                </a:solidFill>
                <a:latin typeface="Verdana"/>
              </a:rPr>
              <a:t>$190  </a:t>
            </a:r>
            <a:r>
              <a:rPr sz="1200" b="0" i="0">
                <a:solidFill>
                  <a:srgbClr val="1E1E24"/>
                </a:solidFill>
                <a:latin typeface="Calibri"/>
              </a:rPr>
              <a:t>per tonne</a:t>
            </a:r>
          </a:p>
          <a:p>
            <a:pPr algn="ctr"/>
            <a:r>
              <a:rPr sz="1100" b="0" i="0">
                <a:solidFill>
                  <a:srgbClr val="1E1E24"/>
                </a:solidFill>
                <a:latin typeface="Calibri"/>
              </a:rPr>
              <a:t>US EPA (2023) central value · 2% Ramsey discounting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692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6E6E6E"/>
                </a:solidFill>
                <a:latin typeface="Calibri"/>
              </a:rPr>
              <a:t>The gap is mostly the discount rate, not the climate science: how much do we care about damages 50 years out?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6053328"/>
            <a:ext cx="9601200" cy="54864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Attach this price tag to our 356 Mt: an $18–68 billion bill, recurring every year the traffic persists.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62 / 70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T H E   C A R B O N   B I L 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Who owes what: the country bill, priced 💸</a:t>
            </a:r>
          </a:p>
        </p:txBody>
      </p:sp>
      <p:pic>
        <p:nvPicPr>
          <p:cNvPr id="5" name="Picture 4" descr="CO2_attribution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5521877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874519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232A55"/>
                </a:solidFill>
                <a:latin typeface="Calibri"/>
              </a:rPr>
              <a:t>China  </a:t>
            </a:r>
            <a:r>
              <a:rPr sz="1500" b="0" i="0">
                <a:solidFill>
                  <a:srgbClr val="B0413E"/>
                </a:solidFill>
                <a:latin typeface="Calibri"/>
              </a:rPr>
              <a:t>+88 Mt  ·  $16.7 bn/yr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32A55"/>
                </a:solidFill>
                <a:latin typeface="Calibri"/>
              </a:rPr>
              <a:t>United States  </a:t>
            </a:r>
            <a:r>
              <a:rPr sz="1500" b="0" i="0">
                <a:solidFill>
                  <a:srgbClr val="B0413E"/>
                </a:solidFill>
                <a:latin typeface="Calibri"/>
              </a:rPr>
              <a:t>+36 Mt  ·  $6.9 bn/yr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32A55"/>
                </a:solidFill>
                <a:latin typeface="Calibri"/>
              </a:rPr>
              <a:t>UAE  </a:t>
            </a:r>
            <a:r>
              <a:rPr sz="1500" b="0" i="0">
                <a:solidFill>
                  <a:srgbClr val="B0413E"/>
                </a:solidFill>
                <a:latin typeface="Calibri"/>
              </a:rPr>
              <a:t>+25 Mt  ·  $4.7 bn/yr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32A55"/>
                </a:solidFill>
                <a:latin typeface="Calibri"/>
              </a:rPr>
              <a:t>Japan / Turkey  </a:t>
            </a:r>
            <a:r>
              <a:rPr sz="1500" b="0" i="0">
                <a:solidFill>
                  <a:srgbClr val="B0413E"/>
                </a:solidFill>
                <a:latin typeface="Calibri"/>
              </a:rPr>
              <a:t>+17 Mt each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32A55"/>
                </a:solidFill>
                <a:latin typeface="Calibri"/>
              </a:rPr>
              <a:t>Korea  </a:t>
            </a:r>
            <a:r>
              <a:rPr sz="1500" b="0" i="0">
                <a:solidFill>
                  <a:srgbClr val="B0413E"/>
                </a:solidFill>
                <a:latin typeface="Calibri"/>
              </a:rPr>
              <a:t>+14 Mt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32A55"/>
                </a:solidFill>
                <a:latin typeface="Calibri"/>
              </a:rPr>
              <a:t>Germany  </a:t>
            </a:r>
            <a:r>
              <a:rPr sz="1500" b="0" i="0">
                <a:solidFill>
                  <a:srgbClr val="2E7D5B"/>
                </a:solidFill>
                <a:latin typeface="Calibri"/>
              </a:rPr>
              <a:t>−16 Mt  ·  −$3.0 bn/yr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6E6E6E"/>
                </a:solidFill>
                <a:latin typeface="Calibri"/>
              </a:rPr>
              <a:t>World: $18.2 / 65.9 / 67.7 bn per year at SCC $51 / $185 / $190.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5989320"/>
            <a:ext cx="9601200" cy="566928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232A55"/>
                </a:solidFill>
                <a:latin typeface="Calibri"/>
              </a:rPr>
              <a:t>A climate bill in the tens of billions of dollars, recurring annually while the traffic persists.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63 / 70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T H E   C A R B O N   B I L 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Generated here, booked there</a:t>
            </a:r>
          </a:p>
        </p:txBody>
      </p:sp>
      <p:pic>
        <p:nvPicPr>
          <p:cNvPr id="5" name="Picture 4" descr="CO2_map_mismatch_2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746" y="1737360"/>
            <a:ext cx="8556477" cy="3520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3949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Bunker-attributed share minus physical LTO share, 2023: +1.4 pp for the US and the UAE, −3.5 pp for China. Positive at every international mega-hub.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5989320"/>
            <a:ext cx="9601200" cy="566928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Any scheme that allocates responsibility by booked emissions, CORSIA included, embeds a transfer across these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64 / 70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T H E   C A R B O N   B I L 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only lever that moves the level: change the fuel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40096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World aviation CO2 along the ReFuelEU blending path, 2023 traffic held fixed: 838 Mt → 704–754 Mt at the 2035 mandate → 369–545 Mt at the 2050 mandate. Green line: the 2023 level minus the 356 Mt attributed to post-1996 connectivity growth (elasticity 5.67).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6053328"/>
            <a:ext cx="9601200" cy="54864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The full 2050 path (≥65% life-cycle saving) offsets about as much CO2 as the past generation of connectivity growth created.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65 / 70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  <p:pic>
        <p:nvPicPr>
          <p:cNvPr id="14" name="Picture 13" descr="CO2_saf_le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5742432" cy="34747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812280" y="1783080"/>
            <a:ext cx="4709160" cy="1865376"/>
          </a:xfrm>
          <a:prstGeom prst="roundRect">
            <a:avLst>
              <a:gd name="adj" fmla="val 8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64592" bIns="73152" rtlCol="0" anchor="t"/>
          <a:lstStyle/>
          <a:p>
            <a:pPr algn="ctr"/>
            <a:r>
              <a:rPr sz="1100" b="1" i="0">
                <a:solidFill>
                  <a:srgbClr val="232A55"/>
                </a:solidFill>
                <a:latin typeface="Calibri"/>
              </a:rPr>
              <a:t>HOW THE SCENARIO IS COMPUTED</a:t>
            </a:r>
          </a:p>
          <a:p>
            <a:pPr>
              <a:spcBef>
                <a:spcPts val="300"/>
              </a:spcBef>
              <a:spcAft>
                <a:spcPts val="400"/>
              </a:spcAft>
            </a:pPr>
            <a:r>
              <a:rPr sz="1600" b="1" i="0">
                <a:solidFill>
                  <a:srgbClr val="1E1E24"/>
                </a:solidFill>
                <a:latin typeface="Cambria"/>
              </a:rPr>
              <a:t>E(s, r)  =  838 Mt  ×  [ 1 − s × r ]</a:t>
            </a:r>
          </a:p>
          <a:p>
            <a:pPr>
              <a:spcAft>
                <a:spcPts val="200"/>
              </a:spcAft>
            </a:pPr>
            <a:r>
              <a:rPr sz="1050" b="1" i="0">
                <a:solidFill>
                  <a:srgbClr val="232A55"/>
                </a:solidFill>
                <a:latin typeface="Calibri"/>
              </a:rPr>
              <a:t>838 Mt</a:t>
            </a:r>
            <a:r>
              <a:rPr sz="1050" b="0" i="0">
                <a:solidFill>
                  <a:srgbClr val="1E1E24"/>
                </a:solidFill>
                <a:latin typeface="Calibri"/>
              </a:rPr>
              <a:t> = world aviation CO2 in 2023 (bunker convention); 2023 scheduled traffic held fixed, fuel backed out at 3.15 kg CO2 per kg Jet A.</a:t>
            </a:r>
          </a:p>
          <a:p>
            <a:pPr>
              <a:spcAft>
                <a:spcPts val="200"/>
              </a:spcAft>
            </a:pPr>
            <a:r>
              <a:rPr sz="1050" b="1" i="0">
                <a:solidFill>
                  <a:srgbClr val="232A55"/>
                </a:solidFill>
                <a:latin typeface="Calibri"/>
              </a:rPr>
              <a:t>s</a:t>
            </a:r>
            <a:r>
              <a:rPr sz="1050" b="0" i="0">
                <a:solidFill>
                  <a:srgbClr val="1E1E24"/>
                </a:solidFill>
                <a:latin typeface="Calibri"/>
              </a:rPr>
              <a:t> = SAF blend share on the ReFuelEU path: 2% (2025), 6% (2030), 20% (2035), 34% (2040), 42% (2045), 70% (2050).</a:t>
            </a:r>
          </a:p>
          <a:p>
            <a:pPr>
              <a:spcAft>
                <a:spcPts val="200"/>
              </a:spcAft>
            </a:pPr>
            <a:r>
              <a:rPr sz="1050" b="1" i="0">
                <a:solidFill>
                  <a:srgbClr val="232A55"/>
                </a:solidFill>
                <a:latin typeface="Calibri"/>
              </a:rPr>
              <a:t>r</a:t>
            </a:r>
            <a:r>
              <a:rPr sz="1050" b="0" i="0">
                <a:solidFill>
                  <a:srgbClr val="1E1E24"/>
                </a:solidFill>
                <a:latin typeface="Calibri"/>
              </a:rPr>
              <a:t> = life-cycle CO2 saving of SAF vs fossil Jet A: 50 / 65 / 80% (literature range).</a:t>
            </a:r>
          </a:p>
          <a:p>
            <a:pPr>
              <a:spcAft>
                <a:spcPts val="200"/>
              </a:spcAft>
            </a:pPr>
            <a:r>
              <a:rPr sz="1050" b="1" i="0">
                <a:solidFill>
                  <a:srgbClr val="232A55"/>
                </a:solidFill>
                <a:latin typeface="Calibri"/>
              </a:rPr>
              <a:t>g per $</a:t>
            </a:r>
            <a:r>
              <a:rPr sz="1050" b="0" i="0">
                <a:solidFill>
                  <a:srgbClr val="1E1E24"/>
                </a:solidFill>
                <a:latin typeface="Calibri"/>
              </a:rPr>
              <a:t> = E(s, r) ÷ attributed trade ($7.8 tn): 21 g/$ in 2023, 9–14 g/$ on the 2050 path.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812280" y="3721608"/>
          <a:ext cx="4709160" cy="1408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Mt CO2 per year</a:t>
                      </a:r>
                    </a:p>
                  </a:txBody>
                  <a:tcPr marL="54864" marR="54864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SAF blend</a:t>
                      </a:r>
                    </a:p>
                  </a:txBody>
                  <a:tcPr marL="54864" marR="54864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r = 50%</a:t>
                      </a:r>
                    </a:p>
                  </a:txBody>
                  <a:tcPr marL="54864" marR="54864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r = 65%</a:t>
                      </a:r>
                    </a:p>
                  </a:txBody>
                  <a:tcPr marL="54864" marR="54864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r = 80%</a:t>
                      </a:r>
                    </a:p>
                  </a:txBody>
                  <a:tcPr marL="54864" marR="54864" marT="0" marB="0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1E24"/>
                          </a:solidFill>
                          <a:latin typeface="Calibri"/>
                        </a:rPr>
                        <a:t>2023 actual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24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24"/>
                          </a:solidFill>
                          <a:latin typeface="Calibri"/>
                        </a:rPr>
                        <a:t>838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24"/>
                          </a:solidFill>
                          <a:latin typeface="Calibri"/>
                        </a:rPr>
                        <a:t>838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24"/>
                          </a:solidFill>
                          <a:latin typeface="Calibri"/>
                        </a:rPr>
                        <a:t>838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1E24"/>
                          </a:solidFill>
                          <a:latin typeface="Calibri"/>
                        </a:rPr>
                        <a:t>2035 mandate</a:t>
                      </a:r>
                    </a:p>
                  </a:txBody>
                  <a:tcPr marL="54864" marR="54864" marT="0" marB="0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24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54864" marR="54864" marT="0" marB="0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24"/>
                          </a:solidFill>
                          <a:latin typeface="Calibri"/>
                        </a:rPr>
                        <a:t>754</a:t>
                      </a:r>
                    </a:p>
                  </a:txBody>
                  <a:tcPr marL="54864" marR="54864" marT="0" marB="0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24"/>
                          </a:solidFill>
                          <a:latin typeface="Calibri"/>
                        </a:rPr>
                        <a:t>729</a:t>
                      </a:r>
                    </a:p>
                  </a:txBody>
                  <a:tcPr marL="54864" marR="54864" marT="0" marB="0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24"/>
                          </a:solidFill>
                          <a:latin typeface="Calibri"/>
                        </a:rPr>
                        <a:t>704</a:t>
                      </a:r>
                    </a:p>
                  </a:txBody>
                  <a:tcPr marL="54864" marR="54864" marT="0" marB="0" anchor="ctr">
                    <a:solidFill>
                      <a:srgbClr val="E9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1E24"/>
                          </a:solidFill>
                          <a:latin typeface="Calibri"/>
                        </a:rPr>
                        <a:t>2050 mandate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24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24"/>
                          </a:solidFill>
                          <a:latin typeface="Calibri"/>
                        </a:rPr>
                        <a:t>545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24"/>
                          </a:solidFill>
                          <a:latin typeface="Calibri"/>
                        </a:rPr>
                        <a:t>457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24"/>
                          </a:solidFill>
                          <a:latin typeface="Calibri"/>
                        </a:rPr>
                        <a:t>369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1E24"/>
                          </a:solidFill>
                          <a:latin typeface="Calibri"/>
                        </a:rPr>
                        <a:t>CO2 saved in 2050</a:t>
                      </a:r>
                    </a:p>
                  </a:txBody>
                  <a:tcPr marL="54864" marR="54864" marT="0" marB="0" anchor="ctr"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864" marR="54864" marT="0" marB="0" anchor="ctr"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E7D5B"/>
                          </a:solidFill>
                          <a:latin typeface="Calibri"/>
                        </a:rPr>
                        <a:t>293 Mt</a:t>
                      </a:r>
                    </a:p>
                  </a:txBody>
                  <a:tcPr marL="54864" marR="54864" marT="0" marB="0" anchor="ctr"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E7D5B"/>
                          </a:solidFill>
                          <a:latin typeface="Calibri"/>
                        </a:rPr>
                        <a:t>381 Mt</a:t>
                      </a:r>
                    </a:p>
                  </a:txBody>
                  <a:tcPr marL="54864" marR="54864" marT="0" marB="0" anchor="ctr"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E7D5B"/>
                          </a:solidFill>
                          <a:latin typeface="Calibri"/>
                        </a:rPr>
                        <a:t>469 Mt</a:t>
                      </a:r>
                    </a:p>
                  </a:txBody>
                  <a:tcPr marL="54864" marR="54864" marT="0" marB="0" anchor="ctr">
                    <a:solidFill>
                      <a:srgbClr val="E6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1E24"/>
                          </a:solidFill>
                          <a:latin typeface="Calibri"/>
                        </a:rPr>
                        <a:t>… as % of the 356 Mt</a:t>
                      </a:r>
                    </a:p>
                  </a:txBody>
                  <a:tcPr marL="54864" marR="54864" marT="0" marB="0" anchor="ctr"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864" marR="54864" marT="0" marB="0" anchor="ctr"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E7D5B"/>
                          </a:solidFill>
                          <a:latin typeface="Calibri"/>
                        </a:rPr>
                        <a:t>82%</a:t>
                      </a:r>
                    </a:p>
                  </a:txBody>
                  <a:tcPr marL="54864" marR="54864" marT="0" marB="0" anchor="ctr"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E7D5B"/>
                          </a:solidFill>
                          <a:latin typeface="Calibri"/>
                        </a:rPr>
                        <a:t>107%</a:t>
                      </a:r>
                    </a:p>
                  </a:txBody>
                  <a:tcPr marL="54864" marR="54864" marT="0" marB="0" anchor="ctr"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E7D5B"/>
                          </a:solidFill>
                          <a:latin typeface="Calibri"/>
                        </a:rPr>
                        <a:t>132%</a:t>
                      </a:r>
                    </a:p>
                  </a:txBody>
                  <a:tcPr marL="54864" marR="54864" marT="0" marB="0" anchor="ctr">
                    <a:solidFill>
                      <a:srgbClr val="E6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88920"/>
            <a:ext cx="128016" cy="109728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E2A85A"/>
                </a:solidFill>
                <a:latin typeface="Verdana"/>
              </a:rPr>
              <a:t>07</a:t>
            </a:r>
          </a:p>
          <a:p>
            <a:r>
              <a:rPr sz="3200" b="1" i="0">
                <a:solidFill>
                  <a:srgbClr val="FFFFFF"/>
                </a:solidFill>
                <a:latin typeface="Verdana"/>
              </a:rPr>
              <a:t>Conclusion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BCC5DE"/>
                </a:solidFill>
                <a:latin typeface="Calibri"/>
              </a:rPr>
              <a:t>Three myths, three implications, one bill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286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0">
                <a:solidFill>
                  <a:srgbClr val="E2A85A"/>
                </a:solidFill>
                <a:latin typeface="Calibri"/>
              </a:rPr>
              <a:t>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66 / 70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C O N C L U S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Three comfortable myths, audited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6E6E6E"/>
                </a:solidFill>
                <a:latin typeface="Calibri"/>
              </a:rPr>
              <a:t>MYTH 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783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B0413E"/>
                </a:solidFill>
                <a:latin typeface="Calibri"/>
              </a:rPr>
              <a:t>WHAT THE DATA SAY 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40280"/>
            <a:ext cx="5303520" cy="1005840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/>
            <a:r>
              <a:rPr sz="1400" b="0" i="1">
                <a:solidFill>
                  <a:srgbClr val="6E6E6E"/>
                </a:solidFill>
                <a:latin typeface="Calibri"/>
              </a:rPr>
              <a:t>“Hub efficiency will absorb the traffic growth.”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144768" y="2624328"/>
            <a:ext cx="320040" cy="237744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37960" y="2240280"/>
            <a:ext cx="4892040" cy="1005840"/>
          </a:xfrm>
          <a:prstGeom prst="roundRect">
            <a:avLst>
              <a:gd name="adj" fmla="val 12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/>
            <a:r>
              <a:rPr sz="1400" b="1" i="0">
                <a:solidFill>
                  <a:srgbClr val="B0413E"/>
                </a:solidFill>
                <a:latin typeface="Calibri"/>
              </a:rPr>
              <a:t>It offsets less than one tenth of the scale response.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429000"/>
            <a:ext cx="5303520" cy="1005840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/>
            <a:r>
              <a:rPr sz="1400" b="0" i="1">
                <a:solidFill>
                  <a:srgbClr val="6E6E6E"/>
                </a:solidFill>
                <a:latin typeface="Calibri"/>
              </a:rPr>
              <a:t>“Emissions are booked where they are generated.”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144768" y="3813048"/>
            <a:ext cx="320040" cy="237744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37960" y="3429000"/>
            <a:ext cx="4892040" cy="1005840"/>
          </a:xfrm>
          <a:prstGeom prst="roundRect">
            <a:avLst>
              <a:gd name="adj" fmla="val 12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/>
            <a:r>
              <a:rPr sz="1400" b="1" i="0">
                <a:solidFill>
                  <a:srgbClr val="B0413E"/>
                </a:solidFill>
                <a:latin typeface="Calibri"/>
              </a:rPr>
              <a:t>Hub accounting shifts up to 3.5 pp of world emissions across borders.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617720"/>
            <a:ext cx="5303520" cy="1005840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/>
            <a:r>
              <a:rPr sz="1400" b="0" i="1">
                <a:solidFill>
                  <a:srgbClr val="6E6E6E"/>
                </a:solidFill>
                <a:latin typeface="Calibri"/>
              </a:rPr>
              <a:t>“Your emissions depend on your own network.”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144768" y="5001768"/>
            <a:ext cx="320040" cy="237744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37960" y="4617720"/>
            <a:ext cx="4892040" cy="1005840"/>
          </a:xfrm>
          <a:prstGeom prst="roundRect">
            <a:avLst>
              <a:gd name="adj" fmla="val 12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/>
            <a:r>
              <a:rPr sz="1400" b="1" i="0">
                <a:solidFill>
                  <a:srgbClr val="B0413E"/>
                </a:solidFill>
                <a:latin typeface="Calibri"/>
              </a:rPr>
              <a:t>+1% in neighbours' connectivity raises your CO2 by 7.5%.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5760720"/>
            <a:ext cx="9601200" cy="64008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Connectivity policy needs a carbon line in its cost-benefit table. Here is the number to put there.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67 / 70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C O N C L U S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Summary and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E1E24"/>
                </a:solidFill>
                <a:latin typeface="Calibri"/>
              </a:rPr>
              <a:t>•  New data: flight-stage CO2 for 6,000+ airports, 1996–2023, valid under any allocation rule.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E1E24"/>
                </a:solidFill>
                <a:latin typeface="Calibri"/>
              </a:rPr>
              <a:t>•  New estimate: the connectivity-emissions elasticity is 5.67, far above one, concentrated in newly connecting countries, spilling across borders.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E1E24"/>
                </a:solidFill>
                <a:latin typeface="Calibri"/>
              </a:rPr>
              <a:t>•  The bill: 42.5% of 2023 aviation CO2 (356 Mt, $18–68 bn per year) traces to the post-1996 connectivity boom.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E1E24"/>
                </a:solidFill>
                <a:latin typeface="Calibri"/>
              </a:rPr>
              <a:t>•  Policy: evaluate connectivity investments jointly with fuel and demand-side instruments; efficiency gains are not a decarbonisation strategy, and booked-emissions schemes embed cross-border transfers.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760720"/>
            <a:ext cx="9601200" cy="64008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Connect if it pays, but put the carbon in the ledger, and bring the fuel.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68 / 70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C O N C L U S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Points to discuss (a.k.a. our limitations)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E1E24"/>
                </a:solidFill>
                <a:latin typeface="Calibri"/>
              </a:rPr>
              <a:t>•  Schedule-based emissions: carbon content of scheduled capacity, not of realised load factors.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E1E24"/>
                </a:solidFill>
                <a:latin typeface="Calibri"/>
              </a:rPr>
              <a:t>•  The instrument is strongest in the expansion era; the late period is identified only excluding COVID years.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E1E24"/>
                </a:solidFill>
                <a:latin typeface="Calibri"/>
              </a:rPr>
              <a:t>•  Airport-level results are descriptive: no valid airport-level instrument survived our checks.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E1E24"/>
                </a:solidFill>
                <a:latin typeface="Calibri"/>
              </a:rPr>
              <a:t>•  Attribution and SAF scenarios are partial-equilibrium accounting; non-CO2 climate effects (contrails, NOx) are out of scope.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E1E24"/>
                </a:solidFill>
                <a:latin typeface="Calibri"/>
              </a:rPr>
              <a:t>•  Where next: load factors? Airline-level behaviour? Non-CO2 forcing? Your ideas welcome.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69 / 70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377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Verdana"/>
              </a:rPr>
              <a:t>Thank you  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661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BCC5DE"/>
                </a:solidFill>
                <a:latin typeface="Calibri"/>
              </a:rPr>
              <a:t>How Much Does Air Connectivity Increase Aviation CO2?</a:t>
            </a:r>
          </a:p>
          <a:p>
            <a:r>
              <a:rPr sz="1500" b="0" i="0">
                <a:solidFill>
                  <a:srgbClr val="E2A85A"/>
                </a:solidFill>
                <a:latin typeface="Calibri"/>
              </a:rPr>
              <a:t>+1% connectivity → +5.7% CO2  ·  356 Mt since 1996  ·  only fuel switching bends the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70 / 70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8297</Words>
  <Application>Microsoft Office PowerPoint</Application>
  <PresentationFormat>Widescreen</PresentationFormat>
  <Paragraphs>1569</Paragraphs>
  <Slides>70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6" baseType="lpstr">
      <vt:lpstr>맑은 고딕</vt:lpstr>
      <vt:lpstr>Arial</vt:lpstr>
      <vt:lpstr>Calibri</vt:lpstr>
      <vt:lpstr>Cambria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YOO SUNBIN</cp:lastModifiedBy>
  <cp:revision>12</cp:revision>
  <dcterms:created xsi:type="dcterms:W3CDTF">2013-01-27T09:14:16Z</dcterms:created>
  <dcterms:modified xsi:type="dcterms:W3CDTF">2026-09-03T01:49:08Z</dcterms:modified>
  <cp:category/>
</cp:coreProperties>
</file>