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319" r:id="rId3"/>
    <p:sldId id="318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1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9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783E8-1144-4A5C-9761-9512C037E7D2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A1408-0742-48C9-A9B4-B6DB139E6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61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4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CC5DE"/>
                </a:solidFill>
                <a:latin typeface="Calibri"/>
              </a:rPr>
              <a:t>Research Seminar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1371600" cy="457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Verdana"/>
              </a:rPr>
              <a:t>How Much Does Air Connectivity</a:t>
            </a:r>
          </a:p>
          <a:p>
            <a:r>
              <a:rPr sz="3300" b="1" i="0">
                <a:solidFill>
                  <a:srgbClr val="FFFFFF"/>
                </a:solidFill>
                <a:latin typeface="Verdana"/>
              </a:rPr>
              <a:t>Increase Aviation CO2?  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CC5DE"/>
                </a:solidFill>
                <a:latin typeface="Calibri"/>
              </a:rPr>
              <a:t>Transportation and Energy Economics</a:t>
            </a:r>
            <a:endParaRPr sz="1800" b="0" i="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648" y="4160520"/>
            <a:ext cx="10515600" cy="18288"/>
          </a:xfrm>
          <a:prstGeom prst="rect">
            <a:avLst/>
          </a:prstGeom>
          <a:solidFill>
            <a:srgbClr val="444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Sunbin YOO (SKKU), Junya KUMAGAI (Fukuoka Univ.),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Longfei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ZHENG (Tsinghua Univ), I-Yun Hsieh (</a:t>
            </a:r>
            <a:r>
              <a:rPr lang="en-US" sz="1300" b="0" i="0">
                <a:solidFill>
                  <a:srgbClr val="BCC5DE"/>
                </a:solidFill>
                <a:latin typeface="Calibri"/>
              </a:rPr>
              <a:t>National Taiwan Univ), </a:t>
            </a:r>
            <a:endParaRPr lang="en-US" sz="1300" b="0" i="0" dirty="0">
              <a:solidFill>
                <a:srgbClr val="BCC5DE"/>
              </a:solidFill>
              <a:latin typeface="Calibri"/>
            </a:endParaRPr>
          </a:p>
          <a:p>
            <a:r>
              <a:rPr lang="en-US" sz="1300" dirty="0">
                <a:solidFill>
                  <a:srgbClr val="BCC5DE"/>
                </a:solidFill>
                <a:latin typeface="Calibri"/>
              </a:rPr>
              <a:t>Jinwoo LEE (KAIST), 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and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Anming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Zhang (University of British Columbia)</a:t>
            </a:r>
            <a:endParaRPr lang="en-US" sz="130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 / 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Introduction 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484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Sunbin YOO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유선빈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Sungkyunkwan University (SKKU)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873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Kyushu University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(Faculty of Engineering)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Tokyo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23036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Transportation economics
•  Urban &amp; regional development
•  Environmental economics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7040880" cy="4526280"/>
          </a:xfrm>
          <a:prstGeom prst="rect">
            <a:avLst/>
          </a:prstGeom>
          <a:solidFill>
            <a:srgbClr val="EEF2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9339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48656" y="2331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Rail networks, regional inequality &amp; post-disaster recovery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48656" y="2670048"/>
            <a:ext cx="640080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2715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2715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HSR, expressways &amp; post-GEJE revitalization  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Transportation Research A ,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48656" y="299008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2990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Decarbonization and HSR –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Economics, 2026 (Top 0.2% Journal)</a:t>
            </a:r>
            <a:endParaRPr lang="en-US" sz="1050" i="1" dirty="0"/>
          </a:p>
        </p:txBody>
      </p:sp>
      <p:sp>
        <p:nvSpPr>
          <p:cNvPr id="27" name="Text 25"/>
          <p:cNvSpPr/>
          <p:nvPr/>
        </p:nvSpPr>
        <p:spPr>
          <a:xfrm>
            <a:off x="5248656" y="326440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26440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Double-edged trains: HSR &amp; regional disparity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Transport Policy · 2023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611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361188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ESG, sustainability &amp; financial performance under crises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48656" y="3950208"/>
            <a:ext cx="640080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48656" y="399592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399592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or Action: ESG behavior &amp; financial performance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Finance Research Letters · 2021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48656" y="427024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427024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performance during financial crises (COVID-19)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Energy Policy · 2021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4617720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4617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 &amp; environmental policy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48656" y="4956048"/>
            <a:ext cx="6400800" cy="182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5001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76672" y="5001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Policy Abandonment and Consumer Behavior-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Economics. 2020</a:t>
            </a:r>
            <a:endParaRPr lang="en-US" sz="1050" i="1" dirty="0"/>
          </a:p>
        </p:txBody>
      </p:sp>
      <p:sp>
        <p:nvSpPr>
          <p:cNvPr id="43" name="Text 41"/>
          <p:cNvSpPr/>
          <p:nvPr/>
        </p:nvSpPr>
        <p:spPr>
          <a:xfrm>
            <a:off x="5248656" y="527608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76672" y="5276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mortality benefits of COVID-19 action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Tech. Forecasting &amp; Social Change · 2020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5486400"/>
            <a:ext cx="329184" cy="329184"/>
          </a:xfrm>
          <a:prstGeom prst="ellipse">
            <a:avLst/>
          </a:prstGeom>
          <a:solidFill>
            <a:srgbClr val="C9842B"/>
          </a:solidFill>
          <a:ln w="12700">
            <a:solidFill>
              <a:srgbClr val="C984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5486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48656" y="54864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Micro-mobility, AVs &amp; freight innovation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48656" y="5824728"/>
            <a:ext cx="6400800" cy="18288"/>
          </a:xfrm>
          <a:prstGeom prst="rect">
            <a:avLst/>
          </a:prstGeom>
          <a:solidFill>
            <a:srgbClr val="C9842B"/>
          </a:solidFill>
          <a:ln w="12700">
            <a:solidFill>
              <a:srgbClr val="C984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48656" y="587044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76672" y="587044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vs truck: choice &amp; WTP for last-mile delivery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altLang="ko-KR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Research E, 2026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48656" y="6144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76672" y="6144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Dilemma of Autonomous Vehicle –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Research Part A ,2023 </a:t>
            </a:r>
            <a:endParaRPr lang="en-US" sz="1050" i="1" dirty="0"/>
          </a:p>
        </p:txBody>
      </p:sp>
      <p:sp>
        <p:nvSpPr>
          <p:cNvPr id="53" name="Text 5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6565392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72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Sunbin Yoo  ·  KAIST Seminar  ·  2026</a:t>
            </a:r>
            <a:endParaRPr lang="en-US" sz="10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FB6C1D5-A8A6-4C8D-AC06-C0D715B9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116" y="171677"/>
            <a:ext cx="2348204" cy="1706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1E1E24"/>
                </a:solidFill>
                <a:latin typeface="Verdana"/>
              </a:rPr>
              <a:t>교통경제란 무엇인가</a:t>
            </a:r>
            <a:endParaRPr sz="2800" b="1" i="0" dirty="0">
              <a:solidFill>
                <a:srgbClr val="1E1E24"/>
              </a:solidFill>
              <a:latin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</a:t>
            </a:r>
            <a:r>
              <a:rPr lang="ko-KR" altLang="en-US" sz="1800" b="0" i="0" dirty="0">
                <a:solidFill>
                  <a:srgbClr val="1E1E24"/>
                </a:solidFill>
                <a:latin typeface="Calibri"/>
              </a:rPr>
              <a:t>사람들이 움직이는 것에 대한 경제학</a:t>
            </a:r>
            <a:endParaRPr lang="en-US" altLang="ko-KR" sz="1800" b="0" i="0" dirty="0">
              <a:solidFill>
                <a:srgbClr val="1E1E24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Core questions: which roads, rails, and airports are worth building; how to price them (congestion charges, fares, fuel taxes); and what they cost society beyond the ticket (congestion, accidents, noise, emissions).</a:t>
            </a:r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Its central insight: transport is a DERIVED demand. Nobody flies for the pleasure of sitting in seat 43E; people buy access, and access shapes trade, jobs, and where activity locates.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1E24"/>
                </a:solidFill>
                <a:latin typeface="Calibri"/>
              </a:rPr>
              <a:t>🚗   🚌   🚄   ✈️   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Transport economics asks what a connection is worth, and who pays its full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  <p:extLst>
      <p:ext uri="{BB962C8B-B14F-4D97-AF65-F5344CB8AC3E}">
        <p14:creationId xmlns:p14="http://schemas.microsoft.com/office/powerpoint/2010/main" val="413716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transportation &amp; energy economics?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The intersection of the two fields: transport runs almost entirely on energy, and mostly on oil.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studies how transport choices and infrastructure drive energy use and emissions, and how to decarbonise mobility (fuel taxes, EVs, SAF, modal shift) without losing the access benefits.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🌍 Transport ≈ 1/4 of global energy-related CO2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✈️ Aviation ≈ 2–3% of global CO2, and growing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🔋 And aviation has no near-term electrification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Today's talk sits exactly at this intersection: a network investment (connectivity) meets an energy outcome (jet fuel burned).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 / 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this paper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compute CO2 for every scheduled flight in the world, stage by stage, for 6,000+ airports over 1996–2023.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then ask a causal question: when a country becomes better connected by air, how much does its aviation CO2 rise?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answer is: much more than proportionally. A 1% gain in connectivity raises national aviation CO2 by 5.7%.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finish with the bill: who owes it, where it is booked, and what (only fuel switching) can shrink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 data contribution (the emissions panel) and a causal contribution (the elasticity).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One index, two ledgers: the benefit and the 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THE BENEFIT  (our companion trade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232A55"/>
                </a:solidFill>
                <a:latin typeface="Verdana"/>
              </a:rPr>
              <a:t>+1.30%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trade openness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≈ $7.8 trillion of 2023 trade, 17% of the world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THE BILL  (this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B0413E"/>
                </a:solidFill>
                <a:latin typeface="Verdana"/>
              </a:rPr>
              <a:t>+5.67%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aviation CO2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356 Mt of 2023 CO2, $18–68 billion 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Same countries, same connectivity index, same IV logic: the trade paper found the benefit, this paper prices the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O A D M A 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Seven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01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💡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Motivation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Policy premise meets carbon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🛰️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CO2 for every scheduled 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03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🕸️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Building GACI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Five centralities, PCA, one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04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🔍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Identification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 geography instrument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05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📈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Results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The elasticity and its anatomy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06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💸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The carbon bill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Attribution, mismatch, SAF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07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🎯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Conclusion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What it implies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7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01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Motivation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Policy premise meets carbon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Everyone wants connectivity; nobody priced the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Governments subsidise routes, expand airports, and sign air-service agreements on the premise that connectivity raises trade, tourism, and productivity (it does: our companion paper finds +1.3% trade openness per 1% of connectivity).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But aviation is among the hardest transport sectors to decarbonise: no near-term electrification path, and emissions booked under separate bunker conventions, outside national inventories.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direction is obvious (more connections = more flying). The magnitude and structure are not, and no causal estimate exists at the global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carbon consequence of connectivity policy is a first-order question with no causal answer. Until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9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empirical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01  </a:t>
            </a:r>
            <a:r>
              <a:rPr sz="2200" b="0" i="0">
                <a:solidFill>
                  <a:srgbClr val="232A55"/>
                </a:solidFill>
                <a:latin typeface="Calibri"/>
              </a:rPr>
              <a:t>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Proportionality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Does a 1% gain in connectivity raise emissions by more or less than 1%? Hubs consolidate traffic into fewer, fuller, more efficient movements, so the answer is not obvious.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2200" b="0" i="0">
                <a:solidFill>
                  <a:srgbClr val="E2A85A"/>
                </a:solidFill>
                <a:latin typeface="Calibri"/>
              </a:rPr>
              <a:t>🗺️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Incidence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Whose emissions respond? Poor or rich countries? And does the response spill across borders through the network?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B0413E"/>
                </a:solidFill>
                <a:latin typeface="Verdana"/>
              </a:rPr>
              <a:t>03  </a:t>
            </a:r>
            <a:r>
              <a:rPr sz="2200" b="0" i="0">
                <a:solidFill>
                  <a:srgbClr val="B0413E"/>
                </a:solidFill>
                <a:latin typeface="Calibri"/>
              </a:rPr>
              <a:t>📒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Accounting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Are emissions booked where they are generated? International aviation follows bunker conventions, not territory.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Magnitude, geography, and bookkeeping: all three turn out to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10 /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02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CO2 for every scheduled flight on Earth, 1996–2023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🛰️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Carbon for every flight, stage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OAG schedules, every scheduled commercial flight, Jan 1996 to Jun 2024.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EEA/EMEP Guidebook: fuel burn by engine type × stage length, × 3.15 kg CO2 per kg of Jet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99232"/>
            <a:ext cx="121919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A55"/>
                </a:solidFill>
                <a:latin typeface="Calibri"/>
              </a:rPr>
              <a:t>✈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Taxi-out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61972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21991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Take-off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15284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75303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Climb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68596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28616" y="3566160"/>
            <a:ext cx="3017520" cy="777240"/>
          </a:xfrm>
          <a:prstGeom prst="roundRect">
            <a:avLst>
              <a:gd name="adj" fmla="val 25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B0413E"/>
                </a:solidFill>
                <a:latin typeface="Calibri"/>
              </a:rPr>
              <a:t>CRUISE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0707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10727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Approach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04019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6404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17720"/>
            <a:ext cx="3712463" cy="45720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🛫🛬 LTO phases: 11.8% of CO2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46177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💨 Cruise: ~88% of CO2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46177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32A55"/>
                </a:solidFill>
                <a:latin typeface="Calibri"/>
              </a:rPr>
              <a:t>Departure + arrival sides kept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544068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Stage-resolved once, aggregated under any allocation rule, with no double 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12 / 61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Does it add up? Yes, to the tonne (almost)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0.919 Gt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our 2019 world total vs ICCT's 0.92 Gt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r = 0.99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log-log match with OWID/ICCT country series, every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11.8%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 share of fuel burn, right in the standard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6,000+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airports with stage-resolved monthly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184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countries in the estimation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4,634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country-years, 1996–2023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6235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Schedule-based capacity, not load factors: the carbon content of the network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13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Whose emissions are they? Three answers, one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🛬 Territorial (LTO)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Each landing-and-take-off phase booked at its own airport. Physical,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🛫 Bunker (headline)</a:t>
            </a:r>
          </a:p>
          <a:p>
            <a:r>
              <a:rPr sz="1300" b="1" i="0">
                <a:solidFill>
                  <a:srgbClr val="E2A85A"/>
                </a:solidFill>
                <a:latin typeface="Calibri"/>
              </a:rPr>
              <a:t>★ our headline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assigned to the departure country: the IEA fuel-uplift convention.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⚖️ 50/50 split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shared equally between the endpoint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1663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Spoiler: the elasticity barely moves across all three (5.62–5.92). The result is not an accounting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14 /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Where aviation CO2 lives, 2023</a:t>
            </a:r>
          </a:p>
        </p:txBody>
      </p:sp>
      <p:pic>
        <p:nvPicPr>
          <p:cNvPr id="5" name="Picture 4" descr="CO2_map_levels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8" y="1874519"/>
            <a:ext cx="967071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National aviation CO2 under the bunker convention, 2023. This is the outcome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03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Building GACI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What the index is, and exactly how we compute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🕸️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is "air connectivity", really?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not how many airports or routes a country has.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a country's POSITION in the world air network: how easily, through how many and how important partners, it can reach everywhere else.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Two airports with 'international' in the name are not equal: Incheon plugs into the world's hub network; Yangyang has a handful of point-to-point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= network position, not a simple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17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we measure it: the Global Air Connectivity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GACI summarises each airport's position in the weighted world air network as a single, time-comparable number (Cheung, Wong &amp; Zhang, 2020).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blends three ideas: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REACH: how many, and how well-placed, are its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FLOW: how much passenger traffic moves through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B0413E"/>
                </a:solidFill>
                <a:latin typeface="Calibri"/>
              </a:rPr>
              <a:t>STANDING: how important are the airports it connects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4924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number that captures reach, flow, and standing in the global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18 / 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the index is built: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E1E24"/>
                </a:solidFill>
                <a:latin typeface="Calibri"/>
              </a:rPr>
              <a:t>From raw schedules to one number per airport per year: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4" y="3017520"/>
            <a:ext cx="9326880" cy="2244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33554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step is computed for every year, then aggregated to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495604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50" b="1" i="0">
                <a:solidFill>
                  <a:srgbClr val="B0413E"/>
                </a:solidFill>
                <a:latin typeface="Calibri"/>
              </a:rPr>
              <a:t>today: USE FOR CO2 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19 /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data: OAG airline schedules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929384"/>
            <a:ext cx="8165592" cy="40863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41664" y="205740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Connected dummy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32A55"/>
                </a:solidFill>
                <a:latin typeface="Calibri"/>
              </a:rPr>
              <a:t>Total seat capacity (the link weight)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36118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Route-segment level, every scheduled commercial flight, 1996–2024H1.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20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0: building a clean weighted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global airline schedule data at the route-segment level (OAG; it is big).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Keep only scheduled commercial service; exclude military, charter, seaplanes, heliports, and airports that closed in-window.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Aggregate segments per airport pair per year into one link; the link weight is passenger seat capacity.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Two matrices per year: adjacency A (who connects) and weight W (how much).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794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Adjacency A: who connects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17320" y="4114800"/>
          <a:ext cx="402336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794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Weight W: seat capacity (millions, illustrative)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4114800"/>
          <a:ext cx="429768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17320" y="6035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Korean corner of the matrix: Gimpo–Jeju alone is the world's busiest air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21 / 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1a: topological indicators (position)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Degree: the number of direct connections (raw reach).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Closeness: inverse of the average number of transfers needed to reach all other airports (accessibility).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Toy domestic network: GMP–CJU, GMP–PUS, GMP–YNY, CJU–PUS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743200"/>
          <a:ext cx="507492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Hops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80560"/>
          <a:ext cx="50749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Hub: everyone in one hop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Spoke: always via Gimpo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23957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+ Eigenvector: how much am I connected to "BIG" airports?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3063240"/>
          <a:ext cx="5394960" cy="188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Degree (#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 (rank of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72200" y="5120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Yangyang's one friend is a big hub, but one friend is still one friend.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22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1b: volumetric indicators (passenger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Flow betweenness: the share of passengers transferring through the airport; the hub / transfer role (Gimpo &lt; Incheon: transfers concentrate at ICN).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Regional importance: average connection intensity within its own region (Gimpo &gt; Incheon: the domestic backbone).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These two flow measures make GACI flow-aware, not purely topological.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Position says where you sit; flow says how much actually moves through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23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indicators, read through Korean airports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0704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Flow betw.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Regional imp.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ICN  Incheon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GMP  Gimpo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CJU  Jeju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PUS  Gimhae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YNY  Yangyang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E1E24"/>
                </a:solidFill>
                <a:latin typeface="Calibri"/>
              </a:rPr>
              <a:t>ICN: global gateway, strong on every margin.  GMP and CJU: enormous traffic (the world's busiest route) but little global position: volume is not connectivity.  YNY: connected on paper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Five airports, five different network stories: no single indicator captures them all, so we combine all five.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24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Flow betweenness: passengers as electrical current</a:t>
            </a:r>
          </a:p>
        </p:txBody>
      </p:sp>
      <p:pic>
        <p:nvPicPr>
          <p:cNvPr id="5" name="Picture 4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70" y="1874519"/>
            <a:ext cx="7697028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route is a resistor with resistance inversely proportional to its passenger intensity; betweenness = current through the node. Incheon plays this HKG-style bridge role between North America and Southeast Asia.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1: the exact formulas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09" y="1783080"/>
            <a:ext cx="760095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26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 are related but not redundant</a:t>
            </a:r>
          </a:p>
        </p:txBody>
      </p:sp>
      <p:pic>
        <p:nvPicPr>
          <p:cNvPr id="5" name="Picture 4" descr="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39" y="1691640"/>
            <a:ext cx="4794889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3387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Pairwise rank correlations 0.71–0.87: each adds information, so we combine rather than pick one.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27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combine the five into one index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Five indicators, different scales, partly correlated.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GACI = the first principal component: the single weighted combination capturing the most variance across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On our 1996–2023 panel, PC1 explains 74% of total variance, so one number retains most of the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index, five ingredients, no arbitrary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28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the aggregation formula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29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PCA weights, computed on our panel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56" y="1783080"/>
            <a:ext cx="707745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First-component loadings on our 1996–2023 data: all positive and similar; PC1 explains 74% of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30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Making GACI comparable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 naive yearly PCA would re-scale every year, so scores could not be compared across years.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standardise so that rankings WITHIN a year and relative scores ACROSS years are both preserved.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result: one index that tracks an airport or country up and down the global hierarchy from 1996 to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Essential here: the CO2 question is about changes over 28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31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5285" y="841247"/>
            <a:ext cx="20225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Face validity: high GACI = the world's major hubs</a:t>
            </a:r>
          </a:p>
        </p:txBody>
      </p:sp>
      <p:pic>
        <p:nvPicPr>
          <p:cNvPr id="5" name="Picture 4" descr="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559" y="154158"/>
            <a:ext cx="7585862" cy="63197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32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32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026" name="Picture 2" descr="https://ars.els-cdn.com/content/image/1-s2.0-S1366554526005302-gr4e_lrg.jpg">
            <a:extLst>
              <a:ext uri="{FF2B5EF4-FFF2-40B4-BE49-F238E27FC236}">
                <a16:creationId xmlns:a16="http://schemas.microsoft.com/office/drawing/2014/main" id="{4DE818E8-AD60-4AF6-9D89-49109099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0"/>
            <a:ext cx="10888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939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from airports to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Hub quality = capacity-weighted MEAN (headline): average gateway quality, not inflated by having many tiny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Total connectivity = SUM: the overall network footprint, larger for big countries.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In this paper the headline treatment is hub quality; sum, max, and unweighted mean all reappear as robustness checks (spoiler: they agree).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ln GACI (capacity-weighted mean) is the right-hand side of everything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33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the aggregation formulas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34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built index, mapped: connectivity by country, 2023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45" y="1874519"/>
            <a:ext cx="95054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Total connectivity (country sum), 2023. Yellow = highly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treatment: who got connected, 1996–2023</a:t>
            </a:r>
          </a:p>
        </p:txBody>
      </p:sp>
      <p:pic>
        <p:nvPicPr>
          <p:cNvPr id="5" name="Picture 4" descr="CO2_map_dlnga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75" y="1874519"/>
            <a:ext cx="974581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Change in log connectivity, 1996–2023. The Gulf, Turkey, China, and Korea connect; parts of Europe quietly disconnect.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36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04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Identification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Breaking reverse causality with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37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problem: airlines follow the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Airlines add capacity where income, trade, and travel demand are already growing: reverse causality, upward and downward biases at once.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OLS would also be attenuated by measurement error in the index (it is: OLS = 3.59 vs 2SLS = 5.67).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need variation in connectivity that has nothing to do with a country's economic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Our answer: geography that was fixed before the boom, interacted with a global technology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38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 Feyrer-type air-vs-sea geography instrument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🗺️ 1996 air-vs-sea market-access geography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fixed before the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2402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E6E6E"/>
                </a:solidFill>
                <a:latin typeface="Calibri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🌐 World aviation technology cycle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global, no country steers 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22592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35240" y="201168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GACI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first stage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46920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0" y="2011680"/>
            <a:ext cx="1600200" cy="11887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Controls: log population, log sea market access, country and year fixed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Kleibergen–Paap F = 153.6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32A55"/>
                </a:solidFill>
                <a:latin typeface="Calibri"/>
              </a:rPr>
              <a:t>Stress test (cycle × baseline size): F 120 → 106. Tourism IV: 14 → 0, 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E7D5B"/>
                </a:solidFill>
                <a:latin typeface="Calibri"/>
              </a:rPr>
              <a:t>Conley bounds: tolerates direct effects up to 85% of the reduced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only instrument we tried that survives its own execution squad.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39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fine print: the exclusion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The instrument may affect CO2 through ONE door only: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🔍 Instrument (geography × cycle)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13632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377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✈️ Connectivity (GACI)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703320"/>
            <a:ext cx="6949440" cy="5486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9235440" y="3593592"/>
            <a:ext cx="411480" cy="274320"/>
          </a:xfrm>
          <a:prstGeom prst="rightArrow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40680" y="3401568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4164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413E"/>
                </a:solidFill>
                <a:latin typeface="Calibri"/>
              </a:rPr>
              <a:t>no direct path to CO2 allowed (untestable by assumption, so we attack it three ways)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🚢 Geography also moves SEA trade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4700016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60" y="4572000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controlled directly: ln sea market access in every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38928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💰 Big, rich countries ride the global cycle anyway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3600" y="5266944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5138928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stress test: add cycle × 1996 pop, GDP, capacity. F 120 → 106, β stable (the test that killed our other instruments)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705856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🔬 Some direct effect might still remain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3600" y="5833872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5705856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Conley bounds: results survive direct effects up to 85% of the reduced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40 / 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first look: shifter up, emissions up</a:t>
            </a:r>
          </a:p>
        </p:txBody>
      </p:sp>
      <p:pic>
        <p:nvPicPr>
          <p:cNvPr id="5" name="Picture 4" descr="CO2_rf_quin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2103120"/>
            <a:ext cx="10455534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5099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Reduced form by instrument quintile: countries with stronger geography-driven connectivity growth emit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41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05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Results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The elasticity, and everything inside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42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1" i="0">
                <a:solidFill>
                  <a:srgbClr val="E2A85A"/>
                </a:solidFill>
                <a:latin typeface="Verdana"/>
              </a:rPr>
              <a:t>+1%  →  +5.7%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connectivity up one percent, national aviation CO2 up 5.67 percent (s.e. 0.41)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343400"/>
            <a:ext cx="9262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CC5DE"/>
                </a:solidFill>
                <a:latin typeface="Calibri"/>
              </a:rPr>
              <a:t>The benchmark is an elasticity of one: hubs could in principle absorb growth efficiently.</a:t>
            </a:r>
          </a:p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BCC5DE"/>
                </a:solidFill>
                <a:latin typeface="Calibri"/>
              </a:rPr>
              <a:t>An elasticity of one is rejected at any conventional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43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However you count it: far above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Bunker CO2 (headline)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+5.92***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LTO-only (territorial)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50/50 cruise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+5.69***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International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32A55"/>
                </a:solidFill>
                <a:latin typeface="Verdana"/>
              </a:rPr>
              <a:t>+6.07***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Seat-kilometres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E7D5B"/>
                </a:solidFill>
                <a:latin typeface="Verdana"/>
              </a:rPr>
              <a:t>−0.40***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CO2 per seat-km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Aggregation checks: GACI sum +2.28***, max +4.82***, mean +5.90*** (KP F 90–172). 2SLS, Feyrer IV, N = 4,634.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Allocation rule, aggregation, instrument: nothing pushes the elasticity anywhere near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44 / 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Efficiency is real. It is also hopelessly outgunned.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Scale (seat-km)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03120"/>
            <a:ext cx="7498079" cy="640080"/>
          </a:xfrm>
          <a:prstGeom prst="roundRect">
            <a:avLst>
              <a:gd name="adj" fmla="val 3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+6.07%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A55"/>
                </a:solidFill>
                <a:latin typeface="Calibri"/>
              </a:rPr>
              <a:t>Technique (CO2 per seat-km)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548640" cy="64008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327355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2E7D5B"/>
                </a:solidFill>
                <a:latin typeface="Calibri"/>
              </a:rPr>
              <a:t>−0.40%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The same 1% of connectivity raises seat-kilometres by 6.07%, faster than emissions rise.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 emissions per seat-km fall by 0.40%: hubbing does deliver larger, fuller, longer-range operations.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But the efficiency margin offsets </a:t>
            </a:r>
            <a:r>
              <a:rPr sz="1600" b="1" i="0">
                <a:solidFill>
                  <a:srgbClr val="1E1E24"/>
                </a:solidFill>
                <a:latin typeface="Calibri"/>
              </a:rPr>
              <a:t>less than one tenth of the scale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71500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emissions consequence of connectivity is a volume story, not an efficiency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45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Zoom to the airport: the efficiency curve</a:t>
            </a:r>
          </a:p>
        </p:txBody>
      </p:sp>
      <p:pic>
        <p:nvPicPr>
          <p:cNvPr id="5" name="Picture 4" descr="CO2_efficien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209" y="1737360"/>
            <a:ext cx="572555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cross-section by connectivity ventile: median intensity falls 284 → 77 kg per 1,000 seat-km while the international share climbs from 1% to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4360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Efficiency is real at the node, and dominated by scale at the aggregate.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46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drives it: the newly connecting world</a:t>
            </a:r>
          </a:p>
        </p:txBody>
      </p:sp>
      <p:pic>
        <p:nvPicPr>
          <p:cNvPr id="5" name="Picture 4" descr="CO2_hetero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96712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1996 income: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11.4 (bottom) · 5.9 (middle) · 0.35 ns (top)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region: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Africa 8.4 · Asia–Pacific 5.4 · Latin America 3.2 · Europe 0.24 ns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Efficiency gains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also appear only in the bottom income tercile.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For mature networks, connectivity growth is roughly carbon-neutral at the margin. The elasticity is the sound of countries entering the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47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it is fading as the network matures</a:t>
            </a:r>
          </a:p>
        </p:txBody>
      </p:sp>
      <p:pic>
        <p:nvPicPr>
          <p:cNvPr id="5" name="Picture 4" descr="CO2_temporal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32734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2057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5.61 → 3.01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excluding crisis years: the elasticity halves from 1996–2007 to 2010–2023 (p = 0.005).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+0.78 → −0.98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the efficiency margin only appears in the mature era.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COVID alone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breaks the late-period first stage (F 36.7 → 7.0 with 2020–21 included).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59436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Still far above one in both eras: maturity slows the meter, it does not stop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48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Anatomy: volume carries it, hub quality recomposes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What mediates the effect?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86.5%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of the effect runs through seat-kilometres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83.9%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flight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6E6E6E"/>
                </a:solidFill>
                <a:latin typeface="Verdana"/>
              </a:rPr>
              <a:t>~0%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the international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A different lever, hub quality (secondary tourism IV), moves the mix instead: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Total CO2: no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International CO2: +3.16***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CO2 per seat-km: +1.23***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Market access scales flying; hub quality tilts it toward international long-haul.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49 / 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Your neighbour's hub, your emissions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48840"/>
            <a:ext cx="2286000" cy="1554480"/>
          </a:xfrm>
          <a:prstGeom prst="ellipse">
            <a:avLst/>
          </a:prstGeom>
          <a:solidFill>
            <a:srgbClr val="FAF0E1"/>
          </a:solidFill>
          <a:ln>
            <a:solidFill>
              <a:srgbClr val="E2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✈️ Neighbours' connectivity +1%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724912"/>
            <a:ext cx="914400" cy="40233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26280" y="2148840"/>
            <a:ext cx="2286000" cy="1554480"/>
          </a:xfrm>
          <a:prstGeom prst="ellipse">
            <a:avLst/>
          </a:prstGeom>
          <a:solidFill>
            <a:srgbClr val="F8E9E8"/>
          </a:solidFill>
          <a:ln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💨 Own aviation CO2 +7.45***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International CO2 +10.2***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9747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Trade volume: +2.1,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9183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KP F = 134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The margins are the converse of the own-network response: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Flights: 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Aircraft size +5.4***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Intl share +1.0***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Stage length −2.0**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62356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Feeding foreign hubs: the CO2 lands at home, the trade gains do not. National accounting misses a regional externality.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50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06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The carbon bill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Attribution, who pays, and the only real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51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356 Mt: the CO2 the connectivity boom built</a:t>
            </a:r>
          </a:p>
        </p:txBody>
      </p:sp>
      <p:pic>
        <p:nvPicPr>
          <p:cNvPr id="5" name="Picture 4" descr="CO2_map_attributed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45" y="1874519"/>
            <a:ext cx="96466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aviation CO2 attributed to post-1996 connectivity growth: 356 Mt, 42.5% of the world total. White =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52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price tag: the social cost of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SCC = the present value of all future damage caused by one extra tonne of CO2.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108960" cy="14173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🏭 1 tonne of CO2, emitted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one flight's worth at a time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09160" y="237744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🌡️ A century of damages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heat, crops, storms, sea level, health, productivity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83879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23960" y="2377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E7D5B"/>
                </a:solidFill>
                <a:latin typeface="Calibri"/>
              </a:rPr>
              <a:t>💵 Discounted back to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= one price per tonne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Three standard price tags (2020 USD per tonne):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$51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Interagency Working Group (2021) · 3% discount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$185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Rennert et al. (2022, Nature) · 2% near-term discount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Verdana"/>
              </a:rPr>
              <a:t>$190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EPA (2023) central value · 2% Ramsey discounting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gap is mostly the discount rate, not the climate science: how much do we care about damages 50 years out?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Attach this price tag to our 356 Mt: an $18–68 billion bill, recurring every year the traffic persists.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53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owes what: the country bill, priced 💸</a:t>
            </a:r>
          </a:p>
        </p:txBody>
      </p:sp>
      <p:pic>
        <p:nvPicPr>
          <p:cNvPr id="5" name="Picture 4" descr="CO2_attribu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52187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74519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China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+88 Mt  ·  $16.7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United States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+36 Mt  ·  $6.9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UAE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+25 Mt  ·  $4.7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Japan / Turkey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+17 Mt each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Korea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+14 Mt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Germany  </a:t>
            </a:r>
            <a:r>
              <a:rPr sz="1500" b="0" i="0">
                <a:solidFill>
                  <a:srgbClr val="2E7D5B"/>
                </a:solidFill>
                <a:latin typeface="Calibri"/>
              </a:rPr>
              <a:t>−16 Mt  ·  −$3.0 bn/yr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E6E6E"/>
                </a:solidFill>
                <a:latin typeface="Calibri"/>
              </a:rPr>
              <a:t>World: $18.2 / 65.9 / 67.7 bn per year at SCC $51 / $185 / $190.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 climate bill in the tens of billions of dollars, recurring annually while the traffic persists.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54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Generated here, booked there</a:t>
            </a:r>
          </a:p>
        </p:txBody>
      </p:sp>
      <p:pic>
        <p:nvPicPr>
          <p:cNvPr id="5" name="Picture 4" descr="CO2_map_mismatch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46" y="1737360"/>
            <a:ext cx="8556477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Bunker-attributed share minus physical LTO share, 2023: +1.4 pp for the US and the UAE, −3.5 pp for China. Positive at every international mega-hub.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Any scheme that allocates responsibility by booked emissions, CORSIA included, embeds a transfer across these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55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only lever that moves the level: change the fuel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400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World aviation CO2 along the ReFuelEU blending path, 2023 traffic held fixed: 838 Mt → 704–754 Mt at the 2035 mandate → 369–545 Mt at the 2050 mandate. Green line: the 2023 level minus the 356 Mt attributed to post-1996 connectivity growth (elasticity 5.67).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The full 2050 path (≥65% life-cycle saving) offsets about as much CO2 as the past generation of connectivity growth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56 / 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4" name="Picture 13" descr="CO2_saf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742432" cy="3474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12280" y="1783080"/>
            <a:ext cx="4709160" cy="1865376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64592" bIns="73152" rtlCol="0" anchor="t"/>
          <a:lstStyle/>
          <a:p>
            <a:pPr algn="ctr"/>
            <a:r>
              <a:rPr sz="1100" b="1" i="0">
                <a:solidFill>
                  <a:srgbClr val="232A55"/>
                </a:solidFill>
                <a:latin typeface="Calibri"/>
              </a:rPr>
              <a:t>HOW THE SCENARIO IS COMPUTED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600" b="1" i="0">
                <a:solidFill>
                  <a:srgbClr val="1E1E24"/>
                </a:solidFill>
                <a:latin typeface="Cambria"/>
              </a:rPr>
              <a:t>E(s, r)  =  838 Mt  ×  [ 1 − s × r ]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838 Mt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world aviation CO2 in 2023 (bunker convention); 2023 scheduled traffic held fixed, fuel backed out at 3.15 kg CO2 per kg Jet A.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s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SAF blend share on the ReFuelEU path: 2% (2025), 6% (2030), 20% (2035), 34% (2040), 42% (2045), 70% (2050).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r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life-cycle CO2 saving of SAF vs fossil Jet A: 50 / 65 / 80% (literature range).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g per $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E(s, r) ÷ attributed trade ($7.8 tn): 21 g/$ in 2023, 9–14 g/$ on the 2050 path.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12280" y="3721608"/>
          <a:ext cx="470916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Mt CO2 per year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SAF blend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50%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65%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80%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2023 actual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2035 mandate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754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729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2050 mandate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457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CO2 saved in 2050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293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381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469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… as % of the 356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107%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132%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07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Three myths, three implications, one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57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comfortable myths,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6E6E"/>
                </a:solidFill>
                <a:latin typeface="Calibri"/>
              </a:rPr>
              <a:t>MYTH 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0413E"/>
                </a:solidFill>
                <a:latin typeface="Calibri"/>
              </a:rPr>
              <a:t>WHAT THE DATA SAY 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“Hub efficiency will absorb the traffic growth.”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262432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7960" y="224028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It offsets less than one tenth of the scale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“Emissions are booked where they are generated.”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44768" y="381304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342900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Hub accounting shifts up to 3.5 pp of world emissions across 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“Your emissions depend on your own network.”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44768" y="500176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37960" y="461772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+1% in neighbours' connectivity raises your CO2 by 7.5%.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policy needs a carbon line in its cost-benefit table. Here is the number to put there.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58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Summary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data: flight-stage CO2 for 6,000+ airports, 1996–2023, valid under any allocation rule.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estimate: the connectivity-emissions elasticity is 5.67, far above one, concentrated in newly connecting countries, spilling across borders.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bill: 42.5% of 2023 aviation CO2 (356 Mt, $18–68 bn per year) traces to the post-1996 connectivity boom.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Policy: evaluate connectivity investments jointly with fuel and demand-side instruments; efficiency gains are not a decarbonisation strategy, and booked-emissions schemes embed cross-border transfers.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 if it pays, but put the carbon in the ledger, and bring the fuel.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59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Points to discuss (a.k.a. our limitations)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Schedule-based emissions: carbon content of scheduled capacity, not of realised load factors.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instrument is strongest in the expansion era; the late period is identified only excluding COVID years.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Airport-level results are descriptive: no valid airport-level instrument survived our checks.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Attribution and SAF scenarios are partial-equilibrium accounting; non-CO2 climate effects (contrails, NOx) are out of scope.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Where next: load factors? Airline-level behaviour? Non-CO2 forcing? Your ideas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60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Verdana"/>
              </a:rPr>
              <a:t>Thank you  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66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BCC5DE"/>
                </a:solidFill>
                <a:latin typeface="Calibri"/>
              </a:rPr>
              <a:t>How Much Does Air Connectivity Increase Aviation CO2?</a:t>
            </a:r>
          </a:p>
          <a:p>
            <a:r>
              <a:rPr sz="1500" b="0" i="0">
                <a:solidFill>
                  <a:srgbClr val="E2A85A"/>
                </a:solidFill>
                <a:latin typeface="Calibri"/>
              </a:rPr>
              <a:t>+1% connectivity → +5.7% CO2  ·  356 Mt since 1996  ·  only fuel switching bends the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61 /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5700</Words>
  <Application>Microsoft Office PowerPoint</Application>
  <PresentationFormat>Widescreen</PresentationFormat>
  <Paragraphs>777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맑은 고딕</vt:lpstr>
      <vt:lpstr>Arial</vt:lpstr>
      <vt:lpstr>Calibri</vt:lpstr>
      <vt:lpstr>Cambria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YOO SUNBIN</cp:lastModifiedBy>
  <cp:revision>11</cp:revision>
  <dcterms:created xsi:type="dcterms:W3CDTF">2013-01-27T09:14:16Z</dcterms:created>
  <dcterms:modified xsi:type="dcterms:W3CDTF">2026-09-03T01:25:07Z</dcterms:modified>
  <cp:category/>
</cp:coreProperties>
</file>